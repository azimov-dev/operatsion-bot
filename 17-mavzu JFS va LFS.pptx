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9" r:id="rId1"/>
    <p:sldMasterId id="2147483741" r:id="rId2"/>
  </p:sldMasterIdLst>
  <p:sldIdLst>
    <p:sldId id="278" r:id="rId3"/>
    <p:sldId id="288" r:id="rId4"/>
    <p:sldId id="354" r:id="rId5"/>
    <p:sldId id="356" r:id="rId6"/>
    <p:sldId id="357" r:id="rId7"/>
    <p:sldId id="355" r:id="rId8"/>
    <p:sldId id="364" r:id="rId9"/>
    <p:sldId id="358" r:id="rId10"/>
    <p:sldId id="359" r:id="rId11"/>
    <p:sldId id="360" r:id="rId12"/>
    <p:sldId id="310" r:id="rId13"/>
    <p:sldId id="289" r:id="rId14"/>
    <p:sldId id="365" r:id="rId15"/>
    <p:sldId id="339" r:id="rId16"/>
    <p:sldId id="366" r:id="rId17"/>
    <p:sldId id="362" r:id="rId18"/>
    <p:sldId id="363" r:id="rId19"/>
    <p:sldId id="361" r:id="rId20"/>
    <p:sldId id="353" r:id="rId21"/>
    <p:sldId id="272" r:id="rId22"/>
  </p:sldIdLst>
  <p:sldSz cx="9144000" cy="6858000" type="screen4x3"/>
  <p:notesSz cx="6858000" cy="9144000"/>
  <p:defaultTextStyle>
    <a:defPPr>
      <a:defRPr lang="ru-R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882" autoAdjust="0"/>
    <p:restoredTop sz="94660"/>
  </p:normalViewPr>
  <p:slideViewPr>
    <p:cSldViewPr snapToGrid="0">
      <p:cViewPr varScale="1">
        <p:scale>
          <a:sx n="69" d="100"/>
          <a:sy n="69" d="100"/>
        </p:scale>
        <p:origin x="86" y="365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BD9794-A4CC-42D0-9A65-24C6B9EF4076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8DF1E-33BB-4377-9A26-35481BA06C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3117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BD9794-A4CC-42D0-9A65-24C6B9EF4076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8DF1E-33BB-4377-9A26-35481BA06C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1058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43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8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BD9794-A4CC-42D0-9A65-24C6B9EF4076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8DF1E-33BB-4377-9A26-35481BA06C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3884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BD9794-A4CC-42D0-9A65-24C6B9EF4076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8DF1E-33BB-4377-9A26-35481BA06C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8317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9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2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2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BD9794-A4CC-42D0-9A65-24C6B9EF4076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8DF1E-33BB-4377-9A26-35481BA06C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57988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BD9794-A4CC-42D0-9A65-24C6B9EF4076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8DF1E-33BB-4377-9A26-35481BA06C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62673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BD9794-A4CC-42D0-9A65-24C6B9EF4076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8DF1E-33BB-4377-9A26-35481BA06C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646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30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BD9794-A4CC-42D0-9A65-24C6B9EF4076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8DF1E-33BB-4377-9A26-35481BA06C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8515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30"/>
            <a:ext cx="4629150" cy="4873625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BD9794-A4CC-42D0-9A65-24C6B9EF4076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8DF1E-33BB-4377-9A26-35481BA06C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0105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BD9794-A4CC-42D0-9A65-24C6B9EF4076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8DF1E-33BB-4377-9A26-35481BA06C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6855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2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BD9794-A4CC-42D0-9A65-24C6B9EF4076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8DF1E-33BB-4377-9A26-35481BA06C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762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DEB4DE7-5760-40CE-8B3D-F9DD51614C85}" type="datetimeFigureOut">
              <a:rPr lang="ru-RU" smtClean="0"/>
              <a:pPr>
                <a:defRPr/>
              </a:pPr>
              <a:t>25.11.2025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C6DA87D-CF19-4DE6-9F73-28CC14904AF8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431513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DEB4DE7-5760-40CE-8B3D-F9DD51614C85}" type="datetimeFigureOut">
              <a:rPr lang="ru-RU" smtClean="0"/>
              <a:pPr>
                <a:defRPr/>
              </a:pPr>
              <a:t>25.11.2025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C6DA87D-CF19-4DE6-9F73-28CC14904AF8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250530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43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8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DEB4DE7-5760-40CE-8B3D-F9DD51614C85}" type="datetimeFigureOut">
              <a:rPr lang="ru-RU" smtClean="0"/>
              <a:pPr>
                <a:defRPr/>
              </a:pPr>
              <a:t>25.11.2025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C6DA87D-CF19-4DE6-9F73-28CC14904AF8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28639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DEB4DE7-5760-40CE-8B3D-F9DD51614C85}" type="datetimeFigureOut">
              <a:rPr lang="ru-RU" smtClean="0"/>
              <a:pPr>
                <a:defRPr/>
              </a:pPr>
              <a:t>25.11.2025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C6DA87D-CF19-4DE6-9F73-28CC14904AF8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56445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9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2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2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DEB4DE7-5760-40CE-8B3D-F9DD51614C85}" type="datetimeFigureOut">
              <a:rPr lang="ru-RU" smtClean="0"/>
              <a:pPr>
                <a:defRPr/>
              </a:pPr>
              <a:t>25.11.2025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C6DA87D-CF19-4DE6-9F73-28CC14904AF8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529111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DEB4DE7-5760-40CE-8B3D-F9DD51614C85}" type="datetimeFigureOut">
              <a:rPr lang="ru-RU" smtClean="0"/>
              <a:pPr>
                <a:defRPr/>
              </a:pPr>
              <a:t>25.11.2025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C6DA87D-CF19-4DE6-9F73-28CC14904AF8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728315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DEB4DE7-5760-40CE-8B3D-F9DD51614C85}" type="datetimeFigureOut">
              <a:rPr lang="ru-RU" smtClean="0"/>
              <a:pPr>
                <a:defRPr/>
              </a:pPr>
              <a:t>25.11.2025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C6DA87D-CF19-4DE6-9F73-28CC14904AF8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2338873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30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DEB4DE7-5760-40CE-8B3D-F9DD51614C85}" type="datetimeFigureOut">
              <a:rPr lang="ru-RU" smtClean="0"/>
              <a:pPr>
                <a:defRPr/>
              </a:pPr>
              <a:t>25.11.2025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C6DA87D-CF19-4DE6-9F73-28CC14904AF8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087050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30"/>
            <a:ext cx="4629150" cy="4873625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DEB4DE7-5760-40CE-8B3D-F9DD51614C85}" type="datetimeFigureOut">
              <a:rPr lang="ru-RU" smtClean="0"/>
              <a:pPr>
                <a:defRPr/>
              </a:pPr>
              <a:t>25.11.2025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C6DA87D-CF19-4DE6-9F73-28CC14904AF8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8449527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DEB4DE7-5760-40CE-8B3D-F9DD51614C85}" type="datetimeFigureOut">
              <a:rPr lang="ru-RU" smtClean="0"/>
              <a:pPr>
                <a:defRPr/>
              </a:pPr>
              <a:t>25.11.2025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C6DA87D-CF19-4DE6-9F73-28CC14904AF8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4834541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2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DEB4DE7-5760-40CE-8B3D-F9DD51614C85}" type="datetimeFigureOut">
              <a:rPr lang="ru-RU" smtClean="0"/>
              <a:pPr>
                <a:defRPr/>
              </a:pPr>
              <a:t>25.11.2025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C6DA87D-CF19-4DE6-9F73-28CC14904AF8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128790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DEB4DE7-5760-40CE-8B3D-F9DD51614C85}" type="datetimeFigureOut">
              <a:rPr lang="ru-RU" smtClean="0"/>
              <a:pPr>
                <a:defRPr/>
              </a:pPr>
              <a:t>25.11.2025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C6DA87D-CF19-4DE6-9F73-28CC14904AF8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3"/>
          </p:nvPr>
        </p:nvSpPr>
        <p:spPr>
          <a:xfrm>
            <a:off x="1143000" y="731520"/>
            <a:ext cx="6400800" cy="347472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20716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Picture 54"/>
          <p:cNvPicPr>
            <a:picLocks noChangeAspect="1"/>
          </p:cNvPicPr>
          <p:nvPr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936" r="62442"/>
          <a:stretch/>
        </p:blipFill>
        <p:spPr>
          <a:xfrm>
            <a:off x="0" y="5144"/>
            <a:ext cx="9144000" cy="6852856"/>
          </a:xfrm>
          <a:prstGeom prst="rect">
            <a:avLst/>
          </a:prstGeom>
        </p:spPr>
      </p:pic>
      <p:sp>
        <p:nvSpPr>
          <p:cNvPr id="56" name="Rectangle 55"/>
          <p:cNvSpPr/>
          <p:nvPr/>
        </p:nvSpPr>
        <p:spPr>
          <a:xfrm>
            <a:off x="180754" y="163211"/>
            <a:ext cx="8803760" cy="6558269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8000"/>
                </a:schemeClr>
              </a:gs>
              <a:gs pos="100000">
                <a:schemeClr val="bg1">
                  <a:alpha val="8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460" y="1287256"/>
            <a:ext cx="7869890" cy="48897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5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BD9794-A4CC-42D0-9A65-24C6B9EF4076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5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5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E8DF1E-33BB-4377-9A26-35481BA06C7C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2" y="163208"/>
            <a:ext cx="7886698" cy="998742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096165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0" r:id="rId1"/>
    <p:sldLayoutId id="2147483731" r:id="rId2"/>
    <p:sldLayoutId id="2147483732" r:id="rId3"/>
    <p:sldLayoutId id="2147483733" r:id="rId4"/>
    <p:sldLayoutId id="2147483734" r:id="rId5"/>
    <p:sldLayoutId id="2147483735" r:id="rId6"/>
    <p:sldLayoutId id="2147483736" r:id="rId7"/>
    <p:sldLayoutId id="2147483737" r:id="rId8"/>
    <p:sldLayoutId id="2147483738" r:id="rId9"/>
    <p:sldLayoutId id="2147483739" r:id="rId10"/>
    <p:sldLayoutId id="2147483740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000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Picture 54"/>
          <p:cNvPicPr>
            <a:picLocks noChangeAspect="1"/>
          </p:cNvPicPr>
          <p:nvPr/>
        </p:nvPicPr>
        <p:blipFill rotWithShape="1"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936" r="62442"/>
          <a:stretch/>
        </p:blipFill>
        <p:spPr>
          <a:xfrm>
            <a:off x="0" y="5144"/>
            <a:ext cx="9144000" cy="6852856"/>
          </a:xfrm>
          <a:prstGeom prst="rect">
            <a:avLst/>
          </a:prstGeom>
        </p:spPr>
      </p:pic>
      <p:sp>
        <p:nvSpPr>
          <p:cNvPr id="56" name="Rectangle 55"/>
          <p:cNvSpPr/>
          <p:nvPr/>
        </p:nvSpPr>
        <p:spPr>
          <a:xfrm>
            <a:off x="180754" y="163211"/>
            <a:ext cx="8803760" cy="6558269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8000"/>
                </a:schemeClr>
              </a:gs>
              <a:gs pos="100000">
                <a:schemeClr val="bg1">
                  <a:alpha val="8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460" y="1287256"/>
            <a:ext cx="7869890" cy="48897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5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FDEB4DE7-5760-40CE-8B3D-F9DD51614C85}" type="datetimeFigureOut">
              <a:rPr lang="ru-RU" smtClean="0"/>
              <a:pPr>
                <a:defRPr/>
              </a:pPr>
              <a:t>25.11.2025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5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5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9C6DA87D-CF19-4DE6-9F73-28CC14904AF8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2" y="163208"/>
            <a:ext cx="7886698" cy="998742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686884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2" r:id="rId1"/>
    <p:sldLayoutId id="2147483743" r:id="rId2"/>
    <p:sldLayoutId id="2147483744" r:id="rId3"/>
    <p:sldLayoutId id="2147483745" r:id="rId4"/>
    <p:sldLayoutId id="2147483746" r:id="rId5"/>
    <p:sldLayoutId id="2147483747" r:id="rId6"/>
    <p:sldLayoutId id="2147483748" r:id="rId7"/>
    <p:sldLayoutId id="2147483749" r:id="rId8"/>
    <p:sldLayoutId id="2147483750" r:id="rId9"/>
    <p:sldLayoutId id="2147483751" r:id="rId10"/>
    <p:sldLayoutId id="2147483752" r:id="rId11"/>
    <p:sldLayoutId id="2147483753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000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storedbits.com/free-up-disk-space-in-pc/" TargetMode="External"/><Relationship Id="rId2" Type="http://schemas.openxmlformats.org/officeDocument/2006/relationships/hyperlink" Target="https://storedbits.com/improve-ssd-read-write-performance/" TargetMode="Externa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coderlessons.com/tutorials/akademicheskii/osnovy-operatsionnykh-sistem/15-upravlenie-protsessami-v-os" TargetMode="External"/><Relationship Id="rId2" Type="http://schemas.openxmlformats.org/officeDocument/2006/relationships/slideLayout" Target="../slideLayouts/slideLayout23.xml"/><Relationship Id="rId1" Type="http://schemas.openxmlformats.org/officeDocument/2006/relationships/themeOverride" Target="../theme/themeOverr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F906BD51-17E7-9432-6598-CEC94D09B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xmlns="" id="{6E87C95D-A949-8018-EAD4-7E662E967B8B}"/>
              </a:ext>
            </a:extLst>
          </p:cNvPr>
          <p:cNvSpPr/>
          <p:nvPr/>
        </p:nvSpPr>
        <p:spPr>
          <a:xfrm>
            <a:off x="1143000" y="3472860"/>
            <a:ext cx="6858000" cy="1464901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100000">
                <a:schemeClr val="bg1">
                  <a:alpha val="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350">
              <a:solidFill>
                <a:prstClr val="white"/>
              </a:solidFill>
              <a:latin typeface="Calibri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xmlns="" id="{B33918A5-27FD-349C-6983-A65476E5612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999" y="857250"/>
            <a:ext cx="6858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xmlns="" id="{D6F9FD5B-390B-137A-1885-467EFF8A837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3091" y="1958201"/>
            <a:ext cx="815033" cy="815033"/>
          </a:xfrm>
          <a:prstGeom prst="rect">
            <a:avLst/>
          </a:prstGeom>
        </p:spPr>
      </p:pic>
      <p:sp>
        <p:nvSpPr>
          <p:cNvPr id="7" name="POWERPOINT TEMPLATE">
            <a:extLst>
              <a:ext uri="{FF2B5EF4-FFF2-40B4-BE49-F238E27FC236}">
                <a16:creationId xmlns:a16="http://schemas.microsoft.com/office/drawing/2014/main" xmlns="" id="{7870EBB8-599A-243C-22AB-6F2350B68B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9071" y="2707953"/>
            <a:ext cx="1423074" cy="2654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wrap="square" lIns="28575" tIns="28575" rIns="28575" bIns="28575" anchor="ctr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tabLst>
                <a:tab pos="10668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10668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10668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1066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1066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1066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1066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1066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1066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685800" fontAlgn="auto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tabLst>
                <a:tab pos="800100" algn="l"/>
              </a:tabLst>
              <a:defRPr/>
            </a:pPr>
            <a:r>
              <a:rPr lang="en-US" altLang="ru-RU" sz="1350" b="1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  <a:sym typeface="Arial" panose="020B0604020202020204" pitchFamily="34" charset="0"/>
              </a:rPr>
              <a:t>OSYS16MBK</a:t>
            </a:r>
            <a:endParaRPr lang="ru-RU" altLang="ru-RU" sz="1200" b="1" dirty="0">
              <a:solidFill>
                <a:prstClr val="black"/>
              </a:solidFill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  <a:sym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1CB7CEA3-5F12-F926-5225-E322607396DD}"/>
              </a:ext>
            </a:extLst>
          </p:cNvPr>
          <p:cNvSpPr txBox="1"/>
          <p:nvPr/>
        </p:nvSpPr>
        <p:spPr>
          <a:xfrm>
            <a:off x="2203417" y="2115491"/>
            <a:ext cx="2083005" cy="5683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85800" fontAlgn="auto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ru-RU" sz="1500" b="1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OPERASION TIZIMLAR</a:t>
            </a:r>
          </a:p>
        </p:txBody>
      </p:sp>
      <p:sp>
        <p:nvSpPr>
          <p:cNvPr id="18" name="TextBox 79">
            <a:extLst>
              <a:ext uri="{FF2B5EF4-FFF2-40B4-BE49-F238E27FC236}">
                <a16:creationId xmlns:a16="http://schemas.microsoft.com/office/drawing/2014/main" xmlns="" id="{CE219CBA-0AE5-C36B-3FF0-32A77837BC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49125" y="4890125"/>
            <a:ext cx="2835504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685800" fontAlgn="auto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lang="en-US" altLang="ru-RU" sz="1350" b="1" spc="27" dirty="0">
                <a:solidFill>
                  <a:srgbClr val="452721"/>
                </a:solidFill>
                <a:latin typeface="Montserrat Medium"/>
              </a:rPr>
              <a:t> </a:t>
            </a:r>
          </a:p>
        </p:txBody>
      </p:sp>
      <p:cxnSp>
        <p:nvCxnSpPr>
          <p:cNvPr id="22" name="Прямая соединительная линия 21">
            <a:extLst>
              <a:ext uri="{FF2B5EF4-FFF2-40B4-BE49-F238E27FC236}">
                <a16:creationId xmlns:a16="http://schemas.microsoft.com/office/drawing/2014/main" xmlns="" id="{D9D3BF0D-4A5E-EED0-0945-DFB845A9D3EE}"/>
              </a:ext>
            </a:extLst>
          </p:cNvPr>
          <p:cNvCxnSpPr>
            <a:cxnSpLocks/>
          </p:cNvCxnSpPr>
          <p:nvPr/>
        </p:nvCxnSpPr>
        <p:spPr>
          <a:xfrm>
            <a:off x="4749125" y="4307118"/>
            <a:ext cx="0" cy="1353731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4" name="Рисунок 60">
            <a:extLst>
              <a:ext uri="{FF2B5EF4-FFF2-40B4-BE49-F238E27FC236}">
                <a16:creationId xmlns:a16="http://schemas.microsoft.com/office/drawing/2014/main" xmlns="" id="{FF2D45A0-CC38-F829-682A-4C98BA0F561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8498" y="971947"/>
            <a:ext cx="815033" cy="8150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5">
            <a:extLst>
              <a:ext uri="{FF2B5EF4-FFF2-40B4-BE49-F238E27FC236}">
                <a16:creationId xmlns:a16="http://schemas.microsoft.com/office/drawing/2014/main" xmlns="" id="{B87285E1-AEB3-23F8-1174-DB88C42A560B}"/>
              </a:ext>
            </a:extLst>
          </p:cNvPr>
          <p:cNvSpPr txBox="1"/>
          <p:nvPr/>
        </p:nvSpPr>
        <p:spPr>
          <a:xfrm>
            <a:off x="2049527" y="1148632"/>
            <a:ext cx="5923472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defTabSz="685800" fontAlgn="auto">
              <a:spcAft>
                <a:spcPts val="0"/>
              </a:spcAft>
              <a:defRPr/>
            </a:pPr>
            <a:r>
              <a:rPr lang="en-US" altLang="ru-RU" sz="1500" b="1" spc="134" dirty="0">
                <a:solidFill>
                  <a:srgbClr val="FFCE33"/>
                </a:solidFill>
                <a:latin typeface="Cambria" panose="02040503050406030204" pitchFamily="18" charset="0"/>
                <a:ea typeface="Cambria" panose="02040503050406030204" pitchFamily="18" charset="0"/>
                <a:sym typeface="Arial" panose="020B0604020202020204" pitchFamily="34" charset="0"/>
              </a:rPr>
              <a:t>MUHAMMAD AL-XORAZMIY NOMIDAGI TOSHKENT </a:t>
            </a:r>
          </a:p>
          <a:p>
            <a:pPr algn="ctr" defTabSz="685800" fontAlgn="auto">
              <a:spcAft>
                <a:spcPts val="0"/>
              </a:spcAft>
              <a:defRPr/>
            </a:pPr>
            <a:r>
              <a:rPr lang="en-US" altLang="ru-RU" sz="1500" b="1" spc="134" dirty="0">
                <a:solidFill>
                  <a:srgbClr val="FFCE33"/>
                </a:solidFill>
                <a:latin typeface="Cambria" panose="02040503050406030204" pitchFamily="18" charset="0"/>
                <a:ea typeface="Cambria" panose="02040503050406030204" pitchFamily="18" charset="0"/>
                <a:sym typeface="Arial" panose="020B0604020202020204" pitchFamily="34" charset="0"/>
              </a:rPr>
              <a:t> AXBOROT TEXNOLOGIYALARI UNIVERSITETI</a:t>
            </a:r>
            <a:endParaRPr lang="en-US" sz="1500" b="1" spc="134" dirty="0">
              <a:solidFill>
                <a:srgbClr val="FFCE33"/>
              </a:solidFill>
              <a:latin typeface="Cambria" panose="02040503050406030204" pitchFamily="18" charset="0"/>
              <a:ea typeface="Cambria" panose="02040503050406030204" pitchFamily="18" charset="0"/>
              <a:sym typeface="Open Sans"/>
            </a:endParaRPr>
          </a:p>
        </p:txBody>
      </p: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xmlns="" id="{A2F7FF0B-9AC3-B317-9576-8ED42CA87CB6}"/>
              </a:ext>
            </a:extLst>
          </p:cNvPr>
          <p:cNvCxnSpPr>
            <a:cxnSpLocks/>
          </p:cNvCxnSpPr>
          <p:nvPr/>
        </p:nvCxnSpPr>
        <p:spPr>
          <a:xfrm>
            <a:off x="2133531" y="1610297"/>
            <a:ext cx="5867469" cy="748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pic>
        <p:nvPicPr>
          <p:cNvPr id="2" name="Рисунок 1">
            <a:extLst>
              <a:ext uri="{FF2B5EF4-FFF2-40B4-BE49-F238E27FC236}">
                <a16:creationId xmlns:a16="http://schemas.microsoft.com/office/drawing/2014/main" xmlns="" id="{6120827B-DD1A-3DA0-2759-8387DCA07B1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3851" r="13851"/>
          <a:stretch>
            <a:fillRect/>
          </a:stretch>
        </p:blipFill>
        <p:spPr>
          <a:xfrm>
            <a:off x="4898441" y="1298783"/>
            <a:ext cx="3074558" cy="3106593"/>
          </a:xfrm>
          <a:prstGeom prst="ellipse">
            <a:avLst/>
          </a:prstGeom>
          <a:effectLst>
            <a:softEdge rad="406400"/>
          </a:effectLst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xmlns="" id="{278D7FA1-AD08-02BA-CDAF-08E2921C0C0F}"/>
              </a:ext>
            </a:extLst>
          </p:cNvPr>
          <p:cNvSpPr>
            <a:spLocks noChangeAspect="1"/>
          </p:cNvSpPr>
          <p:nvPr/>
        </p:nvSpPr>
        <p:spPr>
          <a:xfrm>
            <a:off x="1229874" y="2782111"/>
            <a:ext cx="6684252" cy="1623265"/>
          </a:xfrm>
          <a:prstGeom prst="rect">
            <a:avLst/>
          </a:prstGeom>
          <a:solidFill>
            <a:srgbClr val="01DEE9"/>
          </a:solidFill>
          <a:ln w="12700">
            <a:miter lim="400000"/>
          </a:ln>
        </p:spPr>
        <p:txBody>
          <a:bodyPr lIns="28575" tIns="28575" rIns="28575" bIns="28575" anchor="ctr"/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100" dirty="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Calibri"/>
              <a:cs typeface="Arial" panose="020B0604020202020204" pitchFamily="34" charset="0"/>
            </a:endParaRPr>
          </a:p>
        </p:txBody>
      </p:sp>
      <p:sp>
        <p:nvSpPr>
          <p:cNvPr id="9" name="POWERPOINT TEMPLATE">
            <a:extLst>
              <a:ext uri="{FF2B5EF4-FFF2-40B4-BE49-F238E27FC236}">
                <a16:creationId xmlns:a16="http://schemas.microsoft.com/office/drawing/2014/main" xmlns="" id="{7CD0029B-D3DB-28E9-041C-AAB66D0721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4582" y="2826855"/>
            <a:ext cx="5787538" cy="14427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wrap="square" lIns="28575" tIns="28575" rIns="28575" bIns="28575" anchor="ctr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tabLst>
                <a:tab pos="10668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10668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10668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1066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1066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1066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1066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1066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1066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685800" fontAlgn="auto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None/>
              <a:tabLst>
                <a:tab pos="800100" algn="l"/>
              </a:tabLst>
              <a:defRPr/>
            </a:pPr>
            <a:r>
              <a:rPr lang="en-US" sz="1800" b="1" dirty="0" err="1">
                <a:latin typeface="+mj-lt"/>
              </a:rPr>
              <a:t>Jurnal</a:t>
            </a:r>
            <a:r>
              <a:rPr lang="en-US" sz="1800" b="1" dirty="0">
                <a:latin typeface="+mj-lt"/>
              </a:rPr>
              <a:t> </a:t>
            </a:r>
            <a:r>
              <a:rPr lang="en-US" sz="1800" b="1" dirty="0" err="1">
                <a:latin typeface="+mj-lt"/>
              </a:rPr>
              <a:t>va</a:t>
            </a:r>
            <a:r>
              <a:rPr lang="en-US" sz="1800" b="1" dirty="0">
                <a:latin typeface="+mj-lt"/>
              </a:rPr>
              <a:t> log-</a:t>
            </a:r>
            <a:r>
              <a:rPr lang="en-US" sz="1800" b="1" dirty="0" err="1">
                <a:latin typeface="+mj-lt"/>
              </a:rPr>
              <a:t>strukturali</a:t>
            </a:r>
            <a:r>
              <a:rPr lang="en-US" sz="1800" b="1" dirty="0">
                <a:latin typeface="+mj-lt"/>
              </a:rPr>
              <a:t> </a:t>
            </a:r>
            <a:r>
              <a:rPr lang="en-US" sz="1800" b="1" dirty="0" err="1">
                <a:latin typeface="+mj-lt"/>
              </a:rPr>
              <a:t>fayl</a:t>
            </a:r>
            <a:r>
              <a:rPr lang="en-US" sz="1800" b="1" dirty="0">
                <a:latin typeface="+mj-lt"/>
              </a:rPr>
              <a:t> </a:t>
            </a:r>
            <a:r>
              <a:rPr lang="en-US" sz="1800" b="1" dirty="0" err="1">
                <a:latin typeface="+mj-lt"/>
              </a:rPr>
              <a:t>tizimlari</a:t>
            </a:r>
            <a:r>
              <a:rPr lang="en-US" sz="1800" b="1" dirty="0">
                <a:latin typeface="+mj-lt"/>
              </a:rPr>
              <a:t>(LFS). </a:t>
            </a:r>
            <a:r>
              <a:rPr lang="en-US" sz="1800" b="1" dirty="0" err="1">
                <a:latin typeface="+mj-lt"/>
              </a:rPr>
              <a:t>Nosozliklarga</a:t>
            </a:r>
            <a:r>
              <a:rPr lang="en-US" sz="1800" b="1" dirty="0">
                <a:latin typeface="+mj-lt"/>
              </a:rPr>
              <a:t> </a:t>
            </a:r>
            <a:r>
              <a:rPr lang="en-US" sz="1800" b="1" dirty="0" err="1">
                <a:latin typeface="+mj-lt"/>
              </a:rPr>
              <a:t>chidamli</a:t>
            </a:r>
            <a:r>
              <a:rPr lang="en-US" sz="1800" b="1" dirty="0">
                <a:latin typeface="+mj-lt"/>
              </a:rPr>
              <a:t> </a:t>
            </a:r>
            <a:r>
              <a:rPr lang="en-US" sz="1800" b="1" dirty="0" err="1">
                <a:latin typeface="+mj-lt"/>
              </a:rPr>
              <a:t>diskni</a:t>
            </a:r>
            <a:r>
              <a:rPr lang="en-US" sz="1800" b="1" dirty="0">
                <a:latin typeface="+mj-lt"/>
              </a:rPr>
              <a:t> </a:t>
            </a:r>
            <a:r>
              <a:rPr lang="en-US" sz="1800" b="1" dirty="0" err="1">
                <a:latin typeface="+mj-lt"/>
              </a:rPr>
              <a:t>yangilash</a:t>
            </a:r>
            <a:r>
              <a:rPr lang="en-US" sz="1800" b="1" dirty="0">
                <a:latin typeface="+mj-lt"/>
              </a:rPr>
              <a:t>, </a:t>
            </a:r>
            <a:r>
              <a:rPr lang="en-US" sz="1800" b="1" dirty="0" err="1">
                <a:latin typeface="+mj-lt"/>
              </a:rPr>
              <a:t>Jurnalni</a:t>
            </a:r>
            <a:r>
              <a:rPr lang="en-US" sz="1800" b="1" dirty="0">
                <a:latin typeface="+mj-lt"/>
              </a:rPr>
              <a:t> </a:t>
            </a:r>
            <a:r>
              <a:rPr lang="en-US" sz="1800" b="1" dirty="0" err="1">
                <a:latin typeface="+mj-lt"/>
              </a:rPr>
              <a:t>yangilash</a:t>
            </a:r>
            <a:r>
              <a:rPr lang="en-US" sz="1800" b="1" dirty="0">
                <a:latin typeface="+mj-lt"/>
              </a:rPr>
              <a:t> </a:t>
            </a:r>
            <a:r>
              <a:rPr lang="en-US" sz="1800" b="1" dirty="0" err="1">
                <a:latin typeface="+mj-lt"/>
              </a:rPr>
              <a:t>protokoli</a:t>
            </a:r>
            <a:r>
              <a:rPr lang="en-US" sz="1800" b="1" dirty="0">
                <a:latin typeface="+mj-lt"/>
              </a:rPr>
              <a:t>, </a:t>
            </a:r>
            <a:r>
              <a:rPr lang="en-US" sz="1800" b="1" dirty="0" err="1">
                <a:latin typeface="+mj-lt"/>
              </a:rPr>
              <a:t>Butun</a:t>
            </a:r>
            <a:r>
              <a:rPr lang="en-US" sz="1800" b="1" dirty="0">
                <a:latin typeface="+mj-lt"/>
              </a:rPr>
              <a:t> </a:t>
            </a:r>
            <a:r>
              <a:rPr lang="en-US" sz="1800" b="1" dirty="0" err="1">
                <a:latin typeface="+mj-lt"/>
              </a:rPr>
              <a:t>kunlik</a:t>
            </a:r>
            <a:r>
              <a:rPr lang="en-US" sz="1800" b="1" dirty="0">
                <a:latin typeface="+mj-lt"/>
              </a:rPr>
              <a:t> </a:t>
            </a:r>
            <a:r>
              <a:rPr lang="en-US" sz="1800" b="1" dirty="0" err="1">
                <a:latin typeface="+mj-lt"/>
              </a:rPr>
              <a:t>tiklash</a:t>
            </a:r>
            <a:r>
              <a:rPr lang="en-US" sz="1800" b="1" dirty="0">
                <a:latin typeface="+mj-lt"/>
              </a:rPr>
              <a:t> </a:t>
            </a:r>
            <a:r>
              <a:rPr lang="en-US" sz="1800" b="1" dirty="0" err="1">
                <a:latin typeface="+mj-lt"/>
              </a:rPr>
              <a:t>protokoli</a:t>
            </a:r>
            <a:r>
              <a:rPr lang="en-US" sz="1800" b="1" dirty="0">
                <a:latin typeface="+mj-lt"/>
              </a:rPr>
              <a:t>, </a:t>
            </a:r>
            <a:r>
              <a:rPr lang="en-US" sz="1800" b="1" dirty="0" err="1">
                <a:latin typeface="+mj-lt"/>
              </a:rPr>
              <a:t>Samaradorlikni</a:t>
            </a:r>
            <a:r>
              <a:rPr lang="en-US" sz="1800" b="1" dirty="0">
                <a:latin typeface="+mj-lt"/>
              </a:rPr>
              <a:t> </a:t>
            </a:r>
            <a:r>
              <a:rPr lang="en-US" sz="1800" b="1" dirty="0" err="1">
                <a:latin typeface="+mj-lt"/>
              </a:rPr>
              <a:t>optimallash</a:t>
            </a:r>
            <a:r>
              <a:rPr lang="en-US" sz="1800" b="1" dirty="0">
                <a:latin typeface="+mj-lt"/>
              </a:rPr>
              <a:t>, log-</a:t>
            </a:r>
            <a:r>
              <a:rPr lang="en-US" sz="1800" b="1" dirty="0" err="1">
                <a:latin typeface="+mj-lt"/>
              </a:rPr>
              <a:t>strukturali</a:t>
            </a:r>
            <a:r>
              <a:rPr lang="en-US" sz="1800" b="1" dirty="0">
                <a:latin typeface="+mj-lt"/>
              </a:rPr>
              <a:t> </a:t>
            </a:r>
            <a:r>
              <a:rPr lang="en-US" sz="1800" b="1" dirty="0" err="1">
                <a:latin typeface="+mj-lt"/>
              </a:rPr>
              <a:t>fayl</a:t>
            </a:r>
            <a:r>
              <a:rPr lang="en-US" sz="1800" b="1" dirty="0">
                <a:latin typeface="+mj-lt"/>
              </a:rPr>
              <a:t> </a:t>
            </a:r>
            <a:r>
              <a:rPr lang="en-US" sz="1800" b="1" dirty="0" err="1">
                <a:latin typeface="+mj-lt"/>
              </a:rPr>
              <a:t>tizimlari</a:t>
            </a:r>
            <a:r>
              <a:rPr lang="en-US" sz="1800" b="1" dirty="0">
                <a:latin typeface="+mj-lt"/>
              </a:rPr>
              <a:t>, </a:t>
            </a:r>
            <a:r>
              <a:rPr lang="en-US" sz="1800" b="1" dirty="0" err="1">
                <a:latin typeface="+mj-lt"/>
              </a:rPr>
              <a:t>Ma’lumotlarni</a:t>
            </a:r>
            <a:r>
              <a:rPr lang="en-US" sz="1800" b="1" dirty="0">
                <a:latin typeface="+mj-lt"/>
              </a:rPr>
              <a:t> </a:t>
            </a:r>
            <a:r>
              <a:rPr lang="en-US" sz="1800" b="1" dirty="0" err="1">
                <a:latin typeface="+mj-lt"/>
              </a:rPr>
              <a:t>diskda</a:t>
            </a:r>
            <a:r>
              <a:rPr lang="en-US" sz="1800" b="1" dirty="0">
                <a:latin typeface="+mj-lt"/>
              </a:rPr>
              <a:t> </a:t>
            </a:r>
            <a:r>
              <a:rPr lang="en-US" sz="1800" b="1" dirty="0" err="1">
                <a:latin typeface="+mj-lt"/>
              </a:rPr>
              <a:t>saqlash</a:t>
            </a:r>
            <a:r>
              <a:rPr lang="en-US" sz="1800" b="1" dirty="0">
                <a:latin typeface="+mj-lt"/>
              </a:rPr>
              <a:t>, </a:t>
            </a:r>
            <a:r>
              <a:rPr lang="en-US" sz="1800" b="1" dirty="0" err="1">
                <a:latin typeface="+mj-lt"/>
              </a:rPr>
              <a:t>Faylni</a:t>
            </a:r>
            <a:r>
              <a:rPr lang="en-US" sz="1800" b="1" dirty="0">
                <a:latin typeface="+mj-lt"/>
              </a:rPr>
              <a:t> LFS </a:t>
            </a:r>
            <a:r>
              <a:rPr lang="en-US" sz="1800" b="1" dirty="0" err="1">
                <a:latin typeface="+mj-lt"/>
              </a:rPr>
              <a:t>rejimida</a:t>
            </a:r>
            <a:r>
              <a:rPr lang="en-US" sz="1800" b="1" dirty="0">
                <a:latin typeface="+mj-lt"/>
              </a:rPr>
              <a:t> </a:t>
            </a:r>
            <a:r>
              <a:rPr lang="en-US" sz="1800" b="1" dirty="0" err="1">
                <a:latin typeface="+mj-lt"/>
              </a:rPr>
              <a:t>o‘qish</a:t>
            </a:r>
            <a:r>
              <a:rPr lang="en-US" sz="1800" b="1" dirty="0">
                <a:latin typeface="+mj-lt"/>
              </a:rPr>
              <a:t>, LFS </a:t>
            </a:r>
            <a:r>
              <a:rPr lang="en-US" sz="1800" b="1" dirty="0" err="1">
                <a:latin typeface="+mj-lt"/>
              </a:rPr>
              <a:t>tozalash</a:t>
            </a:r>
            <a:r>
              <a:rPr lang="en-US" sz="1800" b="1" dirty="0">
                <a:latin typeface="+mj-lt"/>
              </a:rPr>
              <a:t> </a:t>
            </a:r>
            <a:r>
              <a:rPr lang="en-US" sz="1800" b="1" dirty="0" err="1">
                <a:latin typeface="+mj-lt"/>
              </a:rPr>
              <a:t>vositasi</a:t>
            </a:r>
            <a:r>
              <a:rPr lang="en-US" sz="1800" b="1" dirty="0">
                <a:latin typeface="+mj-lt"/>
              </a:rPr>
              <a:t>, </a:t>
            </a:r>
            <a:r>
              <a:rPr lang="en-US" sz="1800" b="1" dirty="0" err="1">
                <a:latin typeface="+mj-lt"/>
              </a:rPr>
              <a:t>Ma’lumotlarni</a:t>
            </a:r>
            <a:r>
              <a:rPr lang="en-US" sz="1800" b="1" dirty="0">
                <a:latin typeface="+mj-lt"/>
              </a:rPr>
              <a:t> </a:t>
            </a:r>
            <a:r>
              <a:rPr lang="en-US" sz="1800" b="1" dirty="0" err="1">
                <a:latin typeface="+mj-lt"/>
              </a:rPr>
              <a:t>tiklash</a:t>
            </a:r>
            <a:endParaRPr lang="en-US" sz="1800" b="1" dirty="0">
              <a:solidFill>
                <a:prstClr val="white"/>
              </a:solidFill>
              <a:latin typeface="+mj-lt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  <p:sp>
        <p:nvSpPr>
          <p:cNvPr id="11" name="POWERPOINT TEMPLATE">
            <a:extLst>
              <a:ext uri="{FF2B5EF4-FFF2-40B4-BE49-F238E27FC236}">
                <a16:creationId xmlns:a16="http://schemas.microsoft.com/office/drawing/2014/main" xmlns="" id="{092A10CE-F77B-D793-A0BC-5D07F0349D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6885" y="2951236"/>
            <a:ext cx="737141" cy="2654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wrap="square" lIns="28575" tIns="28575" rIns="28575" bIns="28575" anchor="ctr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tabLst>
                <a:tab pos="10668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10668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10668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1066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1066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1066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1066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1066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1066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685800" fontAlgn="auto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tabLst>
                <a:tab pos="800100" algn="l"/>
              </a:tabLst>
              <a:defRPr/>
            </a:pPr>
            <a:r>
              <a:rPr lang="en-US" altLang="ru-RU" sz="1350" b="1" dirty="0">
                <a:solidFill>
                  <a:prstClr val="white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  <a:sym typeface="Arial" panose="020B0604020202020204" pitchFamily="34" charset="0"/>
              </a:rPr>
              <a:t>MAVZU</a:t>
            </a:r>
            <a:endParaRPr lang="ru-RU" altLang="ru-RU" sz="1350" b="1" dirty="0">
              <a:solidFill>
                <a:prstClr val="white"/>
              </a:solidFill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  <a:sym typeface="Arial" panose="020B0604020202020204" pitchFamily="34" charset="0"/>
            </a:endParaRPr>
          </a:p>
        </p:txBody>
      </p: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xmlns="" id="{2287D3F1-887C-5A61-A782-EFFB84A48856}"/>
              </a:ext>
            </a:extLst>
          </p:cNvPr>
          <p:cNvCxnSpPr>
            <a:cxnSpLocks/>
          </p:cNvCxnSpPr>
          <p:nvPr/>
        </p:nvCxnSpPr>
        <p:spPr>
          <a:xfrm>
            <a:off x="2048498" y="2973410"/>
            <a:ext cx="0" cy="822695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93336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2B626734-4FF9-4643-9CF3-2134BE2CB4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i="1" dirty="0" err="1">
                <a:solidFill>
                  <a:srgbClr val="00B050"/>
                </a:solidFill>
              </a:rPr>
              <a:t>Reja</a:t>
            </a:r>
            <a:r>
              <a:rPr lang="en-US" b="1" i="1" dirty="0">
                <a:solidFill>
                  <a:srgbClr val="00B050"/>
                </a:solidFill>
              </a:rPr>
              <a:t> </a:t>
            </a:r>
            <a:endParaRPr lang="ru-RU" b="1" i="1" dirty="0">
              <a:solidFill>
                <a:srgbClr val="00B050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456929A1-5B41-41C7-B7DF-0D0E2C6787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6182" y="1287256"/>
            <a:ext cx="7182696" cy="4889709"/>
          </a:xfrm>
        </p:spPr>
        <p:txBody>
          <a:bodyPr/>
          <a:lstStyle/>
          <a:p>
            <a:r>
              <a:rPr lang="en-US" b="1" i="1" dirty="0" err="1">
                <a:solidFill>
                  <a:srgbClr val="0070C0"/>
                </a:solidFill>
              </a:rPr>
              <a:t>Jurnal</a:t>
            </a:r>
            <a:r>
              <a:rPr lang="en-US" b="1" i="1" dirty="0">
                <a:solidFill>
                  <a:srgbClr val="0070C0"/>
                </a:solidFill>
              </a:rPr>
              <a:t> </a:t>
            </a:r>
            <a:r>
              <a:rPr lang="en-US" b="1" i="1" dirty="0" err="1">
                <a:solidFill>
                  <a:srgbClr val="0070C0"/>
                </a:solidFill>
              </a:rPr>
              <a:t>va</a:t>
            </a:r>
            <a:r>
              <a:rPr lang="en-US" b="1" i="1" dirty="0">
                <a:solidFill>
                  <a:srgbClr val="0070C0"/>
                </a:solidFill>
              </a:rPr>
              <a:t> log-</a:t>
            </a:r>
            <a:r>
              <a:rPr lang="en-US" b="1" i="1" dirty="0" err="1">
                <a:solidFill>
                  <a:srgbClr val="0070C0"/>
                </a:solidFill>
              </a:rPr>
              <a:t>strukturali</a:t>
            </a:r>
            <a:r>
              <a:rPr lang="en-US" b="1" i="1" dirty="0">
                <a:solidFill>
                  <a:srgbClr val="0070C0"/>
                </a:solidFill>
              </a:rPr>
              <a:t> </a:t>
            </a:r>
            <a:r>
              <a:rPr lang="en-US" b="1" i="1" dirty="0" err="1">
                <a:solidFill>
                  <a:srgbClr val="0070C0"/>
                </a:solidFill>
              </a:rPr>
              <a:t>fayl</a:t>
            </a:r>
            <a:r>
              <a:rPr lang="en-US" b="1" i="1" dirty="0">
                <a:solidFill>
                  <a:srgbClr val="0070C0"/>
                </a:solidFill>
              </a:rPr>
              <a:t> </a:t>
            </a:r>
            <a:r>
              <a:rPr lang="en-US" b="1" i="1" dirty="0" err="1">
                <a:solidFill>
                  <a:srgbClr val="0070C0"/>
                </a:solidFill>
              </a:rPr>
              <a:t>tizimlari</a:t>
            </a:r>
            <a:r>
              <a:rPr lang="en-US" b="1" i="1" dirty="0">
                <a:solidFill>
                  <a:srgbClr val="0070C0"/>
                </a:solidFill>
              </a:rPr>
              <a:t>(LFS). </a:t>
            </a:r>
            <a:endParaRPr lang="en-US" b="1" i="1" dirty="0" smtClean="0">
              <a:solidFill>
                <a:srgbClr val="0070C0"/>
              </a:solidFill>
            </a:endParaRPr>
          </a:p>
          <a:p>
            <a:r>
              <a:rPr lang="en-US" b="1" i="1" dirty="0">
                <a:solidFill>
                  <a:srgbClr val="0070C0"/>
                </a:solidFill>
              </a:rPr>
              <a:t>Journaling </a:t>
            </a:r>
            <a:r>
              <a:rPr lang="en-US" b="1" i="1" dirty="0" err="1">
                <a:solidFill>
                  <a:srgbClr val="0070C0"/>
                </a:solidFill>
              </a:rPr>
              <a:t>va</a:t>
            </a:r>
            <a:r>
              <a:rPr lang="en-US" b="1" i="1" dirty="0">
                <a:solidFill>
                  <a:srgbClr val="0070C0"/>
                </a:solidFill>
              </a:rPr>
              <a:t> LFS </a:t>
            </a:r>
            <a:r>
              <a:rPr lang="en-US" b="1" i="1" dirty="0" err="1" smtClean="0">
                <a:solidFill>
                  <a:srgbClr val="0070C0"/>
                </a:solidFill>
              </a:rPr>
              <a:t>taqqoslanishi</a:t>
            </a:r>
            <a:endParaRPr lang="en-US" b="1" i="1" dirty="0" smtClean="0">
              <a:solidFill>
                <a:srgbClr val="0070C0"/>
              </a:solidFill>
            </a:endParaRPr>
          </a:p>
          <a:p>
            <a:r>
              <a:rPr lang="en-US" b="1" i="1" dirty="0" err="1">
                <a:solidFill>
                  <a:srgbClr val="0070C0"/>
                </a:solidFill>
              </a:rPr>
              <a:t>Nosozliklarga</a:t>
            </a:r>
            <a:r>
              <a:rPr lang="en-US" b="1" i="1" dirty="0">
                <a:solidFill>
                  <a:srgbClr val="0070C0"/>
                </a:solidFill>
              </a:rPr>
              <a:t> </a:t>
            </a:r>
            <a:r>
              <a:rPr lang="en-US" b="1" i="1" dirty="0" err="1">
                <a:solidFill>
                  <a:srgbClr val="0070C0"/>
                </a:solidFill>
              </a:rPr>
              <a:t>chidamli</a:t>
            </a:r>
            <a:r>
              <a:rPr lang="en-US" b="1" i="1" dirty="0">
                <a:solidFill>
                  <a:srgbClr val="0070C0"/>
                </a:solidFill>
              </a:rPr>
              <a:t> </a:t>
            </a:r>
            <a:r>
              <a:rPr lang="en-US" b="1" i="1" dirty="0" err="1">
                <a:solidFill>
                  <a:srgbClr val="0070C0"/>
                </a:solidFill>
              </a:rPr>
              <a:t>diskni</a:t>
            </a:r>
            <a:r>
              <a:rPr lang="en-US" b="1" i="1" dirty="0">
                <a:solidFill>
                  <a:srgbClr val="0070C0"/>
                </a:solidFill>
              </a:rPr>
              <a:t> </a:t>
            </a:r>
            <a:r>
              <a:rPr lang="en-US" b="1" i="1" dirty="0" err="1" smtClean="0">
                <a:solidFill>
                  <a:srgbClr val="0070C0"/>
                </a:solidFill>
              </a:rPr>
              <a:t>yangilash</a:t>
            </a:r>
            <a:endParaRPr lang="en-US" b="1" i="1" dirty="0" smtClean="0">
              <a:solidFill>
                <a:srgbClr val="0070C0"/>
              </a:solidFill>
            </a:endParaRPr>
          </a:p>
          <a:p>
            <a:r>
              <a:rPr lang="en-US" b="1" i="1" dirty="0" err="1">
                <a:solidFill>
                  <a:srgbClr val="0070C0"/>
                </a:solidFill>
              </a:rPr>
              <a:t>Ma’lumotlarni</a:t>
            </a:r>
            <a:r>
              <a:rPr lang="en-US" b="1" i="1" dirty="0">
                <a:solidFill>
                  <a:srgbClr val="0070C0"/>
                </a:solidFill>
              </a:rPr>
              <a:t> </a:t>
            </a:r>
            <a:r>
              <a:rPr lang="en-US" b="1" i="1" dirty="0" err="1" smtClean="0">
                <a:solidFill>
                  <a:srgbClr val="0070C0"/>
                </a:solidFill>
              </a:rPr>
              <a:t>tiklash</a:t>
            </a:r>
            <a:endParaRPr lang="en-US" b="1" i="1" dirty="0" smtClean="0">
              <a:solidFill>
                <a:srgbClr val="0070C0"/>
              </a:solidFill>
            </a:endParaRPr>
          </a:p>
          <a:p>
            <a:r>
              <a:rPr lang="en-US" b="1" i="1" dirty="0" err="1" smtClean="0">
                <a:solidFill>
                  <a:srgbClr val="0070C0"/>
                </a:solidFill>
              </a:rPr>
              <a:t>Xulosa</a:t>
            </a:r>
            <a:endParaRPr lang="en-US" b="1" i="1" dirty="0">
              <a:solidFill>
                <a:srgbClr val="0070C0"/>
              </a:solidFill>
            </a:endParaRPr>
          </a:p>
          <a:p>
            <a:r>
              <a:rPr lang="en-US" b="1" i="1" dirty="0" err="1">
                <a:solidFill>
                  <a:srgbClr val="0070C0"/>
                </a:solidFill>
              </a:rPr>
              <a:t>Mavzu</a:t>
            </a:r>
            <a:r>
              <a:rPr lang="en-US" b="1" i="1" dirty="0">
                <a:solidFill>
                  <a:srgbClr val="0070C0"/>
                </a:solidFill>
              </a:rPr>
              <a:t> </a:t>
            </a:r>
            <a:r>
              <a:rPr lang="en-US" b="1" i="1" dirty="0" err="1">
                <a:solidFill>
                  <a:srgbClr val="0070C0"/>
                </a:solidFill>
              </a:rPr>
              <a:t>bo‘yicha</a:t>
            </a:r>
            <a:r>
              <a:rPr lang="en-US" b="1" i="1" dirty="0">
                <a:solidFill>
                  <a:srgbClr val="0070C0"/>
                </a:solidFill>
              </a:rPr>
              <a:t> </a:t>
            </a:r>
            <a:r>
              <a:rPr lang="en-US" b="1" i="1" dirty="0" err="1">
                <a:solidFill>
                  <a:srgbClr val="0070C0"/>
                </a:solidFill>
              </a:rPr>
              <a:t>savollar</a:t>
            </a:r>
            <a:endParaRPr lang="en-US" b="1" i="1" dirty="0">
              <a:solidFill>
                <a:srgbClr val="0070C0"/>
              </a:solidFill>
            </a:endParaRPr>
          </a:p>
          <a:p>
            <a:r>
              <a:rPr lang="en-US" b="1" i="1" dirty="0" err="1">
                <a:solidFill>
                  <a:srgbClr val="0070C0"/>
                </a:solidFill>
              </a:rPr>
              <a:t>Foydalanilgan</a:t>
            </a:r>
            <a:r>
              <a:rPr lang="en-US" b="1" i="1" dirty="0">
                <a:solidFill>
                  <a:srgbClr val="0070C0"/>
                </a:solidFill>
              </a:rPr>
              <a:t> </a:t>
            </a:r>
            <a:r>
              <a:rPr lang="en-US" b="1" i="1" dirty="0" err="1">
                <a:solidFill>
                  <a:srgbClr val="0070C0"/>
                </a:solidFill>
              </a:rPr>
              <a:t>adabiyotlar</a:t>
            </a:r>
            <a:r>
              <a:rPr lang="en-US" b="1" i="1" dirty="0">
                <a:solidFill>
                  <a:srgbClr val="0070C0"/>
                </a:solidFill>
              </a:rPr>
              <a:t> </a:t>
            </a:r>
          </a:p>
          <a:p>
            <a:endParaRPr lang="en-US" b="1" i="1" dirty="0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ru-RU" i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28406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2540142" y="501134"/>
            <a:ext cx="358264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err="1">
                <a:latin typeface="+mn-lt"/>
              </a:rPr>
              <a:t>Jurnal</a:t>
            </a:r>
            <a:r>
              <a:rPr lang="en-US" sz="2000" b="1" dirty="0">
                <a:latin typeface="+mn-lt"/>
              </a:rPr>
              <a:t> (Journaling) </a:t>
            </a:r>
            <a:r>
              <a:rPr lang="en-US" sz="2000" b="1" dirty="0" err="1">
                <a:latin typeface="+mn-lt"/>
              </a:rPr>
              <a:t>Fayl</a:t>
            </a:r>
            <a:r>
              <a:rPr lang="en-US" sz="2000" b="1" dirty="0">
                <a:latin typeface="+mn-lt"/>
              </a:rPr>
              <a:t> </a:t>
            </a:r>
            <a:r>
              <a:rPr lang="en-US" sz="2000" b="1" dirty="0" err="1">
                <a:latin typeface="+mn-lt"/>
              </a:rPr>
              <a:t>Tizimlari</a:t>
            </a:r>
            <a:endParaRPr lang="ru-RU" sz="2000" b="1" dirty="0">
              <a:latin typeface="+mn-lt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646771" y="1161498"/>
            <a:ext cx="7850458" cy="29495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Journaling file system</a:t>
            </a:r>
            <a:r>
              <a:rPr lang="en-US" dirty="0"/>
              <a:t> —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fayl</a:t>
            </a:r>
            <a:r>
              <a:rPr lang="en-US" dirty="0"/>
              <a:t> </a:t>
            </a:r>
            <a:r>
              <a:rPr lang="en-US" dirty="0" err="1"/>
              <a:t>tizimi</a:t>
            </a:r>
            <a:r>
              <a:rPr lang="en-US" dirty="0"/>
              <a:t>, </a:t>
            </a:r>
            <a:r>
              <a:rPr lang="en-US" dirty="0" err="1"/>
              <a:t>unda</a:t>
            </a:r>
            <a:r>
              <a:rPr lang="en-US" dirty="0"/>
              <a:t> </a:t>
            </a:r>
            <a:r>
              <a:rPr lang="en-US" dirty="0" err="1"/>
              <a:t>barcha</a:t>
            </a:r>
            <a:r>
              <a:rPr lang="en-US" dirty="0"/>
              <a:t> </a:t>
            </a:r>
            <a:r>
              <a:rPr lang="en-US" dirty="0" err="1"/>
              <a:t>o‘zgarishlar</a:t>
            </a:r>
            <a:r>
              <a:rPr lang="en-US" dirty="0"/>
              <a:t> </a:t>
            </a:r>
            <a:r>
              <a:rPr lang="en-US" dirty="0" err="1"/>
              <a:t>avval</a:t>
            </a:r>
            <a:r>
              <a:rPr lang="en-US" dirty="0"/>
              <a:t> </a:t>
            </a:r>
            <a:r>
              <a:rPr lang="en-US" i="1" dirty="0" err="1"/>
              <a:t>jurnalga</a:t>
            </a:r>
            <a:r>
              <a:rPr lang="en-US" dirty="0"/>
              <a:t> (log-</a:t>
            </a:r>
            <a:r>
              <a:rPr lang="en-US" dirty="0" err="1"/>
              <a:t>faylga</a:t>
            </a:r>
            <a:r>
              <a:rPr lang="en-US" dirty="0"/>
              <a:t>) </a:t>
            </a:r>
            <a:r>
              <a:rPr lang="en-US" dirty="0" err="1"/>
              <a:t>yoziladi</a:t>
            </a:r>
            <a:r>
              <a:rPr lang="en-US" dirty="0"/>
              <a:t>, </a:t>
            </a:r>
            <a:r>
              <a:rPr lang="en-US" dirty="0" err="1"/>
              <a:t>so‘ngra</a:t>
            </a:r>
            <a:r>
              <a:rPr lang="en-US" dirty="0"/>
              <a:t> </a:t>
            </a:r>
            <a:r>
              <a:rPr lang="en-US" dirty="0" err="1"/>
              <a:t>haqiqiy</a:t>
            </a:r>
            <a:r>
              <a:rPr lang="en-US" dirty="0"/>
              <a:t> disk </a:t>
            </a:r>
            <a:r>
              <a:rPr lang="en-US" dirty="0" err="1"/>
              <a:t>bloklariga</a:t>
            </a:r>
            <a:r>
              <a:rPr lang="en-US" dirty="0"/>
              <a:t> </a:t>
            </a:r>
            <a:r>
              <a:rPr lang="en-US" dirty="0" err="1"/>
              <a:t>yoziladi</a:t>
            </a:r>
            <a:r>
              <a:rPr lang="en-US" dirty="0"/>
              <a:t>. Bu </a:t>
            </a:r>
            <a:r>
              <a:rPr lang="en-US" dirty="0" err="1"/>
              <a:t>kompyuter</a:t>
            </a:r>
            <a:r>
              <a:rPr lang="en-US" dirty="0"/>
              <a:t> </a:t>
            </a:r>
            <a:r>
              <a:rPr lang="en-US" dirty="0" err="1"/>
              <a:t>to‘satdan</a:t>
            </a:r>
            <a:r>
              <a:rPr lang="en-US" dirty="0"/>
              <a:t> </a:t>
            </a:r>
            <a:r>
              <a:rPr lang="en-US" dirty="0" err="1"/>
              <a:t>o‘chib</a:t>
            </a:r>
            <a:r>
              <a:rPr lang="en-US" dirty="0"/>
              <a:t> </a:t>
            </a:r>
            <a:r>
              <a:rPr lang="en-US" dirty="0" err="1"/>
              <a:t>qolsa</a:t>
            </a:r>
            <a:r>
              <a:rPr lang="en-US" dirty="0"/>
              <a:t> ham </a:t>
            </a:r>
            <a:r>
              <a:rPr lang="en-US" dirty="0" err="1"/>
              <a:t>ma’lumotni</a:t>
            </a:r>
            <a:r>
              <a:rPr lang="en-US" dirty="0"/>
              <a:t> </a:t>
            </a:r>
            <a:r>
              <a:rPr lang="en-US" dirty="0" err="1"/>
              <a:t>tiklashni</a:t>
            </a:r>
            <a:r>
              <a:rPr lang="en-US" dirty="0"/>
              <a:t> </a:t>
            </a:r>
            <a:r>
              <a:rPr lang="en-US" dirty="0" err="1"/>
              <a:t>osonlashtiradi</a:t>
            </a:r>
            <a:r>
              <a:rPr lang="en-US" dirty="0"/>
              <a:t>.</a:t>
            </a:r>
          </a:p>
          <a:p>
            <a:pPr>
              <a:lnSpc>
                <a:spcPct val="150000"/>
              </a:lnSpc>
            </a:pPr>
            <a:r>
              <a:rPr lang="en-US" dirty="0" err="1"/>
              <a:t>Jurnal</a:t>
            </a:r>
            <a:r>
              <a:rPr lang="en-US" dirty="0"/>
              <a:t> </a:t>
            </a:r>
            <a:r>
              <a:rPr lang="en-US" dirty="0" err="1"/>
              <a:t>fayl</a:t>
            </a:r>
            <a:r>
              <a:rPr lang="en-US" dirty="0"/>
              <a:t> </a:t>
            </a:r>
            <a:r>
              <a:rPr lang="en-US" dirty="0" err="1"/>
              <a:t>tizimlarining</a:t>
            </a:r>
            <a:r>
              <a:rPr lang="en-US" dirty="0"/>
              <a:t> </a:t>
            </a:r>
            <a:r>
              <a:rPr lang="en-US" dirty="0" err="1"/>
              <a:t>asosiy</a:t>
            </a:r>
            <a:r>
              <a:rPr lang="en-US" dirty="0"/>
              <a:t> </a:t>
            </a:r>
            <a:r>
              <a:rPr lang="en-US" dirty="0" err="1"/>
              <a:t>maqsadi</a:t>
            </a:r>
            <a:r>
              <a:rPr lang="en-US" dirty="0" smtClean="0"/>
              <a:t>:</a:t>
            </a:r>
            <a:endParaRPr lang="en-US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Ma’lumot</a:t>
            </a:r>
            <a:r>
              <a:rPr lang="en-US" dirty="0"/>
              <a:t> </a:t>
            </a:r>
            <a:r>
              <a:rPr lang="en-US" dirty="0" err="1"/>
              <a:t>yo‘qolishini</a:t>
            </a:r>
            <a:r>
              <a:rPr lang="en-US" dirty="0"/>
              <a:t> </a:t>
            </a:r>
            <a:r>
              <a:rPr lang="en-US" dirty="0" err="1"/>
              <a:t>kamaytirish</a:t>
            </a:r>
            <a:endParaRPr lang="en-US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Diskni</a:t>
            </a:r>
            <a:r>
              <a:rPr lang="en-US" dirty="0"/>
              <a:t> </a:t>
            </a:r>
            <a:r>
              <a:rPr lang="en-US" dirty="0" err="1"/>
              <a:t>tezroq</a:t>
            </a:r>
            <a:r>
              <a:rPr lang="en-US" dirty="0"/>
              <a:t> </a:t>
            </a:r>
            <a:r>
              <a:rPr lang="en-US" dirty="0" err="1"/>
              <a:t>tiklash</a:t>
            </a:r>
            <a:r>
              <a:rPr lang="en-US" dirty="0"/>
              <a:t> (recovery)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O‘zgarishlarni</a:t>
            </a:r>
            <a:r>
              <a:rPr lang="en-US" dirty="0"/>
              <a:t> </a:t>
            </a:r>
            <a:r>
              <a:rPr lang="en-US" dirty="0" err="1"/>
              <a:t>izchil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xavfsiz</a:t>
            </a:r>
            <a:r>
              <a:rPr lang="en-US" dirty="0"/>
              <a:t> </a:t>
            </a:r>
            <a:r>
              <a:rPr lang="en-US" dirty="0" err="1"/>
              <a:t>saqlash</a:t>
            </a:r>
            <a:endParaRPr lang="en-US" dirty="0"/>
          </a:p>
        </p:txBody>
      </p:sp>
      <p:pic>
        <p:nvPicPr>
          <p:cNvPr id="1026" name="Picture 2" descr="https://thelinuxcluster.com/wp-content/uploads/2024/04/journal-file-system-1.png?w=102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2489" y="4200233"/>
            <a:ext cx="5479021" cy="21937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197754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/>
        </p:nvSpPr>
        <p:spPr>
          <a:xfrm>
            <a:off x="1304691" y="485299"/>
            <a:ext cx="614432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rgbClr val="222222"/>
                </a:solidFill>
                <a:latin typeface="Poppins"/>
              </a:rPr>
              <a:t>Journaling </a:t>
            </a:r>
            <a:r>
              <a:rPr lang="en-US" b="1" dirty="0" err="1">
                <a:solidFill>
                  <a:srgbClr val="222222"/>
                </a:solidFill>
                <a:latin typeface="Poppins"/>
              </a:rPr>
              <a:t>va</a:t>
            </a:r>
            <a:r>
              <a:rPr lang="en-US" b="1" dirty="0">
                <a:solidFill>
                  <a:srgbClr val="222222"/>
                </a:solidFill>
                <a:latin typeface="Poppins"/>
              </a:rPr>
              <a:t> </a:t>
            </a:r>
            <a:r>
              <a:rPr lang="en-US" b="1" dirty="0" err="1">
                <a:solidFill>
                  <a:srgbClr val="222222"/>
                </a:solidFill>
                <a:latin typeface="Poppins"/>
              </a:rPr>
              <a:t>Jurnal</a:t>
            </a:r>
            <a:r>
              <a:rPr lang="en-US" b="1" dirty="0">
                <a:solidFill>
                  <a:srgbClr val="222222"/>
                </a:solidFill>
                <a:latin typeface="Poppins"/>
              </a:rPr>
              <a:t> </a:t>
            </a:r>
            <a:r>
              <a:rPr lang="en-US" b="1" dirty="0" err="1">
                <a:solidFill>
                  <a:srgbClr val="222222"/>
                </a:solidFill>
                <a:latin typeface="Poppins"/>
              </a:rPr>
              <a:t>bo'lmagan</a:t>
            </a:r>
            <a:r>
              <a:rPr lang="en-US" b="1" dirty="0">
                <a:solidFill>
                  <a:srgbClr val="222222"/>
                </a:solidFill>
                <a:latin typeface="Poppins"/>
              </a:rPr>
              <a:t> </a:t>
            </a:r>
            <a:r>
              <a:rPr lang="en-US" b="1" dirty="0" err="1">
                <a:solidFill>
                  <a:srgbClr val="222222"/>
                </a:solidFill>
                <a:latin typeface="Poppins"/>
              </a:rPr>
              <a:t>fayl</a:t>
            </a:r>
            <a:r>
              <a:rPr lang="en-US" b="1" dirty="0">
                <a:solidFill>
                  <a:srgbClr val="222222"/>
                </a:solidFill>
                <a:latin typeface="Poppins"/>
              </a:rPr>
              <a:t> </a:t>
            </a:r>
            <a:r>
              <a:rPr lang="en-US" b="1" dirty="0" err="1">
                <a:solidFill>
                  <a:srgbClr val="222222"/>
                </a:solidFill>
                <a:latin typeface="Poppins"/>
              </a:rPr>
              <a:t>tizimi</a:t>
            </a:r>
            <a:endParaRPr lang="en-US" b="1" i="0" dirty="0">
              <a:solidFill>
                <a:srgbClr val="222222"/>
              </a:solidFill>
              <a:effectLst/>
              <a:latin typeface="Poppins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579862" y="1029464"/>
            <a:ext cx="8017727" cy="29495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 err="1">
                <a:solidFill>
                  <a:srgbClr val="222222"/>
                </a:solidFill>
                <a:latin typeface="Poppins"/>
              </a:rPr>
              <a:t>Jurnalga</a:t>
            </a:r>
            <a:r>
              <a:rPr lang="en-US" b="1" dirty="0">
                <a:solidFill>
                  <a:srgbClr val="222222"/>
                </a:solidFill>
                <a:latin typeface="Poppins"/>
              </a:rPr>
              <a:t> </a:t>
            </a:r>
            <a:r>
              <a:rPr lang="en-US" b="1" dirty="0" err="1">
                <a:solidFill>
                  <a:srgbClr val="222222"/>
                </a:solidFill>
                <a:latin typeface="Poppins"/>
              </a:rPr>
              <a:t>kirmaydigan</a:t>
            </a:r>
            <a:r>
              <a:rPr lang="en-US" b="1" dirty="0">
                <a:solidFill>
                  <a:srgbClr val="222222"/>
                </a:solidFill>
                <a:latin typeface="Poppins"/>
              </a:rPr>
              <a:t> </a:t>
            </a:r>
            <a:r>
              <a:rPr lang="en-US" b="1" dirty="0" err="1">
                <a:solidFill>
                  <a:srgbClr val="222222"/>
                </a:solidFill>
                <a:latin typeface="Poppins"/>
              </a:rPr>
              <a:t>fayl</a:t>
            </a:r>
            <a:r>
              <a:rPr lang="en-US" b="1" dirty="0">
                <a:solidFill>
                  <a:srgbClr val="222222"/>
                </a:solidFill>
                <a:latin typeface="Poppins"/>
              </a:rPr>
              <a:t> </a:t>
            </a:r>
            <a:r>
              <a:rPr lang="en-US" b="1" dirty="0" err="1">
                <a:solidFill>
                  <a:srgbClr val="222222"/>
                </a:solidFill>
                <a:latin typeface="Poppins"/>
              </a:rPr>
              <a:t>tizimi</a:t>
            </a:r>
            <a:endParaRPr lang="en-US" b="1" dirty="0">
              <a:solidFill>
                <a:srgbClr val="222222"/>
              </a:solidFill>
              <a:latin typeface="Poppins"/>
            </a:endParaRPr>
          </a:p>
          <a:p>
            <a:pPr>
              <a:lnSpc>
                <a:spcPct val="150000"/>
              </a:lnSpc>
            </a:pPr>
            <a:r>
              <a:rPr lang="en-US" dirty="0" err="1">
                <a:solidFill>
                  <a:srgbClr val="3B3B3B"/>
                </a:solidFill>
                <a:latin typeface="Poppins"/>
              </a:rPr>
              <a:t>Jurnal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bo'lmagan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fayl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tizimlari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o'zgarishlar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jurnalini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saqlamaydi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.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Shunday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qilib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,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fayl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o'zgartirilganda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,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o'zgarishlar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 </a:t>
            </a:r>
            <a:r>
              <a:rPr lang="en-US" b="1" dirty="0" err="1">
                <a:solidFill>
                  <a:srgbClr val="3B3B3B"/>
                </a:solidFill>
                <a:latin typeface="Poppins"/>
              </a:rPr>
              <a:t>to'g'ridan-to'g'ri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 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diskka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yoziladi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. Bu </a:t>
            </a:r>
            <a:r>
              <a:rPr lang="en-US" dirty="0" err="1">
                <a:solidFill>
                  <a:srgbClr val="2B6CB0"/>
                </a:solidFill>
                <a:latin typeface="Poppins"/>
                <a:hlinkClick r:id="rId2"/>
              </a:rPr>
              <a:t>tezroq</a:t>
            </a:r>
            <a:r>
              <a:rPr lang="en-US" dirty="0">
                <a:solidFill>
                  <a:srgbClr val="2B6CB0"/>
                </a:solidFill>
                <a:latin typeface="Poppins"/>
                <a:hlinkClick r:id="rId2"/>
              </a:rPr>
              <a:t> </a:t>
            </a:r>
            <a:r>
              <a:rPr lang="en-US" dirty="0" err="1">
                <a:solidFill>
                  <a:srgbClr val="2B6CB0"/>
                </a:solidFill>
                <a:latin typeface="Poppins"/>
                <a:hlinkClick r:id="rId2"/>
              </a:rPr>
              <a:t>yozish</a:t>
            </a:r>
            <a:r>
              <a:rPr lang="en-US" dirty="0">
                <a:solidFill>
                  <a:srgbClr val="2B6CB0"/>
                </a:solidFill>
                <a:latin typeface="Poppins"/>
                <a:hlinkClick r:id="rId2"/>
              </a:rPr>
              <a:t> </a:t>
            </a:r>
            <a:r>
              <a:rPr lang="en-US" dirty="0" err="1">
                <a:solidFill>
                  <a:srgbClr val="2B6CB0"/>
                </a:solidFill>
                <a:latin typeface="Poppins"/>
                <a:hlinkClick r:id="rId2"/>
              </a:rPr>
              <a:t>ishlashi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 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va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 </a:t>
            </a:r>
            <a:r>
              <a:rPr lang="en-US" dirty="0">
                <a:solidFill>
                  <a:srgbClr val="2B6CB0"/>
                </a:solidFill>
                <a:latin typeface="Poppins"/>
                <a:hlinkClick r:id="rId3"/>
              </a:rPr>
              <a:t>past </a:t>
            </a:r>
            <a:r>
              <a:rPr lang="en-US" dirty="0" err="1">
                <a:solidFill>
                  <a:srgbClr val="2B6CB0"/>
                </a:solidFill>
                <a:latin typeface="Poppins"/>
                <a:hlinkClick r:id="rId3"/>
              </a:rPr>
              <a:t>diskdan</a:t>
            </a:r>
            <a:r>
              <a:rPr lang="en-US" dirty="0">
                <a:solidFill>
                  <a:srgbClr val="2B6CB0"/>
                </a:solidFill>
                <a:latin typeface="Poppins"/>
                <a:hlinkClick r:id="rId3"/>
              </a:rPr>
              <a:t> </a:t>
            </a:r>
            <a:r>
              <a:rPr lang="en-US" dirty="0" err="1">
                <a:solidFill>
                  <a:srgbClr val="2B6CB0"/>
                </a:solidFill>
                <a:latin typeface="Poppins"/>
                <a:hlinkClick r:id="rId3"/>
              </a:rPr>
              <a:t>foydalanishga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 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yordam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beradi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.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Fayl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tuzilishi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oddiyroq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va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unchalik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murakkab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emas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,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bu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flesh-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disklar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,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xotira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kartalari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va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o'rnatilgan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tizimlar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uchun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mos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keladi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.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Biroq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,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bu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fayl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tizimlari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korruptsiya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xavfi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yuqori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bo'lganligi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sababli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jiddiy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kamchiliklarga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ega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.</a:t>
            </a:r>
            <a:endParaRPr lang="en-US" b="0" i="0" dirty="0">
              <a:solidFill>
                <a:srgbClr val="3B3B3B"/>
              </a:solidFill>
              <a:effectLst/>
              <a:latin typeface="Poppins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579862" y="4153822"/>
            <a:ext cx="627813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>
                <a:solidFill>
                  <a:srgbClr val="3B3B3B"/>
                </a:solidFill>
                <a:latin typeface="Poppins"/>
              </a:rPr>
              <a:t>Misollar</a:t>
            </a:r>
            <a:r>
              <a:rPr lang="en-US" b="1" dirty="0">
                <a:solidFill>
                  <a:srgbClr val="3B3B3B"/>
                </a:solidFill>
                <a:latin typeface="Poppins"/>
              </a:rPr>
              <a:t>: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 FAT32,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exFAT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, ext2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ning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dastlabki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versiyalari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482721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524107" y="465438"/>
            <a:ext cx="8084634" cy="25340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 err="1">
                <a:solidFill>
                  <a:srgbClr val="222222"/>
                </a:solidFill>
                <a:latin typeface="Poppins"/>
              </a:rPr>
              <a:t>Jurnal</a:t>
            </a:r>
            <a:r>
              <a:rPr lang="en-US" b="1" dirty="0">
                <a:solidFill>
                  <a:srgbClr val="222222"/>
                </a:solidFill>
                <a:latin typeface="Poppins"/>
              </a:rPr>
              <a:t> </a:t>
            </a:r>
            <a:r>
              <a:rPr lang="en-US" b="1" dirty="0" err="1">
                <a:solidFill>
                  <a:srgbClr val="222222"/>
                </a:solidFill>
                <a:latin typeface="Poppins"/>
              </a:rPr>
              <a:t>fayl</a:t>
            </a:r>
            <a:r>
              <a:rPr lang="en-US" b="1" dirty="0">
                <a:solidFill>
                  <a:srgbClr val="222222"/>
                </a:solidFill>
                <a:latin typeface="Poppins"/>
              </a:rPr>
              <a:t> </a:t>
            </a:r>
            <a:r>
              <a:rPr lang="en-US" b="1" dirty="0" err="1">
                <a:solidFill>
                  <a:srgbClr val="222222"/>
                </a:solidFill>
                <a:latin typeface="Poppins"/>
              </a:rPr>
              <a:t>tizimi</a:t>
            </a:r>
            <a:endParaRPr lang="en-US" b="1" dirty="0">
              <a:solidFill>
                <a:srgbClr val="222222"/>
              </a:solidFill>
              <a:latin typeface="Poppins"/>
            </a:endParaRPr>
          </a:p>
          <a:p>
            <a:pPr>
              <a:lnSpc>
                <a:spcPct val="150000"/>
              </a:lnSpc>
            </a:pPr>
            <a:r>
              <a:rPr lang="en-US" dirty="0" err="1">
                <a:solidFill>
                  <a:srgbClr val="3B3B3B"/>
                </a:solidFill>
                <a:latin typeface="Poppins"/>
              </a:rPr>
              <a:t>Nomidan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ko'rinib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turibdiki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,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ushbu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fayl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tizimlari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markaziy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fayl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tizimiga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qo'llashdan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oldin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kutilayotgan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o'zgarishlar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jurnalini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(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jurnalini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)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saqlaydi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. Bu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buzilishning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oldini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oladi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va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tiklanish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vaqtini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qisqartiradi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. Agar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buzilish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sodir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bo'lsa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,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butun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diskni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skanerlashingiz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shart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emas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.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Tizim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fayl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tizimining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izchilligini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saqlab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qolish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uchun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jurnal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yozuvlarini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faqat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takrorlaydi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yoki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o'chiradi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.</a:t>
            </a:r>
            <a:endParaRPr lang="en-US" b="0" i="0" dirty="0">
              <a:solidFill>
                <a:srgbClr val="3B3B3B"/>
              </a:solidFill>
              <a:effectLst/>
              <a:latin typeface="Poppins"/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9161" y="3963770"/>
            <a:ext cx="5541440" cy="2242808"/>
          </a:xfrm>
          <a:prstGeom prst="rect">
            <a:avLst/>
          </a:prstGeom>
        </p:spPr>
      </p:pic>
      <p:sp>
        <p:nvSpPr>
          <p:cNvPr id="9" name="Прямоугольник 8"/>
          <p:cNvSpPr/>
          <p:nvPr/>
        </p:nvSpPr>
        <p:spPr>
          <a:xfrm>
            <a:off x="524107" y="3105835"/>
            <a:ext cx="816269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>
                <a:solidFill>
                  <a:srgbClr val="3B3B3B"/>
                </a:solidFill>
                <a:latin typeface="Poppins"/>
              </a:rPr>
              <a:t>Misollar</a:t>
            </a:r>
            <a:r>
              <a:rPr lang="en-US" b="1" dirty="0">
                <a:solidFill>
                  <a:srgbClr val="3B3B3B"/>
                </a:solidFill>
                <a:latin typeface="Poppins"/>
              </a:rPr>
              <a:t>: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 NTFS (Windows), ext3/ext4 (Linux), APFS (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macOS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), XFS, JFS.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275985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system of jfs worki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8068" y="3741234"/>
            <a:ext cx="6096000" cy="2381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Прямоугольник 6"/>
          <p:cNvSpPr/>
          <p:nvPr/>
        </p:nvSpPr>
        <p:spPr>
          <a:xfrm>
            <a:off x="512956" y="406778"/>
            <a:ext cx="8341112" cy="29495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 err="1">
                <a:solidFill>
                  <a:srgbClr val="222222"/>
                </a:solidFill>
                <a:latin typeface="Poppins"/>
              </a:rPr>
              <a:t>Jurnal</a:t>
            </a:r>
            <a:r>
              <a:rPr lang="en-US" b="1" dirty="0">
                <a:solidFill>
                  <a:srgbClr val="222222"/>
                </a:solidFill>
                <a:latin typeface="Poppins"/>
              </a:rPr>
              <a:t> </a:t>
            </a:r>
            <a:r>
              <a:rPr lang="en-US" b="1" dirty="0" err="1">
                <a:solidFill>
                  <a:srgbClr val="222222"/>
                </a:solidFill>
                <a:latin typeface="Poppins"/>
              </a:rPr>
              <a:t>qanday</a:t>
            </a:r>
            <a:r>
              <a:rPr lang="en-US" b="1" dirty="0">
                <a:solidFill>
                  <a:srgbClr val="222222"/>
                </a:solidFill>
                <a:latin typeface="Poppins"/>
              </a:rPr>
              <a:t> </a:t>
            </a:r>
            <a:r>
              <a:rPr lang="en-US" b="1" dirty="0" err="1">
                <a:solidFill>
                  <a:srgbClr val="222222"/>
                </a:solidFill>
                <a:latin typeface="Poppins"/>
              </a:rPr>
              <a:t>ishlaydi</a:t>
            </a:r>
            <a:r>
              <a:rPr lang="en-US" b="1" dirty="0">
                <a:solidFill>
                  <a:srgbClr val="222222"/>
                </a:solidFill>
                <a:latin typeface="Poppins"/>
              </a:rPr>
              <a:t>?</a:t>
            </a:r>
          </a:p>
          <a:p>
            <a:pPr>
              <a:lnSpc>
                <a:spcPct val="150000"/>
              </a:lnSpc>
            </a:pPr>
            <a:r>
              <a:rPr lang="en-US" dirty="0" err="1">
                <a:solidFill>
                  <a:srgbClr val="3B3B3B"/>
                </a:solidFill>
                <a:latin typeface="Poppins"/>
              </a:rPr>
              <a:t>Yuqorida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aytib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o'tilganidek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,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fayl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tizimi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faylga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kiritilgan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har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qanday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o'zgarishlarni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amalga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oshirishdan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oldin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jurnal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deb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nomlangan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maxsus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jurnalda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qayd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etadi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.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Voqealarning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sahna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ortida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qanday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ketayotganini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tushunish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muhimdir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dirty="0" err="1">
                <a:solidFill>
                  <a:srgbClr val="3B3B3B"/>
                </a:solidFill>
                <a:latin typeface="Poppins"/>
              </a:rPr>
              <a:t>Dasturdan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faylni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yaratish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/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o'zgartirish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/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o'chirish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so'raladi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.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Masalan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, 10 MB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hajmdagi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video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faylni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hujjatlar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jildiga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saqlash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uchun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dastur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so'raladi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dirty="0" err="1">
                <a:solidFill>
                  <a:srgbClr val="3B3B3B"/>
                </a:solidFill>
                <a:latin typeface="Poppins"/>
              </a:rPr>
              <a:t>Fayl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tizimi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jurnalda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quyidagi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narsalar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bilan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yozuv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yaratadi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.</a:t>
            </a:r>
            <a:endParaRPr lang="en-US" b="0" i="0" dirty="0">
              <a:solidFill>
                <a:srgbClr val="3B3B3B"/>
              </a:solidFill>
              <a:effectLst/>
              <a:latin typeface="Poppins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512956" y="3497909"/>
            <a:ext cx="219679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3B3B3B"/>
                </a:solidFill>
                <a:latin typeface="Poppins"/>
              </a:rPr>
              <a:t>Fayl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yo'li</a:t>
            </a:r>
            <a:endParaRPr lang="en-US" dirty="0">
              <a:solidFill>
                <a:srgbClr val="3B3B3B"/>
              </a:solidFill>
              <a:latin typeface="Poppins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3B3B3B"/>
                </a:solidFill>
                <a:latin typeface="Poppins"/>
              </a:rPr>
              <a:t>Foydalanish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uchun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yangi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ma'lumotlar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bloklari</a:t>
            </a:r>
            <a:endParaRPr lang="en-US" dirty="0">
              <a:solidFill>
                <a:srgbClr val="3B3B3B"/>
              </a:solidFill>
              <a:latin typeface="Poppins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B3B3B"/>
                </a:solidFill>
                <a:latin typeface="Poppins"/>
              </a:rPr>
              <a:t>Metadata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o'zgarishlari</a:t>
            </a:r>
            <a:endParaRPr lang="en-US" b="0" i="0" dirty="0">
              <a:solidFill>
                <a:srgbClr val="3B3B3B"/>
              </a:solidFill>
              <a:effectLst/>
              <a:latin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16867284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512955" y="524108"/>
            <a:ext cx="8385717" cy="25340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+mj-lt"/>
              <a:buAutoNum type="arabicPeriod" startAt="3"/>
            </a:pPr>
            <a:r>
              <a:rPr lang="en-US" dirty="0" err="1">
                <a:solidFill>
                  <a:srgbClr val="3B3B3B"/>
                </a:solidFill>
                <a:latin typeface="Poppins"/>
              </a:rPr>
              <a:t>Jurnal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hozirda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jarayonda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bo'lgan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o'zgarish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sifatida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belgilanadi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,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shuning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uchun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xatolik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yuz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berganda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,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operatsion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tizim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qaysi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operatsiya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tugallanmaganligini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tan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oladi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.</a:t>
            </a:r>
          </a:p>
          <a:p>
            <a:pPr>
              <a:lnSpc>
                <a:spcPct val="150000"/>
              </a:lnSpc>
              <a:buFont typeface="+mj-lt"/>
              <a:buAutoNum type="arabicPeriod" startAt="3"/>
            </a:pPr>
            <a:r>
              <a:rPr lang="en-US" dirty="0" err="1">
                <a:solidFill>
                  <a:srgbClr val="3B3B3B"/>
                </a:solidFill>
                <a:latin typeface="Poppins"/>
              </a:rPr>
              <a:t>Keyinchalik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,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haqiqiy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ma'lumotlar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bloklarga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yoziladi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.</a:t>
            </a:r>
          </a:p>
          <a:p>
            <a:pPr>
              <a:lnSpc>
                <a:spcPct val="150000"/>
              </a:lnSpc>
              <a:buFont typeface="+mj-lt"/>
              <a:buAutoNum type="arabicPeriod" startAt="3"/>
            </a:pPr>
            <a:r>
              <a:rPr lang="en-US" dirty="0" err="1">
                <a:solidFill>
                  <a:srgbClr val="3B3B3B"/>
                </a:solidFill>
                <a:latin typeface="Poppins"/>
              </a:rPr>
              <a:t>Yozish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tugallangandan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so'ng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,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jurnal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operatsiyani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bajarilgan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deb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belgilaydi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va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keyingi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operatsiya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uchun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jurnal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maydonini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tiklaydi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. </a:t>
            </a:r>
            <a:endParaRPr lang="en-US" b="0" i="0" dirty="0">
              <a:solidFill>
                <a:srgbClr val="3B3B3B"/>
              </a:solidFill>
              <a:effectLst/>
              <a:latin typeface="Poppins"/>
            </a:endParaRPr>
          </a:p>
        </p:txBody>
      </p:sp>
      <p:pic>
        <p:nvPicPr>
          <p:cNvPr id="3074" name="Picture 2" descr="Jurnal fayl tizimlari sxemasi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1394" y="3220509"/>
            <a:ext cx="4163045" cy="28985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964745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507273" y="324034"/>
            <a:ext cx="8196147" cy="3365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 err="1">
                <a:solidFill>
                  <a:srgbClr val="222222"/>
                </a:solidFill>
                <a:latin typeface="Poppins"/>
              </a:rPr>
              <a:t>Jurnallar</a:t>
            </a:r>
            <a:r>
              <a:rPr lang="en-US" b="1" dirty="0">
                <a:solidFill>
                  <a:srgbClr val="222222"/>
                </a:solidFill>
                <a:latin typeface="Poppins"/>
              </a:rPr>
              <a:t> </a:t>
            </a:r>
            <a:r>
              <a:rPr lang="en-US" b="1" dirty="0" err="1">
                <a:solidFill>
                  <a:srgbClr val="222222"/>
                </a:solidFill>
                <a:latin typeface="Poppins"/>
              </a:rPr>
              <a:t>turlari</a:t>
            </a:r>
            <a:endParaRPr lang="en-US" b="1" dirty="0">
              <a:solidFill>
                <a:srgbClr val="222222"/>
              </a:solidFill>
              <a:latin typeface="Poppins"/>
            </a:endParaRPr>
          </a:p>
          <a:p>
            <a:pPr>
              <a:lnSpc>
                <a:spcPct val="150000"/>
              </a:lnSpc>
            </a:pPr>
            <a:r>
              <a:rPr lang="en-US" dirty="0" err="1">
                <a:solidFill>
                  <a:srgbClr val="3B3B3B"/>
                </a:solidFill>
                <a:latin typeface="Poppins"/>
              </a:rPr>
              <a:t>Turli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fayl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tizimlarining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jurnali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turli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yo'llar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bilan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ishlaydi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.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Ular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tezlik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,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xavfsizlik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va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saqlash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samaradorligi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o'rtasidagi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muvozanatni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boshqacha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yaratadi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.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Jurnalning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turi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jarayon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qancha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qo'shimcha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joy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va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vaqt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olishini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va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jurnalda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aniq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nima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qayd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etilishini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aniqlaydi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.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Quyida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jurnalning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asosiy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turlari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keltirilgan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. 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222222"/>
                </a:solidFill>
                <a:latin typeface="Poppins"/>
              </a:rPr>
              <a:t>1. </a:t>
            </a:r>
            <a:r>
              <a:rPr lang="en-US" b="1" dirty="0" err="1">
                <a:solidFill>
                  <a:srgbClr val="222222"/>
                </a:solidFill>
                <a:latin typeface="Poppins"/>
              </a:rPr>
              <a:t>Faqat</a:t>
            </a:r>
            <a:r>
              <a:rPr lang="en-US" b="1" dirty="0">
                <a:solidFill>
                  <a:srgbClr val="222222"/>
                </a:solidFill>
                <a:latin typeface="Poppins"/>
              </a:rPr>
              <a:t> metadata </a:t>
            </a:r>
            <a:r>
              <a:rPr lang="en-US" b="1" dirty="0" err="1">
                <a:solidFill>
                  <a:srgbClr val="222222"/>
                </a:solidFill>
                <a:latin typeface="Poppins"/>
              </a:rPr>
              <a:t>jurnali</a:t>
            </a:r>
            <a:endParaRPr lang="en-US" b="1" dirty="0">
              <a:solidFill>
                <a:srgbClr val="222222"/>
              </a:solidFill>
              <a:latin typeface="Poppins"/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3B3B3B"/>
                </a:solidFill>
                <a:latin typeface="Poppins"/>
              </a:rPr>
              <a:t>U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fayl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tizimi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tuzilmasidagi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fayl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nomlari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,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ruxsatnomalar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va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vaqt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belgilari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kabi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oʻzgarishlarni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qayd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etadi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. U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maʼlumotlardagi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haqiqiy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tarkibni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qayd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etmaydi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. </a:t>
            </a:r>
            <a:endParaRPr lang="en-US" b="0" i="0" dirty="0">
              <a:solidFill>
                <a:srgbClr val="3B3B3B"/>
              </a:solidFill>
              <a:effectLst/>
              <a:latin typeface="Poppins"/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273" y="4226312"/>
            <a:ext cx="8190679" cy="2254505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507273" y="3634520"/>
            <a:ext cx="798427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3B3B3B"/>
                </a:solidFill>
                <a:latin typeface="Poppins"/>
              </a:rPr>
              <a:t>Metadata </a:t>
            </a:r>
            <a:r>
              <a:rPr lang="en-US" b="1" dirty="0" err="1">
                <a:solidFill>
                  <a:srgbClr val="3B3B3B"/>
                </a:solidFill>
                <a:latin typeface="Poppins"/>
              </a:rPr>
              <a:t>jurnaliga</a:t>
            </a:r>
            <a:r>
              <a:rPr lang="en-US" b="1" dirty="0">
                <a:solidFill>
                  <a:srgbClr val="3B3B3B"/>
                </a:solidFill>
                <a:latin typeface="Poppins"/>
              </a:rPr>
              <a:t> </a:t>
            </a:r>
            <a:r>
              <a:rPr lang="en-US" b="1" dirty="0" err="1" smtClean="0">
                <a:solidFill>
                  <a:srgbClr val="3B3B3B"/>
                </a:solidFill>
                <a:latin typeface="Poppins"/>
              </a:rPr>
              <a:t>misol</a:t>
            </a:r>
            <a:r>
              <a:rPr lang="ru-RU" b="1" dirty="0" smtClean="0">
                <a:solidFill>
                  <a:srgbClr val="3B3B3B"/>
                </a:solidFill>
                <a:latin typeface="Poppins"/>
              </a:rPr>
              <a:t>: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Linuxda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ext3</a:t>
            </a:r>
            <a:r>
              <a:rPr lang="en-US" dirty="0" smtClean="0">
                <a:solidFill>
                  <a:srgbClr val="3B3B3B"/>
                </a:solidFill>
                <a:latin typeface="Poppins"/>
              </a:rPr>
              <a:t>.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 </a:t>
            </a:r>
            <a:endParaRPr lang="en-US" b="0" i="0" dirty="0">
              <a:solidFill>
                <a:srgbClr val="3B3B3B"/>
              </a:solidFill>
              <a:effectLst/>
              <a:latin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40922804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/>
        </p:nvSpPr>
        <p:spPr>
          <a:xfrm>
            <a:off x="591014" y="501794"/>
            <a:ext cx="7928517" cy="21185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222222"/>
                </a:solidFill>
                <a:latin typeface="Poppins"/>
              </a:rPr>
              <a:t>2. </a:t>
            </a:r>
            <a:r>
              <a:rPr lang="en-US" b="1" dirty="0" err="1">
                <a:solidFill>
                  <a:srgbClr val="222222"/>
                </a:solidFill>
                <a:latin typeface="Poppins"/>
              </a:rPr>
              <a:t>To'liq</a:t>
            </a:r>
            <a:r>
              <a:rPr lang="en-US" b="1" dirty="0">
                <a:solidFill>
                  <a:srgbClr val="222222"/>
                </a:solidFill>
                <a:latin typeface="Poppins"/>
              </a:rPr>
              <a:t> </a:t>
            </a:r>
            <a:r>
              <a:rPr lang="en-US" b="1" dirty="0" err="1">
                <a:solidFill>
                  <a:srgbClr val="222222"/>
                </a:solidFill>
                <a:latin typeface="Poppins"/>
              </a:rPr>
              <a:t>ma'lumotlar</a:t>
            </a:r>
            <a:r>
              <a:rPr lang="en-US" b="1" dirty="0">
                <a:solidFill>
                  <a:srgbClr val="222222"/>
                </a:solidFill>
                <a:latin typeface="Poppins"/>
              </a:rPr>
              <a:t> + metadata </a:t>
            </a:r>
            <a:r>
              <a:rPr lang="en-US" b="1" dirty="0" err="1">
                <a:solidFill>
                  <a:srgbClr val="222222"/>
                </a:solidFill>
                <a:latin typeface="Poppins"/>
              </a:rPr>
              <a:t>jurnali</a:t>
            </a:r>
            <a:r>
              <a:rPr lang="en-US" b="1" dirty="0">
                <a:solidFill>
                  <a:srgbClr val="222222"/>
                </a:solidFill>
                <a:latin typeface="Poppins"/>
              </a:rPr>
              <a:t> </a:t>
            </a:r>
          </a:p>
          <a:p>
            <a:pPr>
              <a:lnSpc>
                <a:spcPct val="150000"/>
              </a:lnSpc>
            </a:pPr>
            <a:r>
              <a:rPr lang="en-US" dirty="0" err="1">
                <a:solidFill>
                  <a:srgbClr val="3B3B3B"/>
                </a:solidFill>
                <a:latin typeface="Poppins"/>
              </a:rPr>
              <a:t>Jurnalning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ushbu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turida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metama'lumotlar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,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shuningdek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,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haqiqiy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fayl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ma'lumotlari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qayd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etiladi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.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Ularning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ikkalasi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bir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vaqtning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o'zida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sodir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bo'ladi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.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Birinchidan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,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fayl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ma'lumotlari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jurnalga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,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so'ngra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metama'lumotlarga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yoziladi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va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shundan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keyingina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ikkalasi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ham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asosiy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disk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maydoniga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yoziladi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. </a:t>
            </a:r>
            <a:endParaRPr lang="en-US" b="0" i="0" dirty="0">
              <a:solidFill>
                <a:srgbClr val="3B3B3B"/>
              </a:solidFill>
              <a:effectLst/>
              <a:latin typeface="Poppins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591014" y="2620323"/>
            <a:ext cx="799409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>
                <a:solidFill>
                  <a:srgbClr val="3B3B3B"/>
                </a:solidFill>
                <a:latin typeface="Poppins"/>
              </a:rPr>
              <a:t>To'liq</a:t>
            </a:r>
            <a:r>
              <a:rPr lang="en-US" b="1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b="1" dirty="0" err="1">
                <a:solidFill>
                  <a:srgbClr val="3B3B3B"/>
                </a:solidFill>
                <a:latin typeface="Poppins"/>
              </a:rPr>
              <a:t>ma'lumotlar</a:t>
            </a:r>
            <a:r>
              <a:rPr lang="en-US" b="1" dirty="0">
                <a:solidFill>
                  <a:srgbClr val="3B3B3B"/>
                </a:solidFill>
                <a:latin typeface="Poppins"/>
              </a:rPr>
              <a:t> + metadata </a:t>
            </a:r>
            <a:r>
              <a:rPr lang="en-US" b="1" dirty="0" err="1">
                <a:solidFill>
                  <a:srgbClr val="3B3B3B"/>
                </a:solidFill>
                <a:latin typeface="Poppins"/>
              </a:rPr>
              <a:t>jurnali</a:t>
            </a:r>
            <a:r>
              <a:rPr lang="en-US" b="1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b="1" dirty="0" err="1" smtClean="0">
                <a:solidFill>
                  <a:srgbClr val="3B3B3B"/>
                </a:solidFill>
                <a:latin typeface="Poppins"/>
              </a:rPr>
              <a:t>misoli</a:t>
            </a:r>
            <a:r>
              <a:rPr lang="ru-RU" b="1" dirty="0">
                <a:solidFill>
                  <a:srgbClr val="3B3B3B"/>
                </a:solidFill>
                <a:latin typeface="Poppins"/>
              </a:rPr>
              <a:t>:</a:t>
            </a:r>
            <a:endParaRPr lang="en-US" b="1" dirty="0">
              <a:solidFill>
                <a:srgbClr val="3B3B3B"/>
              </a:solidFill>
              <a:latin typeface="Poppins"/>
            </a:endParaRPr>
          </a:p>
          <a:p>
            <a:r>
              <a:rPr lang="en-US" dirty="0">
                <a:solidFill>
                  <a:srgbClr val="3B3B3B"/>
                </a:solidFill>
                <a:latin typeface="Poppins"/>
              </a:rPr>
              <a:t>Windows-da NTFS, ext3 (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ma'lumotlar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=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jurnal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bilan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)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rejimi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.</a:t>
            </a:r>
            <a:endParaRPr lang="en-US" b="0" i="0" dirty="0">
              <a:solidFill>
                <a:srgbClr val="3B3B3B"/>
              </a:solidFill>
              <a:effectLst/>
              <a:latin typeface="Poppins"/>
            </a:endParaRP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014" y="3468330"/>
            <a:ext cx="7994094" cy="2673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94876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546408" y="576290"/>
            <a:ext cx="8251903" cy="12875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222222"/>
                </a:solidFill>
                <a:latin typeface="Poppins"/>
              </a:rPr>
              <a:t>3. </a:t>
            </a:r>
            <a:r>
              <a:rPr lang="en-US" b="1" dirty="0" err="1">
                <a:solidFill>
                  <a:srgbClr val="222222"/>
                </a:solidFill>
                <a:latin typeface="Poppins"/>
              </a:rPr>
              <a:t>Buyurtmali</a:t>
            </a:r>
            <a:r>
              <a:rPr lang="en-US" b="1" dirty="0">
                <a:solidFill>
                  <a:srgbClr val="222222"/>
                </a:solidFill>
                <a:latin typeface="Poppins"/>
              </a:rPr>
              <a:t> </a:t>
            </a:r>
            <a:r>
              <a:rPr lang="en-US" b="1" dirty="0" err="1">
                <a:solidFill>
                  <a:srgbClr val="222222"/>
                </a:solidFill>
                <a:latin typeface="Poppins"/>
              </a:rPr>
              <a:t>jurnal</a:t>
            </a:r>
            <a:endParaRPr lang="en-US" b="1" dirty="0">
              <a:solidFill>
                <a:srgbClr val="222222"/>
              </a:solidFill>
              <a:latin typeface="Poppins"/>
            </a:endParaRPr>
          </a:p>
          <a:p>
            <a:pPr>
              <a:lnSpc>
                <a:spcPct val="150000"/>
              </a:lnSpc>
            </a:pPr>
            <a:r>
              <a:rPr lang="en-US" dirty="0" err="1">
                <a:solidFill>
                  <a:srgbClr val="3B3B3B"/>
                </a:solidFill>
                <a:latin typeface="Poppins"/>
              </a:rPr>
              <a:t>Buyurtmali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jurnalda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diskka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faqat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metama'lumotlar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yoziladi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,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lekin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bu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faqat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fayl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diskga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yozilgandan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keyin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sodir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bo'ladi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.</a:t>
            </a:r>
            <a:endParaRPr lang="en-US" b="0" i="0" dirty="0">
              <a:solidFill>
                <a:srgbClr val="3B3B3B"/>
              </a:solidFill>
              <a:effectLst/>
              <a:latin typeface="Poppins"/>
            </a:endParaRP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408" y="3054997"/>
            <a:ext cx="7970791" cy="2130320"/>
          </a:xfrm>
          <a:prstGeom prst="rect">
            <a:avLst/>
          </a:prstGeom>
        </p:spPr>
      </p:pic>
      <p:sp>
        <p:nvSpPr>
          <p:cNvPr id="9" name="Прямоугольник 8"/>
          <p:cNvSpPr/>
          <p:nvPr/>
        </p:nvSpPr>
        <p:spPr>
          <a:xfrm>
            <a:off x="546408" y="2113504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 err="1">
                <a:solidFill>
                  <a:srgbClr val="3B3B3B"/>
                </a:solidFill>
                <a:latin typeface="Poppins"/>
              </a:rPr>
              <a:t>Buyurtmali</a:t>
            </a:r>
            <a:r>
              <a:rPr lang="en-US" b="1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b="1" dirty="0" err="1">
                <a:solidFill>
                  <a:srgbClr val="3B3B3B"/>
                </a:solidFill>
                <a:latin typeface="Poppins"/>
              </a:rPr>
              <a:t>jurnalga</a:t>
            </a:r>
            <a:r>
              <a:rPr lang="en-US" b="1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b="1" dirty="0" err="1" smtClean="0">
                <a:solidFill>
                  <a:srgbClr val="3B3B3B"/>
                </a:solidFill>
                <a:latin typeface="Poppins"/>
              </a:rPr>
              <a:t>misol</a:t>
            </a:r>
            <a:r>
              <a:rPr lang="ru-RU" b="1" dirty="0" smtClean="0">
                <a:solidFill>
                  <a:srgbClr val="3B3B3B"/>
                </a:solidFill>
                <a:latin typeface="Poppins"/>
              </a:rPr>
              <a:t>:</a:t>
            </a:r>
            <a:endParaRPr lang="en-US" b="1" dirty="0">
              <a:solidFill>
                <a:srgbClr val="3B3B3B"/>
              </a:solidFill>
              <a:latin typeface="Poppins"/>
            </a:endParaRPr>
          </a:p>
          <a:p>
            <a:r>
              <a:rPr lang="en-US" dirty="0">
                <a:solidFill>
                  <a:srgbClr val="3B3B3B"/>
                </a:solidFill>
                <a:latin typeface="Poppins"/>
              </a:rPr>
              <a:t>Linux ext4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standart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rejimi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.</a:t>
            </a:r>
            <a:endParaRPr lang="en-US" b="0" i="0" dirty="0">
              <a:solidFill>
                <a:srgbClr val="3B3B3B"/>
              </a:solidFill>
              <a:effectLst/>
              <a:latin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16051505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512956" y="669073"/>
            <a:ext cx="8118088" cy="12875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222222"/>
                </a:solidFill>
                <a:latin typeface="Poppins"/>
              </a:rPr>
              <a:t>4. </a:t>
            </a:r>
            <a:r>
              <a:rPr lang="en-US" b="1" dirty="0" err="1">
                <a:solidFill>
                  <a:srgbClr val="222222"/>
                </a:solidFill>
                <a:latin typeface="Poppins"/>
              </a:rPr>
              <a:t>Qayta</a:t>
            </a:r>
            <a:r>
              <a:rPr lang="en-US" b="1" dirty="0">
                <a:solidFill>
                  <a:srgbClr val="222222"/>
                </a:solidFill>
                <a:latin typeface="Poppins"/>
              </a:rPr>
              <a:t> </a:t>
            </a:r>
            <a:r>
              <a:rPr lang="en-US" b="1" dirty="0" err="1">
                <a:solidFill>
                  <a:srgbClr val="222222"/>
                </a:solidFill>
                <a:latin typeface="Poppins"/>
              </a:rPr>
              <a:t>yozish</a:t>
            </a:r>
            <a:r>
              <a:rPr lang="en-US" b="1" dirty="0">
                <a:solidFill>
                  <a:srgbClr val="222222"/>
                </a:solidFill>
                <a:latin typeface="Poppins"/>
              </a:rPr>
              <a:t> </a:t>
            </a:r>
            <a:r>
              <a:rPr lang="en-US" b="1" dirty="0" err="1">
                <a:solidFill>
                  <a:srgbClr val="222222"/>
                </a:solidFill>
                <a:latin typeface="Poppins"/>
              </a:rPr>
              <a:t>jurnali</a:t>
            </a:r>
            <a:endParaRPr lang="en-US" b="1" dirty="0">
              <a:solidFill>
                <a:srgbClr val="222222"/>
              </a:solidFill>
              <a:latin typeface="Poppins"/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3B3B3B"/>
                </a:solidFill>
                <a:latin typeface="Poppins"/>
              </a:rPr>
              <a:t>U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jurnalda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metama'lumotlarni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yozib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oladi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,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lekin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fayl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ma'lumotlari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metadata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yangilanishidan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oldin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yoki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keyin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diskka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yozilishi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mumkin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.</a:t>
            </a:r>
            <a:endParaRPr lang="en-US" b="0" i="0" dirty="0">
              <a:solidFill>
                <a:srgbClr val="3B3B3B"/>
              </a:solidFill>
              <a:effectLst/>
              <a:latin typeface="Poppins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049" y="2360856"/>
            <a:ext cx="8444708" cy="1642431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446049" y="4407538"/>
            <a:ext cx="4572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 err="1">
                <a:solidFill>
                  <a:srgbClr val="3B3B3B"/>
                </a:solidFill>
                <a:latin typeface="Poppins"/>
              </a:rPr>
              <a:t>Qayta</a:t>
            </a:r>
            <a:r>
              <a:rPr lang="en-US" b="1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b="1" dirty="0" err="1">
                <a:solidFill>
                  <a:srgbClr val="3B3B3B"/>
                </a:solidFill>
                <a:latin typeface="Poppins"/>
              </a:rPr>
              <a:t>yozish</a:t>
            </a:r>
            <a:r>
              <a:rPr lang="en-US" b="1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b="1" dirty="0" err="1">
                <a:solidFill>
                  <a:srgbClr val="3B3B3B"/>
                </a:solidFill>
                <a:latin typeface="Poppins"/>
              </a:rPr>
              <a:t>jurnaliga</a:t>
            </a:r>
            <a:r>
              <a:rPr lang="en-US" b="1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b="1" dirty="0" err="1">
                <a:solidFill>
                  <a:srgbClr val="3B3B3B"/>
                </a:solidFill>
                <a:latin typeface="Poppins"/>
              </a:rPr>
              <a:t>misol</a:t>
            </a:r>
            <a:endParaRPr lang="en-US" b="1" dirty="0">
              <a:solidFill>
                <a:srgbClr val="3B3B3B"/>
              </a:solidFill>
              <a:latin typeface="Poppins"/>
            </a:endParaRPr>
          </a:p>
          <a:p>
            <a:r>
              <a:rPr lang="en-US" dirty="0">
                <a:solidFill>
                  <a:srgbClr val="3B3B3B"/>
                </a:solidFill>
                <a:latin typeface="Poppins"/>
              </a:rPr>
              <a:t>ext3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va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ext4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tomonidan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taqdim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etilgan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ixtiyoriy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rejim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(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ma'lumotlar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=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qayta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 </a:t>
            </a:r>
            <a:r>
              <a:rPr lang="en-US" dirty="0" err="1">
                <a:solidFill>
                  <a:srgbClr val="3B3B3B"/>
                </a:solidFill>
                <a:latin typeface="Poppins"/>
              </a:rPr>
              <a:t>yozish</a:t>
            </a:r>
            <a:r>
              <a:rPr lang="en-US" dirty="0">
                <a:solidFill>
                  <a:srgbClr val="3B3B3B"/>
                </a:solidFill>
                <a:latin typeface="Poppins"/>
              </a:rPr>
              <a:t>)</a:t>
            </a:r>
            <a:endParaRPr lang="en-US" b="0" i="0" dirty="0">
              <a:solidFill>
                <a:srgbClr val="3B3B3B"/>
              </a:solidFill>
              <a:effectLst/>
              <a:latin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41569638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1"/>
          <p:cNvSpPr>
            <a:spLocks noChangeArrowheads="1"/>
          </p:cNvSpPr>
          <p:nvPr/>
        </p:nvSpPr>
        <p:spPr bwMode="auto">
          <a:xfrm>
            <a:off x="568712" y="2310394"/>
            <a:ext cx="799542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yondashuv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SSD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ru-RU" altLang="ru-RU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flash</a:t>
            </a:r>
            <a:r>
              <a:rPr kumimoji="0" lang="ru-RU" altLang="ru-RU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memory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katta</a:t>
            </a:r>
            <a:r>
              <a:rPr kumimoji="0" lang="ru-RU" altLang="ru-RU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ma’lumot</a:t>
            </a:r>
            <a:r>
              <a:rPr kumimoji="0" lang="ru-RU" altLang="ru-RU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tizimlari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uchun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juda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samarali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10" name="Прямоугольник 9"/>
          <p:cNvSpPr/>
          <p:nvPr/>
        </p:nvSpPr>
        <p:spPr>
          <a:xfrm>
            <a:off x="568712" y="449639"/>
            <a:ext cx="7995425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A0A0A"/>
                </a:solidFill>
                <a:latin typeface="Google Sans"/>
              </a:rPr>
              <a:t>Log-Structured File System (LFS) </a:t>
            </a:r>
            <a:r>
              <a:rPr lang="en-US" dirty="0">
                <a:solidFill>
                  <a:srgbClr val="0A0A0A"/>
                </a:solidFill>
                <a:latin typeface="Google Sans"/>
              </a:rPr>
              <a:t>— 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fayl</a:t>
            </a:r>
            <a:r>
              <a:rPr lang="en-US" dirty="0"/>
              <a:t> </a:t>
            </a:r>
            <a:r>
              <a:rPr lang="en-US" dirty="0" err="1"/>
              <a:t>tizimiki</a:t>
            </a:r>
            <a:r>
              <a:rPr lang="en-US" dirty="0"/>
              <a:t>, </a:t>
            </a:r>
            <a:r>
              <a:rPr lang="en-US" dirty="0" err="1"/>
              <a:t>unda</a:t>
            </a:r>
            <a:r>
              <a:rPr lang="en-US" dirty="0"/>
              <a:t> </a:t>
            </a:r>
            <a:r>
              <a:rPr lang="en-US" dirty="0" err="1"/>
              <a:t>barcha</a:t>
            </a:r>
            <a:r>
              <a:rPr lang="en-US" dirty="0"/>
              <a:t> </a:t>
            </a:r>
            <a:r>
              <a:rPr lang="en-US" dirty="0" err="1"/>
              <a:t>ma'lumotlar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metadata (</a:t>
            </a:r>
            <a:r>
              <a:rPr lang="en-US" dirty="0" err="1"/>
              <a:t>fayllar</a:t>
            </a:r>
            <a:r>
              <a:rPr lang="en-US" dirty="0"/>
              <a:t>, </a:t>
            </a:r>
            <a:r>
              <a:rPr lang="en-US" dirty="0" err="1"/>
              <a:t>kataloglar</a:t>
            </a:r>
            <a:r>
              <a:rPr lang="en-US" dirty="0"/>
              <a:t>, </a:t>
            </a:r>
            <a:r>
              <a:rPr lang="en-US" dirty="0" err="1"/>
              <a:t>inodes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h.k</a:t>
            </a:r>
            <a:r>
              <a:rPr lang="en-US" dirty="0"/>
              <a:t>.) </a:t>
            </a:r>
            <a:r>
              <a:rPr lang="en-US" dirty="0" err="1"/>
              <a:t>diskdagi</a:t>
            </a:r>
            <a:r>
              <a:rPr lang="en-US" dirty="0"/>
              <a:t> </a:t>
            </a:r>
            <a:r>
              <a:rPr lang="en-US" dirty="0" err="1"/>
              <a:t>ketma-ket</a:t>
            </a:r>
            <a:r>
              <a:rPr lang="en-US" dirty="0"/>
              <a:t> </a:t>
            </a:r>
            <a:r>
              <a:rPr lang="en-US" dirty="0" err="1"/>
              <a:t>yoziladigan</a:t>
            </a:r>
            <a:r>
              <a:rPr lang="en-US" dirty="0"/>
              <a:t> "log" </a:t>
            </a:r>
            <a:r>
              <a:rPr lang="en-US" dirty="0" err="1"/>
              <a:t>ga</a:t>
            </a:r>
            <a:r>
              <a:rPr lang="en-US" dirty="0"/>
              <a:t> </a:t>
            </a:r>
            <a:r>
              <a:rPr lang="en-US" dirty="0" err="1"/>
              <a:t>yoziladi</a:t>
            </a:r>
            <a:r>
              <a:rPr lang="en-US" dirty="0">
                <a:solidFill>
                  <a:srgbClr val="0A0A0A"/>
                </a:solidFill>
                <a:latin typeface="Google Sans"/>
              </a:rPr>
              <a:t>. Bu </a:t>
            </a:r>
            <a:r>
              <a:rPr lang="en-US" dirty="0" err="1">
                <a:solidFill>
                  <a:srgbClr val="0A0A0A"/>
                </a:solidFill>
                <a:latin typeface="Google Sans"/>
              </a:rPr>
              <a:t>yozish</a:t>
            </a:r>
            <a:r>
              <a:rPr lang="en-US" dirty="0">
                <a:solidFill>
                  <a:srgbClr val="0A0A0A"/>
                </a:solidFill>
                <a:latin typeface="Google Sans"/>
              </a:rPr>
              <a:t> </a:t>
            </a:r>
            <a:r>
              <a:rPr lang="en-US" dirty="0" err="1">
                <a:solidFill>
                  <a:srgbClr val="0A0A0A"/>
                </a:solidFill>
                <a:latin typeface="Google Sans"/>
              </a:rPr>
              <a:t>jarayonini</a:t>
            </a:r>
            <a:r>
              <a:rPr lang="en-US" dirty="0">
                <a:solidFill>
                  <a:srgbClr val="0A0A0A"/>
                </a:solidFill>
                <a:latin typeface="Google Sans"/>
              </a:rPr>
              <a:t> </a:t>
            </a:r>
            <a:r>
              <a:rPr lang="en-US" dirty="0" err="1">
                <a:solidFill>
                  <a:srgbClr val="0A0A0A"/>
                </a:solidFill>
                <a:latin typeface="Google Sans"/>
              </a:rPr>
              <a:t>optimallashtirish</a:t>
            </a:r>
            <a:r>
              <a:rPr lang="en-US" dirty="0">
                <a:solidFill>
                  <a:srgbClr val="0A0A0A"/>
                </a:solidFill>
                <a:latin typeface="Google Sans"/>
              </a:rPr>
              <a:t> </a:t>
            </a:r>
            <a:r>
              <a:rPr lang="en-US" dirty="0" err="1">
                <a:solidFill>
                  <a:srgbClr val="0A0A0A"/>
                </a:solidFill>
                <a:latin typeface="Google Sans"/>
              </a:rPr>
              <a:t>uchun</a:t>
            </a:r>
            <a:r>
              <a:rPr lang="en-US" dirty="0">
                <a:solidFill>
                  <a:srgbClr val="0A0A0A"/>
                </a:solidFill>
                <a:latin typeface="Google Sans"/>
              </a:rPr>
              <a:t> </a:t>
            </a:r>
            <a:r>
              <a:rPr lang="en-US" dirty="0" err="1">
                <a:solidFill>
                  <a:srgbClr val="0A0A0A"/>
                </a:solidFill>
                <a:latin typeface="Google Sans"/>
              </a:rPr>
              <a:t>ishlab</a:t>
            </a:r>
            <a:r>
              <a:rPr lang="en-US" dirty="0">
                <a:solidFill>
                  <a:srgbClr val="0A0A0A"/>
                </a:solidFill>
                <a:latin typeface="Google Sans"/>
              </a:rPr>
              <a:t> </a:t>
            </a:r>
            <a:r>
              <a:rPr lang="en-US" dirty="0" err="1">
                <a:solidFill>
                  <a:srgbClr val="0A0A0A"/>
                </a:solidFill>
                <a:latin typeface="Google Sans"/>
              </a:rPr>
              <a:t>chiqilgan</a:t>
            </a:r>
            <a:r>
              <a:rPr lang="en-US" dirty="0">
                <a:solidFill>
                  <a:srgbClr val="0A0A0A"/>
                </a:solidFill>
                <a:latin typeface="Google Sans"/>
              </a:rPr>
              <a:t> </a:t>
            </a:r>
            <a:r>
              <a:rPr lang="en-US" dirty="0" err="1">
                <a:solidFill>
                  <a:srgbClr val="0A0A0A"/>
                </a:solidFill>
                <a:latin typeface="Google Sans"/>
              </a:rPr>
              <a:t>bo'lib</a:t>
            </a:r>
            <a:r>
              <a:rPr lang="en-US" dirty="0">
                <a:solidFill>
                  <a:srgbClr val="0A0A0A"/>
                </a:solidFill>
                <a:latin typeface="Google Sans"/>
              </a:rPr>
              <a:t>, </a:t>
            </a:r>
            <a:r>
              <a:rPr lang="en-US" dirty="0" err="1">
                <a:solidFill>
                  <a:srgbClr val="0A0A0A"/>
                </a:solidFill>
                <a:latin typeface="Google Sans"/>
              </a:rPr>
              <a:t>bunda</a:t>
            </a:r>
            <a:r>
              <a:rPr lang="en-US" dirty="0">
                <a:solidFill>
                  <a:srgbClr val="0A0A0A"/>
                </a:solidFill>
                <a:latin typeface="Google Sans"/>
              </a:rPr>
              <a:t> </a:t>
            </a:r>
            <a:r>
              <a:rPr lang="en-US" dirty="0" err="1">
                <a:solidFill>
                  <a:srgbClr val="0A0A0A"/>
                </a:solidFill>
                <a:latin typeface="Google Sans"/>
              </a:rPr>
              <a:t>xotiradagi</a:t>
            </a:r>
            <a:r>
              <a:rPr lang="en-US" dirty="0">
                <a:solidFill>
                  <a:srgbClr val="0A0A0A"/>
                </a:solidFill>
                <a:latin typeface="Google Sans"/>
              </a:rPr>
              <a:t> </a:t>
            </a:r>
            <a:r>
              <a:rPr lang="en-US" dirty="0" err="1">
                <a:solidFill>
                  <a:srgbClr val="0A0A0A"/>
                </a:solidFill>
                <a:latin typeface="Google Sans"/>
              </a:rPr>
              <a:t>ma'lumotlar</a:t>
            </a:r>
            <a:r>
              <a:rPr lang="en-US" dirty="0">
                <a:solidFill>
                  <a:srgbClr val="0A0A0A"/>
                </a:solidFill>
                <a:latin typeface="Google Sans"/>
              </a:rPr>
              <a:t> </a:t>
            </a:r>
            <a:r>
              <a:rPr lang="en-US" dirty="0" err="1">
                <a:solidFill>
                  <a:srgbClr val="0A0A0A"/>
                </a:solidFill>
                <a:latin typeface="Google Sans"/>
              </a:rPr>
              <a:t>katta</a:t>
            </a:r>
            <a:r>
              <a:rPr lang="en-US" dirty="0">
                <a:solidFill>
                  <a:srgbClr val="0A0A0A"/>
                </a:solidFill>
                <a:latin typeface="Google Sans"/>
              </a:rPr>
              <a:t> </a:t>
            </a:r>
            <a:r>
              <a:rPr lang="en-US" dirty="0" err="1">
                <a:solidFill>
                  <a:srgbClr val="0A0A0A"/>
                </a:solidFill>
                <a:latin typeface="Google Sans"/>
              </a:rPr>
              <a:t>bloklarga</a:t>
            </a:r>
            <a:r>
              <a:rPr lang="en-US" dirty="0">
                <a:solidFill>
                  <a:srgbClr val="0A0A0A"/>
                </a:solidFill>
                <a:latin typeface="Google Sans"/>
              </a:rPr>
              <a:t> (</a:t>
            </a:r>
            <a:r>
              <a:rPr lang="en-US" dirty="0" err="1">
                <a:solidFill>
                  <a:srgbClr val="0A0A0A"/>
                </a:solidFill>
                <a:latin typeface="Google Sans"/>
              </a:rPr>
              <a:t>segmentlarga</a:t>
            </a:r>
            <a:r>
              <a:rPr lang="en-US" dirty="0">
                <a:solidFill>
                  <a:srgbClr val="0A0A0A"/>
                </a:solidFill>
                <a:latin typeface="Google Sans"/>
              </a:rPr>
              <a:t>) </a:t>
            </a:r>
            <a:r>
              <a:rPr lang="en-US" dirty="0" err="1">
                <a:solidFill>
                  <a:srgbClr val="0A0A0A"/>
                </a:solidFill>
                <a:latin typeface="Google Sans"/>
              </a:rPr>
              <a:t>yig'ilib</a:t>
            </a:r>
            <a:r>
              <a:rPr lang="en-US" dirty="0">
                <a:solidFill>
                  <a:srgbClr val="0A0A0A"/>
                </a:solidFill>
                <a:latin typeface="Google Sans"/>
              </a:rPr>
              <a:t>, </a:t>
            </a:r>
            <a:r>
              <a:rPr lang="en-US" dirty="0" err="1">
                <a:solidFill>
                  <a:srgbClr val="0A0A0A"/>
                </a:solidFill>
                <a:latin typeface="Google Sans"/>
              </a:rPr>
              <a:t>keyin</a:t>
            </a:r>
            <a:r>
              <a:rPr lang="en-US" dirty="0">
                <a:solidFill>
                  <a:srgbClr val="0A0A0A"/>
                </a:solidFill>
                <a:latin typeface="Google Sans"/>
              </a:rPr>
              <a:t> </a:t>
            </a:r>
            <a:r>
              <a:rPr lang="en-US" dirty="0" err="1">
                <a:solidFill>
                  <a:srgbClr val="0A0A0A"/>
                </a:solidFill>
                <a:latin typeface="Google Sans"/>
              </a:rPr>
              <a:t>diskka</a:t>
            </a:r>
            <a:r>
              <a:rPr lang="en-US" dirty="0">
                <a:solidFill>
                  <a:srgbClr val="0A0A0A"/>
                </a:solidFill>
                <a:latin typeface="Google Sans"/>
              </a:rPr>
              <a:t> </a:t>
            </a:r>
            <a:r>
              <a:rPr lang="en-US" dirty="0" err="1">
                <a:solidFill>
                  <a:srgbClr val="0A0A0A"/>
                </a:solidFill>
                <a:latin typeface="Google Sans"/>
              </a:rPr>
              <a:t>bir</a:t>
            </a:r>
            <a:r>
              <a:rPr lang="en-US" dirty="0">
                <a:solidFill>
                  <a:srgbClr val="0A0A0A"/>
                </a:solidFill>
                <a:latin typeface="Google Sans"/>
              </a:rPr>
              <a:t> </a:t>
            </a:r>
            <a:r>
              <a:rPr lang="en-US" dirty="0" err="1">
                <a:solidFill>
                  <a:srgbClr val="0A0A0A"/>
                </a:solidFill>
                <a:latin typeface="Google Sans"/>
              </a:rPr>
              <a:t>tekis</a:t>
            </a:r>
            <a:r>
              <a:rPr lang="en-US" dirty="0">
                <a:solidFill>
                  <a:srgbClr val="0A0A0A"/>
                </a:solidFill>
                <a:latin typeface="Google Sans"/>
              </a:rPr>
              <a:t> </a:t>
            </a:r>
            <a:r>
              <a:rPr lang="en-US" dirty="0" err="1">
                <a:solidFill>
                  <a:srgbClr val="0A0A0A"/>
                </a:solidFill>
                <a:latin typeface="Google Sans"/>
              </a:rPr>
              <a:t>harakatda</a:t>
            </a:r>
            <a:r>
              <a:rPr lang="en-US" dirty="0">
                <a:solidFill>
                  <a:srgbClr val="0A0A0A"/>
                </a:solidFill>
                <a:latin typeface="Google Sans"/>
              </a:rPr>
              <a:t> </a:t>
            </a:r>
            <a:r>
              <a:rPr lang="en-US" dirty="0" err="1">
                <a:solidFill>
                  <a:srgbClr val="0A0A0A"/>
                </a:solidFill>
                <a:latin typeface="Google Sans"/>
              </a:rPr>
              <a:t>yoziladi</a:t>
            </a:r>
            <a:r>
              <a:rPr lang="en-US" dirty="0">
                <a:solidFill>
                  <a:srgbClr val="0A0A0A"/>
                </a:solidFill>
                <a:latin typeface="Google Sans"/>
              </a:rPr>
              <a:t>, </a:t>
            </a:r>
            <a:r>
              <a:rPr lang="en-US" dirty="0" err="1">
                <a:solidFill>
                  <a:srgbClr val="0A0A0A"/>
                </a:solidFill>
                <a:latin typeface="Google Sans"/>
              </a:rPr>
              <a:t>bu</a:t>
            </a:r>
            <a:r>
              <a:rPr lang="en-US" dirty="0">
                <a:solidFill>
                  <a:srgbClr val="0A0A0A"/>
                </a:solidFill>
                <a:latin typeface="Google Sans"/>
              </a:rPr>
              <a:t> </a:t>
            </a:r>
            <a:r>
              <a:rPr lang="en-US" dirty="0" err="1">
                <a:solidFill>
                  <a:srgbClr val="0A0A0A"/>
                </a:solidFill>
                <a:latin typeface="Google Sans"/>
              </a:rPr>
              <a:t>esa</a:t>
            </a:r>
            <a:r>
              <a:rPr lang="en-US" dirty="0">
                <a:solidFill>
                  <a:srgbClr val="0A0A0A"/>
                </a:solidFill>
                <a:latin typeface="Google Sans"/>
              </a:rPr>
              <a:t> disk </a:t>
            </a:r>
            <a:r>
              <a:rPr lang="en-US" dirty="0" err="1">
                <a:solidFill>
                  <a:srgbClr val="0A0A0A"/>
                </a:solidFill>
                <a:latin typeface="Google Sans"/>
              </a:rPr>
              <a:t>qidiruv</a:t>
            </a:r>
            <a:r>
              <a:rPr lang="en-US" dirty="0">
                <a:solidFill>
                  <a:srgbClr val="0A0A0A"/>
                </a:solidFill>
                <a:latin typeface="Google Sans"/>
              </a:rPr>
              <a:t> </a:t>
            </a:r>
            <a:r>
              <a:rPr lang="en-US" dirty="0" err="1">
                <a:solidFill>
                  <a:srgbClr val="0A0A0A"/>
                </a:solidFill>
                <a:latin typeface="Google Sans"/>
              </a:rPr>
              <a:t>vaqtini</a:t>
            </a:r>
            <a:r>
              <a:rPr lang="en-US" dirty="0">
                <a:solidFill>
                  <a:srgbClr val="0A0A0A"/>
                </a:solidFill>
                <a:latin typeface="Google Sans"/>
              </a:rPr>
              <a:t> </a:t>
            </a:r>
            <a:r>
              <a:rPr lang="en-US" dirty="0" err="1">
                <a:solidFill>
                  <a:srgbClr val="0A0A0A"/>
                </a:solidFill>
                <a:latin typeface="Google Sans"/>
              </a:rPr>
              <a:t>sezilarli</a:t>
            </a:r>
            <a:r>
              <a:rPr lang="en-US" dirty="0">
                <a:solidFill>
                  <a:srgbClr val="0A0A0A"/>
                </a:solidFill>
                <a:latin typeface="Google Sans"/>
              </a:rPr>
              <a:t> </a:t>
            </a:r>
            <a:r>
              <a:rPr lang="en-US" dirty="0" err="1">
                <a:solidFill>
                  <a:srgbClr val="0A0A0A"/>
                </a:solidFill>
                <a:latin typeface="Google Sans"/>
              </a:rPr>
              <a:t>darajada</a:t>
            </a:r>
            <a:r>
              <a:rPr lang="en-US" dirty="0">
                <a:solidFill>
                  <a:srgbClr val="0A0A0A"/>
                </a:solidFill>
                <a:latin typeface="Google Sans"/>
              </a:rPr>
              <a:t> </a:t>
            </a:r>
            <a:r>
              <a:rPr lang="en-US" dirty="0" err="1">
                <a:solidFill>
                  <a:srgbClr val="0A0A0A"/>
                </a:solidFill>
                <a:latin typeface="Google Sans"/>
              </a:rPr>
              <a:t>kamaytiradi</a:t>
            </a:r>
            <a:r>
              <a:rPr lang="en-US" dirty="0">
                <a:solidFill>
                  <a:srgbClr val="0A0A0A"/>
                </a:solidFill>
                <a:latin typeface="Google Sans"/>
              </a:rPr>
              <a:t>. </a:t>
            </a:r>
            <a:endParaRPr lang="ru-RU" dirty="0"/>
          </a:p>
        </p:txBody>
      </p:sp>
      <p:pic>
        <p:nvPicPr>
          <p:cNvPr id="15" name="Рисунок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1973" y="3063154"/>
            <a:ext cx="4848902" cy="2896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21552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390291" y="577610"/>
            <a:ext cx="8184995" cy="50270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LFS </a:t>
            </a:r>
            <a:r>
              <a:rPr lang="en-US" b="1" dirty="0" err="1"/>
              <a:t>qanday</a:t>
            </a:r>
            <a:r>
              <a:rPr lang="en-US" b="1" dirty="0"/>
              <a:t> </a:t>
            </a:r>
            <a:r>
              <a:rPr lang="en-US" b="1" dirty="0" err="1"/>
              <a:t>ishlaydi</a:t>
            </a:r>
            <a:r>
              <a:rPr lang="en-US" b="1" dirty="0"/>
              <a:t>?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dirty="0" err="1"/>
              <a:t>Yangi</a:t>
            </a:r>
            <a:r>
              <a:rPr lang="en-US" dirty="0"/>
              <a:t> </a:t>
            </a:r>
            <a:r>
              <a:rPr lang="en-US" dirty="0" err="1"/>
              <a:t>ma’lumot</a:t>
            </a:r>
            <a:r>
              <a:rPr lang="en-US" dirty="0"/>
              <a:t> </a:t>
            </a:r>
            <a:r>
              <a:rPr lang="en-US" dirty="0" err="1"/>
              <a:t>keladi</a:t>
            </a:r>
            <a:r>
              <a:rPr lang="en-US" dirty="0"/>
              <a:t>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dirty="0" err="1"/>
              <a:t>Tizim</a:t>
            </a:r>
            <a:r>
              <a:rPr lang="en-US" dirty="0"/>
              <a:t> </a:t>
            </a:r>
            <a:r>
              <a:rPr lang="en-US" dirty="0" err="1"/>
              <a:t>uni</a:t>
            </a:r>
            <a:r>
              <a:rPr lang="en-US" dirty="0"/>
              <a:t> </a:t>
            </a:r>
            <a:r>
              <a:rPr lang="en-US" dirty="0" err="1"/>
              <a:t>logning</a:t>
            </a:r>
            <a:r>
              <a:rPr lang="en-US" dirty="0"/>
              <a:t> </a:t>
            </a:r>
            <a:r>
              <a:rPr lang="en-US" dirty="0" err="1"/>
              <a:t>oxiriga</a:t>
            </a:r>
            <a:r>
              <a:rPr lang="en-US" dirty="0"/>
              <a:t> </a:t>
            </a:r>
            <a:r>
              <a:rPr lang="en-US" dirty="0" err="1"/>
              <a:t>qo‘shadi</a:t>
            </a:r>
            <a:r>
              <a:rPr lang="en-US" dirty="0"/>
              <a:t> (overwrite </a:t>
            </a:r>
            <a:r>
              <a:rPr lang="en-US" dirty="0" err="1"/>
              <a:t>emas</a:t>
            </a:r>
            <a:r>
              <a:rPr lang="en-US" dirty="0"/>
              <a:t>).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dirty="0" err="1"/>
              <a:t>Eski</a:t>
            </a:r>
            <a:r>
              <a:rPr lang="en-US" dirty="0"/>
              <a:t> </a:t>
            </a:r>
            <a:r>
              <a:rPr lang="en-US" dirty="0" err="1"/>
              <a:t>bloklar</a:t>
            </a:r>
            <a:r>
              <a:rPr lang="en-US" dirty="0"/>
              <a:t> “</a:t>
            </a:r>
            <a:r>
              <a:rPr lang="en-US" dirty="0" err="1"/>
              <a:t>keraksiz</a:t>
            </a:r>
            <a:r>
              <a:rPr lang="en-US" dirty="0"/>
              <a:t>” </a:t>
            </a:r>
            <a:r>
              <a:rPr lang="en-US" dirty="0" err="1"/>
              <a:t>holga</a:t>
            </a:r>
            <a:r>
              <a:rPr lang="en-US" dirty="0"/>
              <a:t> </a:t>
            </a:r>
            <a:r>
              <a:rPr lang="en-US" dirty="0" err="1"/>
              <a:t>keladi</a:t>
            </a:r>
            <a:r>
              <a:rPr lang="en-US" dirty="0"/>
              <a:t>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Segment cleaning </a:t>
            </a:r>
            <a:r>
              <a:rPr lang="en-US" dirty="0" err="1"/>
              <a:t>jarayoni</a:t>
            </a:r>
            <a:r>
              <a:rPr lang="en-US" dirty="0"/>
              <a:t> </a:t>
            </a:r>
            <a:r>
              <a:rPr lang="en-US" dirty="0" err="1"/>
              <a:t>eski</a:t>
            </a:r>
            <a:r>
              <a:rPr lang="en-US" dirty="0"/>
              <a:t> </a:t>
            </a:r>
            <a:r>
              <a:rPr lang="en-US" dirty="0" err="1"/>
              <a:t>segmentlarni</a:t>
            </a:r>
            <a:r>
              <a:rPr lang="en-US" dirty="0"/>
              <a:t> </a:t>
            </a:r>
            <a:r>
              <a:rPr lang="en-US" dirty="0" err="1"/>
              <a:t>bo‘shatadi</a:t>
            </a:r>
            <a:r>
              <a:rPr lang="en-US" dirty="0"/>
              <a:t>.</a:t>
            </a:r>
          </a:p>
          <a:p>
            <a:pPr>
              <a:lnSpc>
                <a:spcPct val="150000"/>
              </a:lnSpc>
            </a:pPr>
            <a:r>
              <a:rPr lang="en-US" b="1" dirty="0" err="1"/>
              <a:t>Yozish</a:t>
            </a:r>
            <a:r>
              <a:rPr lang="en-US" b="1" dirty="0"/>
              <a:t> </a:t>
            </a:r>
            <a:r>
              <a:rPr lang="en-US" b="1" dirty="0" err="1"/>
              <a:t>jarayoni</a:t>
            </a:r>
            <a:r>
              <a:rPr lang="en-US" b="1" dirty="0"/>
              <a:t>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Barcha</a:t>
            </a:r>
            <a:r>
              <a:rPr lang="en-US" dirty="0"/>
              <a:t> </a:t>
            </a:r>
            <a:r>
              <a:rPr lang="en-US" dirty="0" err="1"/>
              <a:t>yozuvlar</a:t>
            </a:r>
            <a:r>
              <a:rPr lang="en-US" dirty="0"/>
              <a:t> </a:t>
            </a:r>
            <a:r>
              <a:rPr lang="en-US" dirty="0" err="1"/>
              <a:t>yangi</a:t>
            </a:r>
            <a:r>
              <a:rPr lang="en-US" dirty="0"/>
              <a:t> </a:t>
            </a:r>
            <a:r>
              <a:rPr lang="en-US" dirty="0" err="1"/>
              <a:t>segmentga</a:t>
            </a:r>
            <a:r>
              <a:rPr lang="en-US" dirty="0"/>
              <a:t> </a:t>
            </a:r>
            <a:r>
              <a:rPr lang="en-US" dirty="0" err="1"/>
              <a:t>ketma-ket</a:t>
            </a:r>
            <a:r>
              <a:rPr lang="en-US" dirty="0"/>
              <a:t> </a:t>
            </a:r>
            <a:r>
              <a:rPr lang="en-US" dirty="0" err="1"/>
              <a:t>qo‘shiladi</a:t>
            </a:r>
            <a:r>
              <a:rPr lang="en-US" dirty="0"/>
              <a:t>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Bu </a:t>
            </a:r>
            <a:r>
              <a:rPr lang="en-US" dirty="0" err="1"/>
              <a:t>diskning</a:t>
            </a:r>
            <a:r>
              <a:rPr lang="en-US" dirty="0"/>
              <a:t> </a:t>
            </a:r>
            <a:r>
              <a:rPr lang="en-US" dirty="0" err="1"/>
              <a:t>boshqaruv</a:t>
            </a:r>
            <a:r>
              <a:rPr lang="en-US" dirty="0"/>
              <a:t> </a:t>
            </a:r>
            <a:r>
              <a:rPr lang="en-US" dirty="0" err="1"/>
              <a:t>xarajatlarini</a:t>
            </a:r>
            <a:r>
              <a:rPr lang="en-US" dirty="0"/>
              <a:t> </a:t>
            </a:r>
            <a:r>
              <a:rPr lang="en-US" dirty="0" err="1"/>
              <a:t>kamaytiradi</a:t>
            </a:r>
            <a:r>
              <a:rPr lang="en-US" dirty="0"/>
              <a:t>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Yozish</a:t>
            </a:r>
            <a:r>
              <a:rPr lang="en-US" dirty="0"/>
              <a:t> </a:t>
            </a:r>
            <a:r>
              <a:rPr lang="en-US" dirty="0" err="1"/>
              <a:t>tezligini</a:t>
            </a:r>
            <a:r>
              <a:rPr lang="en-US" dirty="0"/>
              <a:t> </a:t>
            </a:r>
            <a:r>
              <a:rPr lang="en-US" dirty="0" err="1"/>
              <a:t>maksimal</a:t>
            </a:r>
            <a:r>
              <a:rPr lang="en-US" dirty="0"/>
              <a:t> </a:t>
            </a:r>
            <a:r>
              <a:rPr lang="en-US" dirty="0" err="1"/>
              <a:t>darajaga</a:t>
            </a:r>
            <a:r>
              <a:rPr lang="en-US" dirty="0"/>
              <a:t> </a:t>
            </a:r>
            <a:r>
              <a:rPr lang="en-US" dirty="0" err="1"/>
              <a:t>chiqaradi</a:t>
            </a:r>
            <a:r>
              <a:rPr lang="en-US" dirty="0"/>
              <a:t>.</a:t>
            </a:r>
          </a:p>
          <a:p>
            <a:pPr>
              <a:lnSpc>
                <a:spcPct val="150000"/>
              </a:lnSpc>
            </a:pPr>
            <a:r>
              <a:rPr lang="en-US" b="1" dirty="0" err="1"/>
              <a:t>O‘qish</a:t>
            </a:r>
            <a:r>
              <a:rPr lang="en-US" b="1" dirty="0"/>
              <a:t> </a:t>
            </a:r>
            <a:r>
              <a:rPr lang="en-US" b="1" dirty="0" err="1"/>
              <a:t>jarayoni</a:t>
            </a:r>
            <a:r>
              <a:rPr lang="en-US" b="1" dirty="0"/>
              <a:t>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Faylning</a:t>
            </a:r>
            <a:r>
              <a:rPr lang="en-US" dirty="0"/>
              <a:t> </a:t>
            </a:r>
            <a:r>
              <a:rPr lang="en-US" dirty="0" err="1"/>
              <a:t>oxirgi</a:t>
            </a:r>
            <a:r>
              <a:rPr lang="en-US" dirty="0"/>
              <a:t> </a:t>
            </a:r>
            <a:r>
              <a:rPr lang="en-US" dirty="0" err="1"/>
              <a:t>versiyasi</a:t>
            </a:r>
            <a:r>
              <a:rPr lang="en-US" dirty="0"/>
              <a:t> </a:t>
            </a:r>
            <a:r>
              <a:rPr lang="en-US" dirty="0" err="1"/>
              <a:t>logning</a:t>
            </a:r>
            <a:r>
              <a:rPr lang="en-US" dirty="0"/>
              <a:t> </a:t>
            </a:r>
            <a:r>
              <a:rPr lang="en-US" dirty="0" err="1"/>
              <a:t>qaysi</a:t>
            </a:r>
            <a:r>
              <a:rPr lang="en-US" dirty="0"/>
              <a:t> </a:t>
            </a:r>
            <a:r>
              <a:rPr lang="en-US" dirty="0" err="1"/>
              <a:t>segmentida</a:t>
            </a:r>
            <a:r>
              <a:rPr lang="en-US" dirty="0"/>
              <a:t> </a:t>
            </a:r>
            <a:r>
              <a:rPr lang="en-US" dirty="0" err="1"/>
              <a:t>ekanini</a:t>
            </a:r>
            <a:r>
              <a:rPr lang="en-US" dirty="0"/>
              <a:t> </a:t>
            </a:r>
            <a:r>
              <a:rPr lang="en-US" dirty="0" err="1"/>
              <a:t>indekslash</a:t>
            </a:r>
            <a:r>
              <a:rPr lang="en-US" dirty="0"/>
              <a:t> </a:t>
            </a:r>
            <a:r>
              <a:rPr lang="en-US" dirty="0" err="1"/>
              <a:t>orqali</a:t>
            </a:r>
            <a:r>
              <a:rPr lang="en-US" dirty="0"/>
              <a:t> </a:t>
            </a:r>
            <a:r>
              <a:rPr lang="en-US" dirty="0" err="1"/>
              <a:t>topiladi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514415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/>
        </p:nvSpPr>
        <p:spPr>
          <a:xfrm>
            <a:off x="535257" y="689781"/>
            <a:ext cx="8184995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73239"/>
                </a:solidFill>
                <a:latin typeface="+mn-lt"/>
              </a:rPr>
              <a:t>LFS </a:t>
            </a:r>
            <a:r>
              <a:rPr lang="en-US" sz="2000" dirty="0" err="1">
                <a:solidFill>
                  <a:srgbClr val="273239"/>
                </a:solidFill>
                <a:latin typeface="+mn-lt"/>
              </a:rPr>
              <a:t>xotira</a:t>
            </a:r>
            <a:r>
              <a:rPr lang="en-US" sz="2000" dirty="0">
                <a:solidFill>
                  <a:srgbClr val="273239"/>
                </a:solidFill>
                <a:latin typeface="+mn-lt"/>
              </a:rPr>
              <a:t> </a:t>
            </a:r>
            <a:r>
              <a:rPr lang="en-US" sz="2000" b="1" dirty="0" err="1">
                <a:solidFill>
                  <a:srgbClr val="273239"/>
                </a:solidFill>
                <a:latin typeface="+mn-lt"/>
              </a:rPr>
              <a:t>segmentidagi</a:t>
            </a:r>
            <a:r>
              <a:rPr lang="en-US" sz="2000" dirty="0">
                <a:solidFill>
                  <a:srgbClr val="273239"/>
                </a:solidFill>
                <a:latin typeface="+mn-lt"/>
              </a:rPr>
              <a:t> </a:t>
            </a:r>
            <a:r>
              <a:rPr lang="en-US" sz="2000" dirty="0" err="1">
                <a:solidFill>
                  <a:srgbClr val="273239"/>
                </a:solidFill>
                <a:latin typeface="+mn-lt"/>
              </a:rPr>
              <a:t>barcha</a:t>
            </a:r>
            <a:r>
              <a:rPr lang="en-US" sz="2000" dirty="0">
                <a:solidFill>
                  <a:srgbClr val="273239"/>
                </a:solidFill>
                <a:latin typeface="+mn-lt"/>
              </a:rPr>
              <a:t> </a:t>
            </a:r>
            <a:r>
              <a:rPr lang="en-US" sz="2000" dirty="0" err="1">
                <a:solidFill>
                  <a:srgbClr val="273239"/>
                </a:solidFill>
                <a:latin typeface="+mn-lt"/>
              </a:rPr>
              <a:t>yozishlarning</a:t>
            </a:r>
            <a:r>
              <a:rPr lang="en-US" sz="2000" dirty="0">
                <a:solidFill>
                  <a:srgbClr val="273239"/>
                </a:solidFill>
                <a:latin typeface="+mn-lt"/>
              </a:rPr>
              <a:t> </a:t>
            </a:r>
            <a:r>
              <a:rPr lang="en-US" sz="2000" dirty="0" err="1">
                <a:solidFill>
                  <a:srgbClr val="273239"/>
                </a:solidFill>
                <a:latin typeface="+mn-lt"/>
              </a:rPr>
              <a:t>kichik</a:t>
            </a:r>
            <a:r>
              <a:rPr lang="en-US" sz="2000" dirty="0">
                <a:solidFill>
                  <a:srgbClr val="273239"/>
                </a:solidFill>
                <a:latin typeface="+mn-lt"/>
              </a:rPr>
              <a:t> </a:t>
            </a:r>
            <a:r>
              <a:rPr lang="en-US" sz="2000" dirty="0" err="1">
                <a:solidFill>
                  <a:srgbClr val="273239"/>
                </a:solidFill>
                <a:latin typeface="+mn-lt"/>
              </a:rPr>
              <a:t>buferini</a:t>
            </a:r>
            <a:r>
              <a:rPr lang="en-US" sz="2000" dirty="0">
                <a:solidFill>
                  <a:srgbClr val="273239"/>
                </a:solidFill>
                <a:latin typeface="+mn-lt"/>
              </a:rPr>
              <a:t> </a:t>
            </a:r>
            <a:r>
              <a:rPr lang="en-US" sz="2000" dirty="0" err="1">
                <a:solidFill>
                  <a:srgbClr val="273239"/>
                </a:solidFill>
                <a:latin typeface="+mn-lt"/>
              </a:rPr>
              <a:t>saqlaydi</a:t>
            </a:r>
            <a:r>
              <a:rPr lang="en-US" sz="2000" dirty="0">
                <a:solidFill>
                  <a:srgbClr val="273239"/>
                </a:solidFill>
                <a:latin typeface="+mn-lt"/>
              </a:rPr>
              <a:t> . </a:t>
            </a:r>
            <a:r>
              <a:rPr lang="en-US" sz="2000" dirty="0" err="1">
                <a:solidFill>
                  <a:srgbClr val="273239"/>
                </a:solidFill>
                <a:latin typeface="+mn-lt"/>
              </a:rPr>
              <a:t>Jurnal</a:t>
            </a:r>
            <a:r>
              <a:rPr lang="en-US" sz="2000" dirty="0">
                <a:solidFill>
                  <a:srgbClr val="273239"/>
                </a:solidFill>
                <a:latin typeface="+mn-lt"/>
              </a:rPr>
              <a:t> </a:t>
            </a:r>
            <a:r>
              <a:rPr lang="en-US" sz="2000" dirty="0" err="1">
                <a:solidFill>
                  <a:srgbClr val="273239"/>
                </a:solidFill>
                <a:latin typeface="+mn-lt"/>
              </a:rPr>
              <a:t>oddiygina</a:t>
            </a:r>
            <a:r>
              <a:rPr lang="en-US" sz="2000" dirty="0">
                <a:solidFill>
                  <a:srgbClr val="273239"/>
                </a:solidFill>
                <a:latin typeface="+mn-lt"/>
              </a:rPr>
              <a:t> </a:t>
            </a:r>
            <a:r>
              <a:rPr lang="en-US" sz="2000" dirty="0" err="1">
                <a:solidFill>
                  <a:srgbClr val="273239"/>
                </a:solidFill>
                <a:latin typeface="+mn-lt"/>
              </a:rPr>
              <a:t>ma'lumotlar</a:t>
            </a:r>
            <a:r>
              <a:rPr lang="en-US" sz="2000" dirty="0">
                <a:solidFill>
                  <a:srgbClr val="273239"/>
                </a:solidFill>
                <a:latin typeface="+mn-lt"/>
              </a:rPr>
              <a:t> </a:t>
            </a:r>
            <a:r>
              <a:rPr lang="en-US" sz="2000" dirty="0" err="1">
                <a:solidFill>
                  <a:srgbClr val="273239"/>
                </a:solidFill>
                <a:latin typeface="+mn-lt"/>
              </a:rPr>
              <a:t>tuzilmasi</a:t>
            </a:r>
            <a:r>
              <a:rPr lang="en-US" sz="2000" dirty="0">
                <a:solidFill>
                  <a:srgbClr val="273239"/>
                </a:solidFill>
                <a:latin typeface="+mn-lt"/>
              </a:rPr>
              <a:t> </a:t>
            </a:r>
            <a:r>
              <a:rPr lang="en-US" sz="2000" dirty="0" err="1">
                <a:solidFill>
                  <a:srgbClr val="273239"/>
                </a:solidFill>
                <a:latin typeface="+mn-lt"/>
              </a:rPr>
              <a:t>bo'lib</a:t>
            </a:r>
            <a:r>
              <a:rPr lang="en-US" sz="2000" dirty="0">
                <a:solidFill>
                  <a:srgbClr val="273239"/>
                </a:solidFill>
                <a:latin typeface="+mn-lt"/>
              </a:rPr>
              <a:t>, u </a:t>
            </a:r>
            <a:r>
              <a:rPr lang="en-US" sz="2000" dirty="0" err="1">
                <a:solidFill>
                  <a:srgbClr val="273239"/>
                </a:solidFill>
                <a:latin typeface="+mn-lt"/>
              </a:rPr>
              <a:t>faqat</a:t>
            </a:r>
            <a:r>
              <a:rPr lang="en-US" sz="2000" dirty="0">
                <a:solidFill>
                  <a:srgbClr val="273239"/>
                </a:solidFill>
                <a:latin typeface="+mn-lt"/>
              </a:rPr>
              <a:t> </a:t>
            </a:r>
            <a:r>
              <a:rPr lang="en-US" sz="2000" dirty="0" err="1">
                <a:solidFill>
                  <a:srgbClr val="273239"/>
                </a:solidFill>
                <a:latin typeface="+mn-lt"/>
              </a:rPr>
              <a:t>boshida</a:t>
            </a:r>
            <a:r>
              <a:rPr lang="en-US" sz="2000" dirty="0">
                <a:solidFill>
                  <a:srgbClr val="273239"/>
                </a:solidFill>
                <a:latin typeface="+mn-lt"/>
              </a:rPr>
              <a:t> </a:t>
            </a:r>
            <a:r>
              <a:rPr lang="en-US" sz="2000" dirty="0" err="1">
                <a:solidFill>
                  <a:srgbClr val="273239"/>
                </a:solidFill>
                <a:latin typeface="+mn-lt"/>
              </a:rPr>
              <a:t>yoziladi</a:t>
            </a:r>
            <a:r>
              <a:rPr lang="en-US" sz="2000" dirty="0">
                <a:solidFill>
                  <a:srgbClr val="273239"/>
                </a:solidFill>
                <a:latin typeface="+mn-lt"/>
              </a:rPr>
              <a:t> (</a:t>
            </a:r>
            <a:r>
              <a:rPr lang="en-US" sz="2000" dirty="0" err="1">
                <a:solidFill>
                  <a:srgbClr val="273239"/>
                </a:solidFill>
                <a:latin typeface="+mn-lt"/>
              </a:rPr>
              <a:t>butun</a:t>
            </a:r>
            <a:r>
              <a:rPr lang="en-US" sz="2000" dirty="0">
                <a:solidFill>
                  <a:srgbClr val="273239"/>
                </a:solidFill>
                <a:latin typeface="+mn-lt"/>
              </a:rPr>
              <a:t> </a:t>
            </a:r>
            <a:r>
              <a:rPr lang="en-US" sz="2000" dirty="0" err="1">
                <a:solidFill>
                  <a:srgbClr val="273239"/>
                </a:solidFill>
                <a:latin typeface="+mn-lt"/>
              </a:rPr>
              <a:t>diskni</a:t>
            </a:r>
            <a:r>
              <a:rPr lang="en-US" sz="2000" dirty="0">
                <a:solidFill>
                  <a:srgbClr val="273239"/>
                </a:solidFill>
                <a:latin typeface="+mn-lt"/>
              </a:rPr>
              <a:t> </a:t>
            </a:r>
            <a:r>
              <a:rPr lang="en-US" sz="2000" dirty="0" err="1">
                <a:solidFill>
                  <a:srgbClr val="273239"/>
                </a:solidFill>
                <a:latin typeface="+mn-lt"/>
              </a:rPr>
              <a:t>jurnal</a:t>
            </a:r>
            <a:r>
              <a:rPr lang="en-US" sz="2000" dirty="0">
                <a:solidFill>
                  <a:srgbClr val="273239"/>
                </a:solidFill>
                <a:latin typeface="+mn-lt"/>
              </a:rPr>
              <a:t> deb </a:t>
            </a:r>
            <a:r>
              <a:rPr lang="en-US" sz="2000" dirty="0" err="1">
                <a:solidFill>
                  <a:srgbClr val="273239"/>
                </a:solidFill>
                <a:latin typeface="+mn-lt"/>
              </a:rPr>
              <a:t>hisoblash</a:t>
            </a:r>
            <a:r>
              <a:rPr lang="en-US" sz="2000" dirty="0">
                <a:solidFill>
                  <a:srgbClr val="273239"/>
                </a:solidFill>
                <a:latin typeface="+mn-lt"/>
              </a:rPr>
              <a:t> </a:t>
            </a:r>
            <a:r>
              <a:rPr lang="en-US" sz="2000" dirty="0" err="1">
                <a:solidFill>
                  <a:srgbClr val="273239"/>
                </a:solidFill>
                <a:latin typeface="+mn-lt"/>
              </a:rPr>
              <a:t>mumkin</a:t>
            </a:r>
            <a:r>
              <a:rPr lang="en-US" sz="2000" dirty="0">
                <a:solidFill>
                  <a:srgbClr val="273239"/>
                </a:solidFill>
                <a:latin typeface="+mn-lt"/>
              </a:rPr>
              <a:t>). </a:t>
            </a:r>
            <a:r>
              <a:rPr lang="en-US" sz="2000" dirty="0" err="1">
                <a:solidFill>
                  <a:srgbClr val="273239"/>
                </a:solidFill>
                <a:latin typeface="+mn-lt"/>
              </a:rPr>
              <a:t>Jurnal</a:t>
            </a:r>
            <a:r>
              <a:rPr lang="en-US" sz="2000" dirty="0">
                <a:solidFill>
                  <a:srgbClr val="273239"/>
                </a:solidFill>
                <a:latin typeface="+mn-lt"/>
              </a:rPr>
              <a:t> </a:t>
            </a:r>
            <a:r>
              <a:rPr lang="en-US" sz="2000" dirty="0" err="1">
                <a:solidFill>
                  <a:srgbClr val="273239"/>
                </a:solidFill>
                <a:latin typeface="+mn-lt"/>
              </a:rPr>
              <a:t>to'ldirilgandan</a:t>
            </a:r>
            <a:r>
              <a:rPr lang="en-US" sz="2000" dirty="0">
                <a:solidFill>
                  <a:srgbClr val="273239"/>
                </a:solidFill>
                <a:latin typeface="+mn-lt"/>
              </a:rPr>
              <a:t> </a:t>
            </a:r>
            <a:r>
              <a:rPr lang="en-US" sz="2000" dirty="0" err="1">
                <a:solidFill>
                  <a:srgbClr val="273239"/>
                </a:solidFill>
                <a:latin typeface="+mn-lt"/>
              </a:rPr>
              <a:t>so'ng</a:t>
            </a:r>
            <a:r>
              <a:rPr lang="en-US" sz="2000" dirty="0">
                <a:solidFill>
                  <a:srgbClr val="273239"/>
                </a:solidFill>
                <a:latin typeface="+mn-lt"/>
              </a:rPr>
              <a:t>, u </a:t>
            </a:r>
            <a:r>
              <a:rPr lang="en-US" sz="2000" dirty="0" err="1">
                <a:solidFill>
                  <a:srgbClr val="273239"/>
                </a:solidFill>
                <a:latin typeface="+mn-lt"/>
              </a:rPr>
              <a:t>ketma-ketlikda</a:t>
            </a:r>
            <a:r>
              <a:rPr lang="en-US" sz="2000" dirty="0">
                <a:solidFill>
                  <a:srgbClr val="273239"/>
                </a:solidFill>
                <a:latin typeface="+mn-lt"/>
              </a:rPr>
              <a:t> </a:t>
            </a:r>
            <a:r>
              <a:rPr lang="en-US" sz="2000" dirty="0" err="1">
                <a:solidFill>
                  <a:srgbClr val="273239"/>
                </a:solidFill>
                <a:latin typeface="+mn-lt"/>
              </a:rPr>
              <a:t>diskning</a:t>
            </a:r>
            <a:r>
              <a:rPr lang="en-US" sz="2000" dirty="0">
                <a:solidFill>
                  <a:srgbClr val="273239"/>
                </a:solidFill>
                <a:latin typeface="+mn-lt"/>
              </a:rPr>
              <a:t> </a:t>
            </a:r>
            <a:r>
              <a:rPr lang="en-US" sz="2000" dirty="0" err="1">
                <a:solidFill>
                  <a:srgbClr val="273239"/>
                </a:solidFill>
                <a:latin typeface="+mn-lt"/>
              </a:rPr>
              <a:t>foydalanilmagan</a:t>
            </a:r>
            <a:r>
              <a:rPr lang="en-US" sz="2000" dirty="0">
                <a:solidFill>
                  <a:srgbClr val="273239"/>
                </a:solidFill>
                <a:latin typeface="+mn-lt"/>
              </a:rPr>
              <a:t> </a:t>
            </a:r>
            <a:r>
              <a:rPr lang="en-US" sz="2000" dirty="0" err="1">
                <a:solidFill>
                  <a:srgbClr val="273239"/>
                </a:solidFill>
                <a:latin typeface="+mn-lt"/>
              </a:rPr>
              <a:t>qismiga</a:t>
            </a:r>
            <a:r>
              <a:rPr lang="en-US" sz="2000" dirty="0">
                <a:solidFill>
                  <a:srgbClr val="273239"/>
                </a:solidFill>
                <a:latin typeface="+mn-lt"/>
              </a:rPr>
              <a:t> </a:t>
            </a:r>
            <a:r>
              <a:rPr lang="en-US" sz="2000" dirty="0" err="1">
                <a:solidFill>
                  <a:srgbClr val="273239"/>
                </a:solidFill>
                <a:latin typeface="+mn-lt"/>
              </a:rPr>
              <a:t>yoziladi</a:t>
            </a:r>
            <a:r>
              <a:rPr lang="en-US" sz="2000" dirty="0">
                <a:solidFill>
                  <a:srgbClr val="273239"/>
                </a:solidFill>
                <a:latin typeface="+mn-lt"/>
              </a:rPr>
              <a:t>. </a:t>
            </a:r>
            <a:r>
              <a:rPr lang="en-US" sz="2000" dirty="0" err="1">
                <a:solidFill>
                  <a:srgbClr val="273239"/>
                </a:solidFill>
                <a:latin typeface="+mn-lt"/>
              </a:rPr>
              <a:t>Yangi</a:t>
            </a:r>
            <a:r>
              <a:rPr lang="en-US" sz="2000" dirty="0">
                <a:solidFill>
                  <a:srgbClr val="273239"/>
                </a:solidFill>
                <a:latin typeface="+mn-lt"/>
              </a:rPr>
              <a:t> </a:t>
            </a:r>
            <a:r>
              <a:rPr lang="en-US" sz="2000" dirty="0" err="1">
                <a:solidFill>
                  <a:srgbClr val="273239"/>
                </a:solidFill>
                <a:latin typeface="+mn-lt"/>
              </a:rPr>
              <a:t>ma'lumotlar</a:t>
            </a:r>
            <a:r>
              <a:rPr lang="en-US" sz="2000" dirty="0">
                <a:solidFill>
                  <a:srgbClr val="273239"/>
                </a:solidFill>
                <a:latin typeface="+mn-lt"/>
              </a:rPr>
              <a:t> </a:t>
            </a:r>
            <a:r>
              <a:rPr lang="en-US" sz="2000" dirty="0" err="1">
                <a:solidFill>
                  <a:srgbClr val="273239"/>
                </a:solidFill>
                <a:latin typeface="+mn-lt"/>
              </a:rPr>
              <a:t>va</a:t>
            </a:r>
            <a:r>
              <a:rPr lang="en-US" sz="2000" dirty="0">
                <a:solidFill>
                  <a:srgbClr val="273239"/>
                </a:solidFill>
                <a:latin typeface="+mn-lt"/>
              </a:rPr>
              <a:t> </a:t>
            </a:r>
            <a:r>
              <a:rPr lang="en-US" sz="2000" dirty="0" err="1">
                <a:solidFill>
                  <a:srgbClr val="273239"/>
                </a:solidFill>
                <a:latin typeface="+mn-lt"/>
              </a:rPr>
              <a:t>metama'lumotlar</a:t>
            </a:r>
            <a:r>
              <a:rPr lang="en-US" sz="2000" dirty="0">
                <a:solidFill>
                  <a:srgbClr val="273239"/>
                </a:solidFill>
                <a:latin typeface="+mn-lt"/>
              </a:rPr>
              <a:t> (</a:t>
            </a:r>
            <a:r>
              <a:rPr lang="en-US" sz="2000" dirty="0" err="1">
                <a:solidFill>
                  <a:srgbClr val="273239"/>
                </a:solidFill>
                <a:latin typeface="+mn-lt"/>
              </a:rPr>
              <a:t>inodlar</a:t>
            </a:r>
            <a:r>
              <a:rPr lang="en-US" sz="2000" dirty="0">
                <a:solidFill>
                  <a:srgbClr val="273239"/>
                </a:solidFill>
                <a:latin typeface="+mn-lt"/>
              </a:rPr>
              <a:t>, </a:t>
            </a:r>
            <a:r>
              <a:rPr lang="en-US" sz="2000" dirty="0" err="1">
                <a:solidFill>
                  <a:srgbClr val="273239"/>
                </a:solidFill>
                <a:latin typeface="+mn-lt"/>
              </a:rPr>
              <a:t>kataloglar</a:t>
            </a:r>
            <a:r>
              <a:rPr lang="en-US" sz="2000" dirty="0">
                <a:solidFill>
                  <a:srgbClr val="273239"/>
                </a:solidFill>
                <a:latin typeface="+mn-lt"/>
              </a:rPr>
              <a:t>) </a:t>
            </a:r>
            <a:r>
              <a:rPr lang="en-US" sz="2000" dirty="0" err="1">
                <a:solidFill>
                  <a:srgbClr val="273239"/>
                </a:solidFill>
                <a:latin typeface="+mn-lt"/>
              </a:rPr>
              <a:t>bufer</a:t>
            </a:r>
            <a:r>
              <a:rPr lang="en-US" sz="2000" dirty="0">
                <a:solidFill>
                  <a:srgbClr val="273239"/>
                </a:solidFill>
                <a:latin typeface="+mn-lt"/>
              </a:rPr>
              <a:t> </a:t>
            </a:r>
            <a:r>
              <a:rPr lang="en-US" sz="2000" dirty="0" err="1">
                <a:solidFill>
                  <a:srgbClr val="273239"/>
                </a:solidFill>
                <a:latin typeface="+mn-lt"/>
              </a:rPr>
              <a:t>keshiga</a:t>
            </a:r>
            <a:r>
              <a:rPr lang="en-US" sz="2000" dirty="0">
                <a:solidFill>
                  <a:srgbClr val="273239"/>
                </a:solidFill>
                <a:latin typeface="+mn-lt"/>
              </a:rPr>
              <a:t> </a:t>
            </a:r>
            <a:r>
              <a:rPr lang="en-US" sz="2000" dirty="0" err="1">
                <a:solidFill>
                  <a:srgbClr val="273239"/>
                </a:solidFill>
                <a:latin typeface="+mn-lt"/>
              </a:rPr>
              <a:t>to'planadi</a:t>
            </a:r>
            <a:r>
              <a:rPr lang="en-US" sz="2000" dirty="0">
                <a:solidFill>
                  <a:srgbClr val="273239"/>
                </a:solidFill>
                <a:latin typeface="+mn-lt"/>
              </a:rPr>
              <a:t> </a:t>
            </a:r>
            <a:r>
              <a:rPr lang="en-US" sz="2000" dirty="0" err="1">
                <a:solidFill>
                  <a:srgbClr val="273239"/>
                </a:solidFill>
                <a:latin typeface="+mn-lt"/>
              </a:rPr>
              <a:t>va</a:t>
            </a:r>
            <a:r>
              <a:rPr lang="en-US" sz="2000" dirty="0">
                <a:solidFill>
                  <a:srgbClr val="273239"/>
                </a:solidFill>
                <a:latin typeface="+mn-lt"/>
              </a:rPr>
              <a:t> </a:t>
            </a:r>
            <a:r>
              <a:rPr lang="en-US" sz="2000" dirty="0" err="1">
                <a:solidFill>
                  <a:srgbClr val="273239"/>
                </a:solidFill>
                <a:latin typeface="+mn-lt"/>
              </a:rPr>
              <a:t>barchasi</a:t>
            </a:r>
            <a:r>
              <a:rPr lang="en-US" sz="2000" dirty="0">
                <a:solidFill>
                  <a:srgbClr val="273239"/>
                </a:solidFill>
                <a:latin typeface="+mn-lt"/>
              </a:rPr>
              <a:t> </a:t>
            </a:r>
            <a:r>
              <a:rPr lang="en-US" sz="2000" dirty="0" err="1">
                <a:solidFill>
                  <a:srgbClr val="273239"/>
                </a:solidFill>
                <a:latin typeface="+mn-lt"/>
              </a:rPr>
              <a:t>bir</a:t>
            </a:r>
            <a:r>
              <a:rPr lang="en-US" sz="2000" dirty="0">
                <a:solidFill>
                  <a:srgbClr val="273239"/>
                </a:solidFill>
                <a:latin typeface="+mn-lt"/>
              </a:rPr>
              <a:t> </a:t>
            </a:r>
            <a:r>
              <a:rPr lang="en-US" sz="2000" dirty="0" err="1">
                <a:solidFill>
                  <a:srgbClr val="273239"/>
                </a:solidFill>
                <a:latin typeface="+mn-lt"/>
              </a:rPr>
              <a:t>vaqtning</a:t>
            </a:r>
            <a:r>
              <a:rPr lang="en-US" sz="2000" dirty="0">
                <a:solidFill>
                  <a:srgbClr val="273239"/>
                </a:solidFill>
                <a:latin typeface="+mn-lt"/>
              </a:rPr>
              <a:t> </a:t>
            </a:r>
            <a:r>
              <a:rPr lang="en-US" sz="2000" dirty="0" err="1">
                <a:solidFill>
                  <a:srgbClr val="273239"/>
                </a:solidFill>
                <a:latin typeface="+mn-lt"/>
              </a:rPr>
              <a:t>o'zida</a:t>
            </a:r>
            <a:r>
              <a:rPr lang="en-US" sz="2000" dirty="0">
                <a:solidFill>
                  <a:srgbClr val="273239"/>
                </a:solidFill>
                <a:latin typeface="+mn-lt"/>
              </a:rPr>
              <a:t> </a:t>
            </a:r>
            <a:r>
              <a:rPr lang="en-US" sz="2000" dirty="0" err="1">
                <a:solidFill>
                  <a:srgbClr val="273239"/>
                </a:solidFill>
                <a:latin typeface="+mn-lt"/>
              </a:rPr>
              <a:t>katta</a:t>
            </a:r>
            <a:r>
              <a:rPr lang="en-US" sz="2000" dirty="0">
                <a:solidFill>
                  <a:srgbClr val="273239"/>
                </a:solidFill>
                <a:latin typeface="+mn-lt"/>
              </a:rPr>
              <a:t> </a:t>
            </a:r>
            <a:r>
              <a:rPr lang="en-US" sz="2000" dirty="0" err="1">
                <a:solidFill>
                  <a:srgbClr val="273239"/>
                </a:solidFill>
                <a:latin typeface="+mn-lt"/>
              </a:rPr>
              <a:t>bloklarda</a:t>
            </a:r>
            <a:r>
              <a:rPr lang="en-US" sz="2000" dirty="0">
                <a:solidFill>
                  <a:srgbClr val="273239"/>
                </a:solidFill>
                <a:latin typeface="+mn-lt"/>
              </a:rPr>
              <a:t> (</a:t>
            </a:r>
            <a:r>
              <a:rPr lang="en-US" sz="2000" dirty="0" err="1">
                <a:solidFill>
                  <a:srgbClr val="273239"/>
                </a:solidFill>
                <a:latin typeface="+mn-lt"/>
              </a:rPr>
              <a:t>masalan</a:t>
            </a:r>
            <a:r>
              <a:rPr lang="en-US" sz="2000" dirty="0">
                <a:solidFill>
                  <a:srgbClr val="273239"/>
                </a:solidFill>
                <a:latin typeface="+mn-lt"/>
              </a:rPr>
              <a:t>, 0,5M </a:t>
            </a:r>
            <a:r>
              <a:rPr lang="en-US" sz="2000" dirty="0" err="1">
                <a:solidFill>
                  <a:srgbClr val="273239"/>
                </a:solidFill>
                <a:latin typeface="+mn-lt"/>
              </a:rPr>
              <a:t>yoki</a:t>
            </a:r>
            <a:r>
              <a:rPr lang="en-US" sz="2000" dirty="0">
                <a:solidFill>
                  <a:srgbClr val="273239"/>
                </a:solidFill>
                <a:latin typeface="+mn-lt"/>
              </a:rPr>
              <a:t> 1M </a:t>
            </a:r>
            <a:r>
              <a:rPr lang="en-US" sz="2000" dirty="0" err="1">
                <a:solidFill>
                  <a:srgbClr val="273239"/>
                </a:solidFill>
                <a:latin typeface="+mn-lt"/>
              </a:rPr>
              <a:t>segmentlarida</a:t>
            </a:r>
            <a:r>
              <a:rPr lang="en-US" sz="2000" dirty="0">
                <a:solidFill>
                  <a:srgbClr val="273239"/>
                </a:solidFill>
                <a:latin typeface="+mn-lt"/>
              </a:rPr>
              <a:t>) </a:t>
            </a:r>
            <a:r>
              <a:rPr lang="en-US" sz="2000" dirty="0" err="1">
                <a:solidFill>
                  <a:srgbClr val="273239"/>
                </a:solidFill>
                <a:latin typeface="+mn-lt"/>
              </a:rPr>
              <a:t>yoziladi</a:t>
            </a:r>
            <a:r>
              <a:rPr lang="en-US" sz="2000" dirty="0">
                <a:solidFill>
                  <a:srgbClr val="273239"/>
                </a:solidFill>
                <a:latin typeface="+mn-lt"/>
              </a:rPr>
              <a:t>. </a:t>
            </a:r>
            <a:r>
              <a:rPr lang="en-US" sz="2000" dirty="0" err="1">
                <a:solidFill>
                  <a:srgbClr val="273239"/>
                </a:solidFill>
                <a:latin typeface="+mn-lt"/>
              </a:rPr>
              <a:t>Quyida</a:t>
            </a:r>
            <a:r>
              <a:rPr lang="en-US" sz="2000" dirty="0">
                <a:solidFill>
                  <a:srgbClr val="273239"/>
                </a:solidFill>
                <a:latin typeface="+mn-lt"/>
              </a:rPr>
              <a:t> </a:t>
            </a:r>
            <a:r>
              <a:rPr lang="en-US" sz="2000" dirty="0" err="1">
                <a:solidFill>
                  <a:srgbClr val="273239"/>
                </a:solidFill>
                <a:latin typeface="+mn-lt"/>
              </a:rPr>
              <a:t>LFSni</a:t>
            </a:r>
            <a:r>
              <a:rPr lang="en-US" sz="2000" dirty="0">
                <a:solidFill>
                  <a:srgbClr val="273239"/>
                </a:solidFill>
                <a:latin typeface="+mn-lt"/>
              </a:rPr>
              <a:t> </a:t>
            </a:r>
            <a:r>
              <a:rPr lang="en-US" sz="2000" dirty="0" err="1">
                <a:solidFill>
                  <a:srgbClr val="273239"/>
                </a:solidFill>
                <a:latin typeface="+mn-lt"/>
              </a:rPr>
              <a:t>amalga</a:t>
            </a:r>
            <a:r>
              <a:rPr lang="en-US" sz="2000" dirty="0">
                <a:solidFill>
                  <a:srgbClr val="273239"/>
                </a:solidFill>
                <a:latin typeface="+mn-lt"/>
              </a:rPr>
              <a:t> </a:t>
            </a:r>
            <a:r>
              <a:rPr lang="en-US" sz="2000" dirty="0" err="1">
                <a:solidFill>
                  <a:srgbClr val="273239"/>
                </a:solidFill>
                <a:latin typeface="+mn-lt"/>
              </a:rPr>
              <a:t>oshirishda</a:t>
            </a:r>
            <a:r>
              <a:rPr lang="en-US" sz="2000" dirty="0">
                <a:solidFill>
                  <a:srgbClr val="273239"/>
                </a:solidFill>
                <a:latin typeface="+mn-lt"/>
              </a:rPr>
              <a:t> </a:t>
            </a:r>
            <a:r>
              <a:rPr lang="en-US" sz="2000" dirty="0" err="1">
                <a:solidFill>
                  <a:srgbClr val="273239"/>
                </a:solidFill>
                <a:latin typeface="+mn-lt"/>
              </a:rPr>
              <a:t>foydalaniladigan</a:t>
            </a:r>
            <a:r>
              <a:rPr lang="en-US" sz="2000" dirty="0">
                <a:solidFill>
                  <a:srgbClr val="273239"/>
                </a:solidFill>
                <a:latin typeface="+mn-lt"/>
              </a:rPr>
              <a:t> </a:t>
            </a:r>
            <a:r>
              <a:rPr lang="en-US" sz="2000" dirty="0" err="1">
                <a:solidFill>
                  <a:srgbClr val="273239"/>
                </a:solidFill>
                <a:latin typeface="+mn-lt"/>
              </a:rPr>
              <a:t>ma'lumotlar</a:t>
            </a:r>
            <a:r>
              <a:rPr lang="en-US" sz="2000" dirty="0">
                <a:solidFill>
                  <a:srgbClr val="273239"/>
                </a:solidFill>
                <a:latin typeface="+mn-lt"/>
              </a:rPr>
              <a:t> </a:t>
            </a:r>
            <a:r>
              <a:rPr lang="en-US" sz="2000" dirty="0" err="1">
                <a:solidFill>
                  <a:srgbClr val="273239"/>
                </a:solidFill>
                <a:latin typeface="+mn-lt"/>
              </a:rPr>
              <a:t>tuzilmalari</a:t>
            </a:r>
            <a:r>
              <a:rPr lang="en-US" sz="2000" dirty="0">
                <a:solidFill>
                  <a:srgbClr val="273239"/>
                </a:solidFill>
                <a:latin typeface="+mn-lt"/>
              </a:rPr>
              <a:t> </a:t>
            </a:r>
            <a:r>
              <a:rPr lang="en-US" sz="2000" dirty="0" err="1">
                <a:solidFill>
                  <a:srgbClr val="273239"/>
                </a:solidFill>
                <a:latin typeface="+mn-lt"/>
              </a:rPr>
              <a:t>keltirilgan.</a:t>
            </a:r>
            <a:r>
              <a:rPr lang="en-US" sz="2000" b="1" dirty="0" err="1">
                <a:solidFill>
                  <a:srgbClr val="273239"/>
                </a:solidFill>
                <a:latin typeface="+mn-lt"/>
              </a:rPr>
              <a:t>Inodes</a:t>
            </a:r>
            <a:r>
              <a:rPr lang="en-US" sz="2000" b="1" dirty="0">
                <a:solidFill>
                  <a:srgbClr val="273239"/>
                </a:solidFill>
                <a:latin typeface="+mn-lt"/>
              </a:rPr>
              <a:t>:</a:t>
            </a:r>
            <a:r>
              <a:rPr lang="en-US" sz="2000" dirty="0">
                <a:solidFill>
                  <a:srgbClr val="273239"/>
                </a:solidFill>
                <a:latin typeface="+mn-lt"/>
              </a:rPr>
              <a:t> Unix-da </a:t>
            </a:r>
            <a:r>
              <a:rPr lang="en-US" sz="2000" dirty="0" err="1">
                <a:solidFill>
                  <a:srgbClr val="273239"/>
                </a:solidFill>
                <a:latin typeface="+mn-lt"/>
              </a:rPr>
              <a:t>bo'lgani</a:t>
            </a:r>
            <a:r>
              <a:rPr lang="en-US" sz="2000" dirty="0">
                <a:solidFill>
                  <a:srgbClr val="273239"/>
                </a:solidFill>
                <a:latin typeface="+mn-lt"/>
              </a:rPr>
              <a:t> </a:t>
            </a:r>
            <a:r>
              <a:rPr lang="en-US" sz="2000" dirty="0" err="1">
                <a:solidFill>
                  <a:srgbClr val="273239"/>
                </a:solidFill>
                <a:latin typeface="+mn-lt"/>
              </a:rPr>
              <a:t>kabi</a:t>
            </a:r>
            <a:r>
              <a:rPr lang="en-US" sz="2000" dirty="0">
                <a:solidFill>
                  <a:srgbClr val="273239"/>
                </a:solidFill>
                <a:latin typeface="+mn-lt"/>
              </a:rPr>
              <a:t>, </a:t>
            </a:r>
            <a:r>
              <a:rPr lang="en-US" sz="2000" dirty="0" err="1">
                <a:solidFill>
                  <a:srgbClr val="273239"/>
                </a:solidFill>
                <a:latin typeface="+mn-lt"/>
              </a:rPr>
              <a:t>inodelar</a:t>
            </a:r>
            <a:r>
              <a:rPr lang="en-US" sz="2000" dirty="0">
                <a:solidFill>
                  <a:srgbClr val="273239"/>
                </a:solidFill>
                <a:latin typeface="+mn-lt"/>
              </a:rPr>
              <a:t> </a:t>
            </a:r>
            <a:r>
              <a:rPr lang="en-US" sz="2000" dirty="0" err="1">
                <a:solidFill>
                  <a:srgbClr val="273239"/>
                </a:solidFill>
                <a:latin typeface="+mn-lt"/>
              </a:rPr>
              <a:t>fayllarga</a:t>
            </a:r>
            <a:r>
              <a:rPr lang="en-US" sz="2000" dirty="0">
                <a:solidFill>
                  <a:srgbClr val="273239"/>
                </a:solidFill>
                <a:latin typeface="+mn-lt"/>
              </a:rPr>
              <a:t> </a:t>
            </a:r>
            <a:r>
              <a:rPr lang="en-US" sz="2000" dirty="0" err="1">
                <a:solidFill>
                  <a:srgbClr val="273239"/>
                </a:solidFill>
                <a:latin typeface="+mn-lt"/>
              </a:rPr>
              <a:t>jismoniy</a:t>
            </a:r>
            <a:r>
              <a:rPr lang="en-US" sz="2000" dirty="0">
                <a:solidFill>
                  <a:srgbClr val="273239"/>
                </a:solidFill>
                <a:latin typeface="+mn-lt"/>
              </a:rPr>
              <a:t> </a:t>
            </a:r>
            <a:r>
              <a:rPr lang="en-US" sz="2000" dirty="0" err="1">
                <a:solidFill>
                  <a:srgbClr val="273239"/>
                </a:solidFill>
                <a:latin typeface="+mn-lt"/>
              </a:rPr>
              <a:t>blok</a:t>
            </a:r>
            <a:r>
              <a:rPr lang="en-US" sz="2000" dirty="0">
                <a:solidFill>
                  <a:srgbClr val="273239"/>
                </a:solidFill>
                <a:latin typeface="+mn-lt"/>
              </a:rPr>
              <a:t> </a:t>
            </a:r>
            <a:r>
              <a:rPr lang="en-US" sz="2000" dirty="0" err="1">
                <a:solidFill>
                  <a:srgbClr val="273239"/>
                </a:solidFill>
                <a:latin typeface="+mn-lt"/>
              </a:rPr>
              <a:t>ko'rsatgichlarni</a:t>
            </a:r>
            <a:r>
              <a:rPr lang="en-US" sz="2000" dirty="0">
                <a:solidFill>
                  <a:srgbClr val="273239"/>
                </a:solidFill>
                <a:latin typeface="+mn-lt"/>
              </a:rPr>
              <a:t> </a:t>
            </a:r>
            <a:r>
              <a:rPr lang="en-US" sz="2000" dirty="0" err="1">
                <a:solidFill>
                  <a:srgbClr val="273239"/>
                </a:solidFill>
                <a:latin typeface="+mn-lt"/>
              </a:rPr>
              <a:t>o'z</a:t>
            </a:r>
            <a:r>
              <a:rPr lang="en-US" sz="2000" dirty="0">
                <a:solidFill>
                  <a:srgbClr val="273239"/>
                </a:solidFill>
                <a:latin typeface="+mn-lt"/>
              </a:rPr>
              <a:t> </a:t>
            </a:r>
            <a:r>
              <a:rPr lang="en-US" sz="2000" dirty="0" err="1">
                <a:solidFill>
                  <a:srgbClr val="273239"/>
                </a:solidFill>
                <a:latin typeface="+mn-lt"/>
              </a:rPr>
              <a:t>ichiga</a:t>
            </a:r>
            <a:r>
              <a:rPr lang="en-US" sz="2000" dirty="0">
                <a:solidFill>
                  <a:srgbClr val="273239"/>
                </a:solidFill>
                <a:latin typeface="+mn-lt"/>
              </a:rPr>
              <a:t> </a:t>
            </a:r>
            <a:r>
              <a:rPr lang="en-US" sz="2000" dirty="0" err="1">
                <a:solidFill>
                  <a:srgbClr val="273239"/>
                </a:solidFill>
                <a:latin typeface="+mn-lt"/>
              </a:rPr>
              <a:t>oladi</a:t>
            </a:r>
            <a:r>
              <a:rPr lang="en-US" sz="2000" dirty="0">
                <a:solidFill>
                  <a:srgbClr val="273239"/>
                </a:solidFill>
                <a:latin typeface="+mn-lt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 err="1">
                <a:solidFill>
                  <a:srgbClr val="273239"/>
                </a:solidFill>
                <a:latin typeface="+mn-lt"/>
              </a:rPr>
              <a:t>Inod</a:t>
            </a:r>
            <a:r>
              <a:rPr lang="en-US" sz="2000" b="1" dirty="0">
                <a:solidFill>
                  <a:srgbClr val="273239"/>
                </a:solidFill>
                <a:latin typeface="+mn-lt"/>
              </a:rPr>
              <a:t> Map:</a:t>
            </a:r>
            <a:r>
              <a:rPr lang="en-US" sz="2000" dirty="0">
                <a:solidFill>
                  <a:srgbClr val="273239"/>
                </a:solidFill>
                <a:latin typeface="+mn-lt"/>
              </a:rPr>
              <a:t> </a:t>
            </a:r>
            <a:r>
              <a:rPr lang="en-US" sz="2000" dirty="0" err="1">
                <a:solidFill>
                  <a:srgbClr val="273239"/>
                </a:solidFill>
                <a:latin typeface="+mn-lt"/>
              </a:rPr>
              <a:t>Ushbu</a:t>
            </a:r>
            <a:r>
              <a:rPr lang="en-US" sz="2000" dirty="0">
                <a:solidFill>
                  <a:srgbClr val="273239"/>
                </a:solidFill>
                <a:latin typeface="+mn-lt"/>
              </a:rPr>
              <a:t> </a:t>
            </a:r>
            <a:r>
              <a:rPr lang="en-US" sz="2000" dirty="0" err="1">
                <a:solidFill>
                  <a:srgbClr val="273239"/>
                </a:solidFill>
                <a:latin typeface="+mn-lt"/>
              </a:rPr>
              <a:t>jadval</a:t>
            </a:r>
            <a:r>
              <a:rPr lang="en-US" sz="2000" dirty="0">
                <a:solidFill>
                  <a:srgbClr val="273239"/>
                </a:solidFill>
                <a:latin typeface="+mn-lt"/>
              </a:rPr>
              <a:t> </a:t>
            </a:r>
            <a:r>
              <a:rPr lang="en-US" sz="2000" dirty="0" err="1">
                <a:solidFill>
                  <a:srgbClr val="273239"/>
                </a:solidFill>
                <a:latin typeface="+mn-lt"/>
              </a:rPr>
              <a:t>diskdagi</a:t>
            </a:r>
            <a:r>
              <a:rPr lang="en-US" sz="2000" dirty="0">
                <a:solidFill>
                  <a:srgbClr val="273239"/>
                </a:solidFill>
                <a:latin typeface="+mn-lt"/>
              </a:rPr>
              <a:t> </a:t>
            </a:r>
            <a:r>
              <a:rPr lang="en-US" sz="2000" dirty="0" err="1">
                <a:solidFill>
                  <a:srgbClr val="273239"/>
                </a:solidFill>
                <a:latin typeface="+mn-lt"/>
              </a:rPr>
              <a:t>har</a:t>
            </a:r>
            <a:r>
              <a:rPr lang="en-US" sz="2000" dirty="0">
                <a:solidFill>
                  <a:srgbClr val="273239"/>
                </a:solidFill>
                <a:latin typeface="+mn-lt"/>
              </a:rPr>
              <a:t> </a:t>
            </a:r>
            <a:r>
              <a:rPr lang="en-US" sz="2000" dirty="0" err="1">
                <a:solidFill>
                  <a:srgbClr val="273239"/>
                </a:solidFill>
                <a:latin typeface="+mn-lt"/>
              </a:rPr>
              <a:t>bir</a:t>
            </a:r>
            <a:r>
              <a:rPr lang="en-US" sz="2000" dirty="0">
                <a:solidFill>
                  <a:srgbClr val="273239"/>
                </a:solidFill>
                <a:latin typeface="+mn-lt"/>
              </a:rPr>
              <a:t> </a:t>
            </a:r>
            <a:r>
              <a:rPr lang="en-US" sz="2000" dirty="0" err="1">
                <a:solidFill>
                  <a:srgbClr val="273239"/>
                </a:solidFill>
                <a:latin typeface="+mn-lt"/>
              </a:rPr>
              <a:t>inode</a:t>
            </a:r>
            <a:r>
              <a:rPr lang="en-US" sz="2000" dirty="0">
                <a:solidFill>
                  <a:srgbClr val="273239"/>
                </a:solidFill>
                <a:latin typeface="+mn-lt"/>
              </a:rPr>
              <a:t> </a:t>
            </a:r>
            <a:r>
              <a:rPr lang="en-US" sz="2000" dirty="0" err="1">
                <a:solidFill>
                  <a:srgbClr val="273239"/>
                </a:solidFill>
                <a:latin typeface="+mn-lt"/>
              </a:rPr>
              <a:t>joylashishini</a:t>
            </a:r>
            <a:r>
              <a:rPr lang="en-US" sz="2000" dirty="0">
                <a:solidFill>
                  <a:srgbClr val="273239"/>
                </a:solidFill>
                <a:latin typeface="+mn-lt"/>
              </a:rPr>
              <a:t> </a:t>
            </a:r>
            <a:r>
              <a:rPr lang="en-US" sz="2000" dirty="0" err="1">
                <a:solidFill>
                  <a:srgbClr val="273239"/>
                </a:solidFill>
                <a:latin typeface="+mn-lt"/>
              </a:rPr>
              <a:t>ko'rsatadi</a:t>
            </a:r>
            <a:r>
              <a:rPr lang="en-US" sz="2000" dirty="0">
                <a:solidFill>
                  <a:srgbClr val="273239"/>
                </a:solidFill>
                <a:latin typeface="+mn-lt"/>
              </a:rPr>
              <a:t>. </a:t>
            </a:r>
            <a:r>
              <a:rPr lang="en-US" sz="2000" dirty="0" err="1">
                <a:solidFill>
                  <a:srgbClr val="273239"/>
                </a:solidFill>
                <a:latin typeface="+mn-lt"/>
              </a:rPr>
              <a:t>Inod</a:t>
            </a:r>
            <a:r>
              <a:rPr lang="en-US" sz="2000" dirty="0">
                <a:solidFill>
                  <a:srgbClr val="273239"/>
                </a:solidFill>
                <a:latin typeface="+mn-lt"/>
              </a:rPr>
              <a:t> </a:t>
            </a:r>
            <a:r>
              <a:rPr lang="en-US" sz="2000" dirty="0" err="1">
                <a:solidFill>
                  <a:srgbClr val="273239"/>
                </a:solidFill>
                <a:latin typeface="+mn-lt"/>
              </a:rPr>
              <a:t>xaritasi</a:t>
            </a:r>
            <a:r>
              <a:rPr lang="en-US" sz="2000" dirty="0">
                <a:solidFill>
                  <a:srgbClr val="273239"/>
                </a:solidFill>
                <a:latin typeface="+mn-lt"/>
              </a:rPr>
              <a:t> </a:t>
            </a:r>
            <a:r>
              <a:rPr lang="en-US" sz="2000" dirty="0" err="1">
                <a:solidFill>
                  <a:srgbClr val="273239"/>
                </a:solidFill>
                <a:latin typeface="+mn-lt"/>
              </a:rPr>
              <a:t>segmentning</a:t>
            </a:r>
            <a:r>
              <a:rPr lang="en-US" sz="2000" dirty="0">
                <a:solidFill>
                  <a:srgbClr val="273239"/>
                </a:solidFill>
                <a:latin typeface="+mn-lt"/>
              </a:rPr>
              <a:t> </a:t>
            </a:r>
            <a:r>
              <a:rPr lang="en-US" sz="2000" dirty="0" err="1">
                <a:solidFill>
                  <a:srgbClr val="273239"/>
                </a:solidFill>
                <a:latin typeface="+mn-lt"/>
              </a:rPr>
              <a:t>o'zida</a:t>
            </a:r>
            <a:r>
              <a:rPr lang="en-US" sz="2000" dirty="0">
                <a:solidFill>
                  <a:srgbClr val="273239"/>
                </a:solidFill>
                <a:latin typeface="+mn-lt"/>
              </a:rPr>
              <a:t> </a:t>
            </a:r>
            <a:r>
              <a:rPr lang="en-US" sz="2000" dirty="0" err="1">
                <a:solidFill>
                  <a:srgbClr val="273239"/>
                </a:solidFill>
                <a:latin typeface="+mn-lt"/>
              </a:rPr>
              <a:t>yozilgan</a:t>
            </a:r>
            <a:r>
              <a:rPr lang="en-US" sz="2000" dirty="0">
                <a:solidFill>
                  <a:srgbClr val="273239"/>
                </a:solidFill>
                <a:latin typeface="+mn-lt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273239"/>
                </a:solidFill>
                <a:latin typeface="+mn-lt"/>
              </a:rPr>
              <a:t>Segment </a:t>
            </a:r>
            <a:r>
              <a:rPr lang="en-US" sz="2000" b="1" dirty="0" err="1">
                <a:solidFill>
                  <a:srgbClr val="273239"/>
                </a:solidFill>
                <a:latin typeface="+mn-lt"/>
              </a:rPr>
              <a:t>xulosasi</a:t>
            </a:r>
            <a:r>
              <a:rPr lang="en-US" sz="2000" b="1" dirty="0">
                <a:solidFill>
                  <a:srgbClr val="273239"/>
                </a:solidFill>
                <a:latin typeface="+mn-lt"/>
              </a:rPr>
              <a:t>:</a:t>
            </a:r>
            <a:r>
              <a:rPr lang="en-US" sz="2000" dirty="0">
                <a:solidFill>
                  <a:srgbClr val="273239"/>
                </a:solidFill>
                <a:latin typeface="+mn-lt"/>
              </a:rPr>
              <a:t> Bu </a:t>
            </a:r>
            <a:r>
              <a:rPr lang="en-US" sz="2000" dirty="0" err="1">
                <a:solidFill>
                  <a:srgbClr val="273239"/>
                </a:solidFill>
                <a:latin typeface="+mn-lt"/>
              </a:rPr>
              <a:t>segmentdagi</a:t>
            </a:r>
            <a:r>
              <a:rPr lang="en-US" sz="2000" dirty="0">
                <a:solidFill>
                  <a:srgbClr val="273239"/>
                </a:solidFill>
                <a:latin typeface="+mn-lt"/>
              </a:rPr>
              <a:t> </a:t>
            </a:r>
            <a:r>
              <a:rPr lang="en-US" sz="2000" dirty="0" err="1">
                <a:solidFill>
                  <a:srgbClr val="273239"/>
                </a:solidFill>
                <a:latin typeface="+mn-lt"/>
              </a:rPr>
              <a:t>har</a:t>
            </a:r>
            <a:r>
              <a:rPr lang="en-US" sz="2000" dirty="0">
                <a:solidFill>
                  <a:srgbClr val="273239"/>
                </a:solidFill>
                <a:latin typeface="+mn-lt"/>
              </a:rPr>
              <a:t> </a:t>
            </a:r>
            <a:r>
              <a:rPr lang="en-US" sz="2000" dirty="0" err="1">
                <a:solidFill>
                  <a:srgbClr val="273239"/>
                </a:solidFill>
                <a:latin typeface="+mn-lt"/>
              </a:rPr>
              <a:t>bir</a:t>
            </a:r>
            <a:r>
              <a:rPr lang="en-US" sz="2000" dirty="0">
                <a:solidFill>
                  <a:srgbClr val="273239"/>
                </a:solidFill>
                <a:latin typeface="+mn-lt"/>
              </a:rPr>
              <a:t> </a:t>
            </a:r>
            <a:r>
              <a:rPr lang="en-US" sz="2000" dirty="0" err="1">
                <a:solidFill>
                  <a:srgbClr val="273239"/>
                </a:solidFill>
                <a:latin typeface="+mn-lt"/>
              </a:rPr>
              <a:t>blok</a:t>
            </a:r>
            <a:r>
              <a:rPr lang="en-US" sz="2000" dirty="0">
                <a:solidFill>
                  <a:srgbClr val="273239"/>
                </a:solidFill>
                <a:latin typeface="+mn-lt"/>
              </a:rPr>
              <a:t> </a:t>
            </a:r>
            <a:r>
              <a:rPr lang="en-US" sz="2000" dirty="0" err="1">
                <a:solidFill>
                  <a:srgbClr val="273239"/>
                </a:solidFill>
                <a:latin typeface="+mn-lt"/>
              </a:rPr>
              <a:t>haqidagi</a:t>
            </a:r>
            <a:r>
              <a:rPr lang="en-US" sz="2000" dirty="0">
                <a:solidFill>
                  <a:srgbClr val="273239"/>
                </a:solidFill>
                <a:latin typeface="+mn-lt"/>
              </a:rPr>
              <a:t> </a:t>
            </a:r>
            <a:r>
              <a:rPr lang="en-US" sz="2000" dirty="0" err="1">
                <a:solidFill>
                  <a:srgbClr val="273239"/>
                </a:solidFill>
                <a:latin typeface="+mn-lt"/>
              </a:rPr>
              <a:t>ma'lumotlarni</a:t>
            </a:r>
            <a:r>
              <a:rPr lang="en-US" sz="2000" dirty="0">
                <a:solidFill>
                  <a:srgbClr val="273239"/>
                </a:solidFill>
                <a:latin typeface="+mn-lt"/>
              </a:rPr>
              <a:t> </a:t>
            </a:r>
            <a:r>
              <a:rPr lang="en-US" sz="2000" dirty="0" err="1">
                <a:solidFill>
                  <a:srgbClr val="273239"/>
                </a:solidFill>
                <a:latin typeface="+mn-lt"/>
              </a:rPr>
              <a:t>saqlaydi</a:t>
            </a:r>
            <a:r>
              <a:rPr lang="en-US" sz="2000" dirty="0">
                <a:solidFill>
                  <a:srgbClr val="273239"/>
                </a:solidFill>
                <a:latin typeface="+mn-lt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 err="1">
                <a:solidFill>
                  <a:srgbClr val="273239"/>
                </a:solidFill>
                <a:latin typeface="+mn-lt"/>
              </a:rPr>
              <a:t>Segmentlardan</a:t>
            </a:r>
            <a:r>
              <a:rPr lang="en-US" sz="2000" b="1" dirty="0">
                <a:solidFill>
                  <a:srgbClr val="273239"/>
                </a:solidFill>
                <a:latin typeface="+mn-lt"/>
              </a:rPr>
              <a:t> </a:t>
            </a:r>
            <a:r>
              <a:rPr lang="en-US" sz="2000" b="1" dirty="0" err="1">
                <a:solidFill>
                  <a:srgbClr val="273239"/>
                </a:solidFill>
                <a:latin typeface="+mn-lt"/>
              </a:rPr>
              <a:t>foydalanish</a:t>
            </a:r>
            <a:r>
              <a:rPr lang="en-US" sz="2000" b="1" dirty="0">
                <a:solidFill>
                  <a:srgbClr val="273239"/>
                </a:solidFill>
                <a:latin typeface="+mn-lt"/>
              </a:rPr>
              <a:t> </a:t>
            </a:r>
            <a:r>
              <a:rPr lang="en-US" sz="2000" b="1" dirty="0" err="1">
                <a:solidFill>
                  <a:srgbClr val="273239"/>
                </a:solidFill>
                <a:latin typeface="+mn-lt"/>
              </a:rPr>
              <a:t>jadvali</a:t>
            </a:r>
            <a:r>
              <a:rPr lang="en-US" sz="2000" b="1" dirty="0">
                <a:solidFill>
                  <a:srgbClr val="273239"/>
                </a:solidFill>
                <a:latin typeface="+mn-lt"/>
              </a:rPr>
              <a:t>:</a:t>
            </a:r>
            <a:r>
              <a:rPr lang="en-US" sz="2000" dirty="0">
                <a:solidFill>
                  <a:srgbClr val="273239"/>
                </a:solidFill>
                <a:latin typeface="+mn-lt"/>
              </a:rPr>
              <a:t> Bu </a:t>
            </a:r>
            <a:r>
              <a:rPr lang="en-US" sz="2000" dirty="0" err="1">
                <a:solidFill>
                  <a:srgbClr val="273239"/>
                </a:solidFill>
                <a:latin typeface="+mn-lt"/>
              </a:rPr>
              <a:t>bizga</a:t>
            </a:r>
            <a:r>
              <a:rPr lang="en-US" sz="2000" dirty="0">
                <a:solidFill>
                  <a:srgbClr val="273239"/>
                </a:solidFill>
                <a:latin typeface="+mn-lt"/>
              </a:rPr>
              <a:t> </a:t>
            </a:r>
            <a:r>
              <a:rPr lang="en-US" sz="2000" dirty="0" err="1">
                <a:solidFill>
                  <a:srgbClr val="273239"/>
                </a:solidFill>
                <a:latin typeface="+mn-lt"/>
              </a:rPr>
              <a:t>blokdagi</a:t>
            </a:r>
            <a:r>
              <a:rPr lang="en-US" sz="2000" dirty="0">
                <a:solidFill>
                  <a:srgbClr val="273239"/>
                </a:solidFill>
                <a:latin typeface="+mn-lt"/>
              </a:rPr>
              <a:t> </a:t>
            </a:r>
            <a:r>
              <a:rPr lang="en-US" sz="2000" dirty="0" err="1">
                <a:solidFill>
                  <a:srgbClr val="273239"/>
                </a:solidFill>
                <a:latin typeface="+mn-lt"/>
              </a:rPr>
              <a:t>ma'lumotlar</a:t>
            </a:r>
            <a:r>
              <a:rPr lang="en-US" sz="2000" dirty="0">
                <a:solidFill>
                  <a:srgbClr val="273239"/>
                </a:solidFill>
                <a:latin typeface="+mn-lt"/>
              </a:rPr>
              <a:t> </a:t>
            </a:r>
            <a:r>
              <a:rPr lang="en-US" sz="2000" dirty="0" err="1">
                <a:solidFill>
                  <a:srgbClr val="273239"/>
                </a:solidFill>
                <a:latin typeface="+mn-lt"/>
              </a:rPr>
              <a:t>miqdorini</a:t>
            </a:r>
            <a:r>
              <a:rPr lang="en-US" sz="2000" dirty="0">
                <a:solidFill>
                  <a:srgbClr val="273239"/>
                </a:solidFill>
                <a:latin typeface="+mn-lt"/>
              </a:rPr>
              <a:t> </a:t>
            </a:r>
            <a:r>
              <a:rPr lang="en-US" sz="2000" dirty="0" err="1">
                <a:solidFill>
                  <a:srgbClr val="273239"/>
                </a:solidFill>
                <a:latin typeface="+mn-lt"/>
              </a:rPr>
              <a:t>bildiradi</a:t>
            </a:r>
            <a:r>
              <a:rPr lang="en-US" sz="2000" dirty="0">
                <a:solidFill>
                  <a:srgbClr val="273239"/>
                </a:solidFill>
                <a:latin typeface="+mn-lt"/>
              </a:rPr>
              <a:t>.</a:t>
            </a:r>
            <a:endParaRPr lang="en-US" sz="2000" b="0" i="0" dirty="0">
              <a:solidFill>
                <a:srgbClr val="273239"/>
              </a:solidFill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7605742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579863" y="615087"/>
            <a:ext cx="82296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Segment Cleaning</a:t>
            </a:r>
          </a:p>
          <a:p>
            <a:r>
              <a:rPr lang="en-US" dirty="0"/>
              <a:t>LFS </a:t>
            </a:r>
            <a:r>
              <a:rPr lang="en-US" dirty="0" err="1"/>
              <a:t>ning</a:t>
            </a:r>
            <a:r>
              <a:rPr lang="en-US" dirty="0"/>
              <a:t> </a:t>
            </a:r>
            <a:r>
              <a:rPr lang="en-US" dirty="0" err="1"/>
              <a:t>muhim</a:t>
            </a:r>
            <a:r>
              <a:rPr lang="en-US" dirty="0"/>
              <a:t> </a:t>
            </a:r>
            <a:r>
              <a:rPr lang="en-US" dirty="0" err="1"/>
              <a:t>nuqtasi</a:t>
            </a:r>
            <a:r>
              <a:rPr lang="en-US" dirty="0"/>
              <a:t> — </a:t>
            </a:r>
            <a:r>
              <a:rPr lang="en-US" b="1" dirty="0"/>
              <a:t>segment cleaning</a:t>
            </a:r>
            <a:r>
              <a:rPr lang="en-US" dirty="0"/>
              <a:t> (</a:t>
            </a:r>
            <a:r>
              <a:rPr lang="en-US" dirty="0" err="1"/>
              <a:t>tozalash</a:t>
            </a:r>
            <a:r>
              <a:rPr lang="en-US" dirty="0"/>
              <a:t>).</a:t>
            </a:r>
          </a:p>
          <a:p>
            <a:r>
              <a:rPr lang="en-US" dirty="0"/>
              <a:t>U </a:t>
            </a:r>
            <a:r>
              <a:rPr lang="en-US" dirty="0" err="1"/>
              <a:t>quyidagilarni</a:t>
            </a:r>
            <a:r>
              <a:rPr lang="en-US" dirty="0"/>
              <a:t> </a:t>
            </a:r>
            <a:r>
              <a:rPr lang="en-US" dirty="0" err="1"/>
              <a:t>bajaradi</a:t>
            </a:r>
            <a:r>
              <a:rPr lang="en-US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Logdagi</a:t>
            </a:r>
            <a:r>
              <a:rPr lang="en-US" dirty="0"/>
              <a:t> </a:t>
            </a:r>
            <a:r>
              <a:rPr lang="en-US" dirty="0" err="1"/>
              <a:t>keraksiz</a:t>
            </a:r>
            <a:r>
              <a:rPr lang="en-US" dirty="0"/>
              <a:t> (obsolete) </a:t>
            </a:r>
            <a:r>
              <a:rPr lang="en-US" dirty="0" err="1"/>
              <a:t>bloklarni</a:t>
            </a:r>
            <a:r>
              <a:rPr lang="en-US" dirty="0"/>
              <a:t> </a:t>
            </a:r>
            <a:r>
              <a:rPr lang="en-US" dirty="0" err="1"/>
              <a:t>aniqlash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Faqat</a:t>
            </a:r>
            <a:r>
              <a:rPr lang="en-US" dirty="0"/>
              <a:t> </a:t>
            </a:r>
            <a:r>
              <a:rPr lang="en-US" dirty="0" err="1"/>
              <a:t>amaldagi</a:t>
            </a:r>
            <a:r>
              <a:rPr lang="en-US" dirty="0"/>
              <a:t> (live) </a:t>
            </a:r>
            <a:r>
              <a:rPr lang="en-US" dirty="0" err="1"/>
              <a:t>bloklarni</a:t>
            </a:r>
            <a:r>
              <a:rPr lang="en-US" dirty="0"/>
              <a:t> </a:t>
            </a:r>
            <a:r>
              <a:rPr lang="en-US" dirty="0" err="1"/>
              <a:t>ajratish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Yangi</a:t>
            </a:r>
            <a:r>
              <a:rPr lang="en-US" dirty="0"/>
              <a:t> </a:t>
            </a:r>
            <a:r>
              <a:rPr lang="en-US" dirty="0" err="1"/>
              <a:t>segmentlarga</a:t>
            </a:r>
            <a:r>
              <a:rPr lang="en-US" dirty="0"/>
              <a:t> </a:t>
            </a:r>
            <a:r>
              <a:rPr lang="en-US" dirty="0" err="1"/>
              <a:t>qayta</a:t>
            </a:r>
            <a:r>
              <a:rPr lang="en-US" dirty="0"/>
              <a:t> </a:t>
            </a:r>
            <a:r>
              <a:rPr lang="en-US" dirty="0" err="1"/>
              <a:t>yozish</a:t>
            </a:r>
            <a:endParaRPr lang="en-US" dirty="0"/>
          </a:p>
          <a:p>
            <a:r>
              <a:rPr lang="en-US" dirty="0"/>
              <a:t>Bu </a:t>
            </a:r>
            <a:r>
              <a:rPr lang="en-US" dirty="0" err="1"/>
              <a:t>jarayon</a:t>
            </a:r>
            <a:r>
              <a:rPr lang="en-US" dirty="0"/>
              <a:t> </a:t>
            </a:r>
            <a:r>
              <a:rPr lang="en-US" dirty="0" err="1"/>
              <a:t>performancega</a:t>
            </a:r>
            <a:r>
              <a:rPr lang="en-US" dirty="0"/>
              <a:t> </a:t>
            </a:r>
            <a:r>
              <a:rPr lang="en-US" dirty="0" err="1"/>
              <a:t>ta’sir</a:t>
            </a:r>
            <a:r>
              <a:rPr lang="en-US" dirty="0"/>
              <a:t> </a:t>
            </a:r>
            <a:r>
              <a:rPr lang="en-US" dirty="0" err="1"/>
              <a:t>qiladi</a:t>
            </a:r>
            <a:r>
              <a:rPr lang="en-US" dirty="0"/>
              <a:t>, </a:t>
            </a:r>
            <a:r>
              <a:rPr lang="en-US" dirty="0" err="1"/>
              <a:t>lekin</a:t>
            </a:r>
            <a:r>
              <a:rPr lang="en-US" dirty="0"/>
              <a:t> </a:t>
            </a:r>
            <a:r>
              <a:rPr lang="en-US" dirty="0" err="1"/>
              <a:t>umumiy</a:t>
            </a:r>
            <a:r>
              <a:rPr lang="en-US" dirty="0"/>
              <a:t> </a:t>
            </a:r>
            <a:r>
              <a:rPr lang="en-US" dirty="0" err="1"/>
              <a:t>tizimni</a:t>
            </a:r>
            <a:r>
              <a:rPr lang="en-US" dirty="0"/>
              <a:t> </a:t>
            </a:r>
            <a:r>
              <a:rPr lang="en-US" dirty="0" err="1"/>
              <a:t>izchil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toza</a:t>
            </a:r>
            <a:r>
              <a:rPr lang="en-US" dirty="0"/>
              <a:t> </a:t>
            </a:r>
            <a:r>
              <a:rPr lang="en-US" dirty="0" err="1"/>
              <a:t>saqlaydi</a:t>
            </a:r>
            <a:r>
              <a:rPr lang="en-US" dirty="0"/>
              <a:t>.</a:t>
            </a: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8799" y="3018549"/>
            <a:ext cx="6291728" cy="3510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89361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680224" y="1142099"/>
            <a:ext cx="8218449" cy="12875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 err="1">
                <a:solidFill>
                  <a:srgbClr val="273239"/>
                </a:solidFill>
                <a:latin typeface="Nunito"/>
              </a:rPr>
              <a:t>Diskka</a:t>
            </a:r>
            <a:r>
              <a:rPr lang="en-US" b="1" dirty="0">
                <a:solidFill>
                  <a:srgbClr val="273239"/>
                </a:solidFill>
                <a:latin typeface="Nunito"/>
              </a:rPr>
              <a:t> </a:t>
            </a:r>
            <a:r>
              <a:rPr lang="en-US" b="1" dirty="0" err="1">
                <a:solidFill>
                  <a:srgbClr val="273239"/>
                </a:solidFill>
                <a:latin typeface="Nunito"/>
              </a:rPr>
              <a:t>ketma-ket</a:t>
            </a:r>
            <a:r>
              <a:rPr lang="en-US" b="1" dirty="0">
                <a:solidFill>
                  <a:srgbClr val="273239"/>
                </a:solidFill>
                <a:latin typeface="Nunito"/>
              </a:rPr>
              <a:t> </a:t>
            </a:r>
            <a:r>
              <a:rPr lang="en-US" b="1" dirty="0" err="1">
                <a:solidFill>
                  <a:srgbClr val="273239"/>
                </a:solidFill>
                <a:latin typeface="Nunito"/>
              </a:rPr>
              <a:t>yozish</a:t>
            </a:r>
            <a:r>
              <a:rPr lang="en-US" b="1" dirty="0">
                <a:solidFill>
                  <a:srgbClr val="273239"/>
                </a:solidFill>
                <a:latin typeface="Nunito"/>
              </a:rPr>
              <a:t>:</a:t>
            </a:r>
            <a:r>
              <a:rPr lang="en-US" dirty="0">
                <a:solidFill>
                  <a:srgbClr val="273239"/>
                </a:solidFill>
                <a:latin typeface="Nunito"/>
              </a:rPr>
              <a:t> </a:t>
            </a:r>
            <a:r>
              <a:rPr lang="en-US" dirty="0" smtClean="0">
                <a:solidFill>
                  <a:srgbClr val="273239"/>
                </a:solidFill>
                <a:latin typeface="Nunito"/>
              </a:rPr>
              <a:t> </a:t>
            </a:r>
            <a:r>
              <a:rPr lang="en-US" dirty="0" err="1">
                <a:solidFill>
                  <a:srgbClr val="273239"/>
                </a:solidFill>
                <a:latin typeface="Nunito"/>
              </a:rPr>
              <a:t>Ma'lumotlar</a:t>
            </a:r>
            <a:r>
              <a:rPr lang="en-US" dirty="0">
                <a:solidFill>
                  <a:srgbClr val="273239"/>
                </a:solidFill>
                <a:latin typeface="Nunito"/>
              </a:rPr>
              <a:t> </a:t>
            </a:r>
            <a:r>
              <a:rPr lang="en-US" dirty="0" err="1">
                <a:solidFill>
                  <a:srgbClr val="273239"/>
                </a:solidFill>
                <a:latin typeface="Nunito"/>
              </a:rPr>
              <a:t>bloki</a:t>
            </a:r>
            <a:r>
              <a:rPr lang="en-US" dirty="0">
                <a:solidFill>
                  <a:srgbClr val="273239"/>
                </a:solidFill>
                <a:latin typeface="Nunito"/>
              </a:rPr>
              <a:t> </a:t>
            </a:r>
            <a:r>
              <a:rPr lang="en-US" dirty="0" err="1">
                <a:solidFill>
                  <a:srgbClr val="273239"/>
                </a:solidFill>
                <a:latin typeface="Nunito"/>
              </a:rPr>
              <a:t>bilan</a:t>
            </a:r>
            <a:r>
              <a:rPr lang="en-US" dirty="0">
                <a:solidFill>
                  <a:srgbClr val="273239"/>
                </a:solidFill>
                <a:latin typeface="Nunito"/>
              </a:rPr>
              <a:t> </a:t>
            </a:r>
            <a:r>
              <a:rPr lang="en-US" dirty="0" err="1">
                <a:solidFill>
                  <a:srgbClr val="273239"/>
                </a:solidFill>
                <a:latin typeface="Nunito"/>
              </a:rPr>
              <a:t>bir</a:t>
            </a:r>
            <a:r>
              <a:rPr lang="en-US" dirty="0">
                <a:solidFill>
                  <a:srgbClr val="273239"/>
                </a:solidFill>
                <a:latin typeface="Nunito"/>
              </a:rPr>
              <a:t> </a:t>
            </a:r>
            <a:r>
              <a:rPr lang="en-US" dirty="0" err="1">
                <a:solidFill>
                  <a:srgbClr val="273239"/>
                </a:solidFill>
                <a:latin typeface="Nunito"/>
              </a:rPr>
              <a:t>qatorda</a:t>
            </a:r>
            <a:r>
              <a:rPr lang="en-US" dirty="0">
                <a:solidFill>
                  <a:srgbClr val="273239"/>
                </a:solidFill>
                <a:latin typeface="Nunito"/>
              </a:rPr>
              <a:t> D </a:t>
            </a:r>
            <a:r>
              <a:rPr lang="en-US" dirty="0" err="1">
                <a:solidFill>
                  <a:srgbClr val="273239"/>
                </a:solidFill>
                <a:latin typeface="Nunito"/>
              </a:rPr>
              <a:t>ma'lumotlar</a:t>
            </a:r>
            <a:r>
              <a:rPr lang="en-US" dirty="0">
                <a:solidFill>
                  <a:srgbClr val="273239"/>
                </a:solidFill>
                <a:latin typeface="Nunito"/>
              </a:rPr>
              <a:t> </a:t>
            </a:r>
            <a:r>
              <a:rPr lang="en-US" dirty="0" err="1">
                <a:solidFill>
                  <a:srgbClr val="273239"/>
                </a:solidFill>
                <a:latin typeface="Nunito"/>
              </a:rPr>
              <a:t>blokiga</a:t>
            </a:r>
            <a:r>
              <a:rPr lang="en-US" dirty="0">
                <a:solidFill>
                  <a:srgbClr val="273239"/>
                </a:solidFill>
                <a:latin typeface="Nunito"/>
              </a:rPr>
              <a:t> </a:t>
            </a:r>
            <a:r>
              <a:rPr lang="en-US" dirty="0" err="1">
                <a:solidFill>
                  <a:srgbClr val="273239"/>
                </a:solidFill>
                <a:latin typeface="Nunito"/>
              </a:rPr>
              <a:t>ishora</a:t>
            </a:r>
            <a:r>
              <a:rPr lang="en-US" dirty="0">
                <a:solidFill>
                  <a:srgbClr val="273239"/>
                </a:solidFill>
                <a:latin typeface="Nunito"/>
              </a:rPr>
              <a:t> </a:t>
            </a:r>
            <a:r>
              <a:rPr lang="en-US" dirty="0" err="1">
                <a:solidFill>
                  <a:srgbClr val="273239"/>
                </a:solidFill>
                <a:latin typeface="Nunito"/>
              </a:rPr>
              <a:t>qiluvchi</a:t>
            </a:r>
            <a:r>
              <a:rPr lang="en-US" dirty="0">
                <a:solidFill>
                  <a:srgbClr val="273239"/>
                </a:solidFill>
                <a:latin typeface="Nunito"/>
              </a:rPr>
              <a:t> </a:t>
            </a:r>
            <a:r>
              <a:rPr lang="en-US" dirty="0" err="1">
                <a:solidFill>
                  <a:srgbClr val="273239"/>
                </a:solidFill>
                <a:latin typeface="Nunito"/>
              </a:rPr>
              <a:t>inode</a:t>
            </a:r>
            <a:r>
              <a:rPr lang="en-US" dirty="0">
                <a:solidFill>
                  <a:srgbClr val="273239"/>
                </a:solidFill>
                <a:latin typeface="Nunito"/>
              </a:rPr>
              <a:t> </a:t>
            </a:r>
            <a:r>
              <a:rPr lang="en-US" dirty="0" err="1">
                <a:solidFill>
                  <a:srgbClr val="273239"/>
                </a:solidFill>
                <a:latin typeface="Nunito"/>
              </a:rPr>
              <a:t>mavjud</a:t>
            </a:r>
            <a:r>
              <a:rPr lang="en-US" dirty="0">
                <a:solidFill>
                  <a:srgbClr val="273239"/>
                </a:solidFill>
                <a:latin typeface="Nunito"/>
              </a:rPr>
              <a:t>. </a:t>
            </a:r>
            <a:r>
              <a:rPr lang="en-US" dirty="0" err="1">
                <a:solidFill>
                  <a:srgbClr val="273239"/>
                </a:solidFill>
                <a:latin typeface="Nunito"/>
              </a:rPr>
              <a:t>Odatda</a:t>
            </a:r>
            <a:r>
              <a:rPr lang="en-US" dirty="0">
                <a:solidFill>
                  <a:srgbClr val="273239"/>
                </a:solidFill>
                <a:latin typeface="Nunito"/>
              </a:rPr>
              <a:t>, </a:t>
            </a:r>
            <a:r>
              <a:rPr lang="en-US" dirty="0" err="1">
                <a:solidFill>
                  <a:srgbClr val="273239"/>
                </a:solidFill>
                <a:latin typeface="Nunito"/>
              </a:rPr>
              <a:t>ma'lumotlar</a:t>
            </a:r>
            <a:r>
              <a:rPr lang="en-US" dirty="0">
                <a:solidFill>
                  <a:srgbClr val="273239"/>
                </a:solidFill>
                <a:latin typeface="Nunito"/>
              </a:rPr>
              <a:t> </a:t>
            </a:r>
            <a:r>
              <a:rPr lang="en-US" dirty="0" err="1">
                <a:solidFill>
                  <a:srgbClr val="273239"/>
                </a:solidFill>
                <a:latin typeface="Nunito"/>
              </a:rPr>
              <a:t>bloklari</a:t>
            </a:r>
            <a:r>
              <a:rPr lang="en-US" dirty="0">
                <a:solidFill>
                  <a:srgbClr val="273239"/>
                </a:solidFill>
                <a:latin typeface="Nunito"/>
              </a:rPr>
              <a:t> 4 KB, </a:t>
            </a:r>
            <a:r>
              <a:rPr lang="en-US" dirty="0" err="1">
                <a:solidFill>
                  <a:srgbClr val="273239"/>
                </a:solidFill>
                <a:latin typeface="Nunito"/>
              </a:rPr>
              <a:t>inode</a:t>
            </a:r>
            <a:r>
              <a:rPr lang="en-US" dirty="0">
                <a:solidFill>
                  <a:srgbClr val="273239"/>
                </a:solidFill>
                <a:latin typeface="Nunito"/>
              </a:rPr>
              <a:t> </a:t>
            </a:r>
            <a:r>
              <a:rPr lang="en-US" dirty="0" err="1">
                <a:solidFill>
                  <a:srgbClr val="273239"/>
                </a:solidFill>
                <a:latin typeface="Nunito"/>
              </a:rPr>
              <a:t>esa</a:t>
            </a:r>
            <a:r>
              <a:rPr lang="en-US" dirty="0">
                <a:solidFill>
                  <a:srgbClr val="273239"/>
                </a:solidFill>
                <a:latin typeface="Nunito"/>
              </a:rPr>
              <a:t> </a:t>
            </a:r>
            <a:r>
              <a:rPr lang="en-US" dirty="0" err="1">
                <a:solidFill>
                  <a:srgbClr val="273239"/>
                </a:solidFill>
                <a:latin typeface="Nunito"/>
              </a:rPr>
              <a:t>taxminan</a:t>
            </a:r>
            <a:r>
              <a:rPr lang="en-US" dirty="0">
                <a:solidFill>
                  <a:srgbClr val="273239"/>
                </a:solidFill>
                <a:latin typeface="Nunito"/>
              </a:rPr>
              <a:t> 128 </a:t>
            </a:r>
            <a:r>
              <a:rPr lang="en-US" dirty="0" err="1">
                <a:solidFill>
                  <a:srgbClr val="273239"/>
                </a:solidFill>
                <a:latin typeface="Nunito"/>
              </a:rPr>
              <a:t>bayt</a:t>
            </a:r>
            <a:r>
              <a:rPr lang="en-US" dirty="0">
                <a:solidFill>
                  <a:srgbClr val="273239"/>
                </a:solidFill>
                <a:latin typeface="Nunito"/>
              </a:rPr>
              <a:t> </a:t>
            </a:r>
            <a:r>
              <a:rPr lang="en-US" dirty="0" err="1">
                <a:solidFill>
                  <a:srgbClr val="273239"/>
                </a:solidFill>
                <a:latin typeface="Nunito"/>
              </a:rPr>
              <a:t>o'lchamda</a:t>
            </a:r>
            <a:r>
              <a:rPr lang="en-US" dirty="0">
                <a:solidFill>
                  <a:srgbClr val="273239"/>
                </a:solidFill>
                <a:latin typeface="Nunito"/>
              </a:rPr>
              <a:t>.</a:t>
            </a:r>
            <a:endParaRPr lang="ru-RU" dirty="0"/>
          </a:p>
        </p:txBody>
      </p:sp>
      <p:pic>
        <p:nvPicPr>
          <p:cNvPr id="6146" name="Picture 2" descr="Lightbox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5140" y="3601844"/>
            <a:ext cx="6578105" cy="1326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799016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301081" y="417467"/>
            <a:ext cx="8564137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>
                <a:solidFill>
                  <a:srgbClr val="273239"/>
                </a:solidFill>
                <a:latin typeface="Nunito"/>
              </a:rPr>
              <a:t>Diskka</a:t>
            </a:r>
            <a:r>
              <a:rPr lang="en-US" b="1" dirty="0">
                <a:solidFill>
                  <a:srgbClr val="273239"/>
                </a:solidFill>
                <a:latin typeface="Nunito"/>
              </a:rPr>
              <a:t> </a:t>
            </a:r>
            <a:r>
              <a:rPr lang="en-US" b="1" dirty="0" err="1">
                <a:solidFill>
                  <a:srgbClr val="273239"/>
                </a:solidFill>
                <a:latin typeface="Nunito"/>
              </a:rPr>
              <a:t>samarali</a:t>
            </a:r>
            <a:r>
              <a:rPr lang="en-US" b="1" dirty="0">
                <a:solidFill>
                  <a:srgbClr val="273239"/>
                </a:solidFill>
                <a:latin typeface="Nunito"/>
              </a:rPr>
              <a:t> </a:t>
            </a:r>
            <a:r>
              <a:rPr lang="en-US" b="1" dirty="0" err="1">
                <a:solidFill>
                  <a:srgbClr val="273239"/>
                </a:solidFill>
                <a:latin typeface="Nunito"/>
              </a:rPr>
              <a:t>ketma-ket</a:t>
            </a:r>
            <a:r>
              <a:rPr lang="en-US" b="1" dirty="0">
                <a:solidFill>
                  <a:srgbClr val="273239"/>
                </a:solidFill>
                <a:latin typeface="Nunito"/>
              </a:rPr>
              <a:t> </a:t>
            </a:r>
            <a:r>
              <a:rPr lang="en-US" b="1" dirty="0" err="1">
                <a:solidFill>
                  <a:srgbClr val="273239"/>
                </a:solidFill>
                <a:latin typeface="Nunito"/>
              </a:rPr>
              <a:t>yozish</a:t>
            </a:r>
            <a:r>
              <a:rPr lang="en-US" b="1" dirty="0">
                <a:solidFill>
                  <a:srgbClr val="273239"/>
                </a:solidFill>
                <a:latin typeface="Nunito"/>
              </a:rPr>
              <a:t>:</a:t>
            </a:r>
            <a:r>
              <a:rPr lang="en-US" dirty="0">
                <a:solidFill>
                  <a:srgbClr val="273239"/>
                </a:solidFill>
                <a:latin typeface="Nunito"/>
              </a:rPr>
              <a:t> </a:t>
            </a:r>
            <a:r>
              <a:rPr lang="en-US" dirty="0" err="1">
                <a:solidFill>
                  <a:srgbClr val="273239"/>
                </a:solidFill>
                <a:latin typeface="Nunito"/>
              </a:rPr>
              <a:t>Biroq</a:t>
            </a:r>
            <a:r>
              <a:rPr lang="en-US" dirty="0">
                <a:solidFill>
                  <a:srgbClr val="273239"/>
                </a:solidFill>
                <a:latin typeface="Nunito"/>
              </a:rPr>
              <a:t>, </a:t>
            </a:r>
            <a:r>
              <a:rPr lang="en-US" dirty="0" err="1">
                <a:solidFill>
                  <a:srgbClr val="273239"/>
                </a:solidFill>
                <a:latin typeface="Nunito"/>
              </a:rPr>
              <a:t>samaradorlikka</a:t>
            </a:r>
            <a:r>
              <a:rPr lang="en-US" dirty="0">
                <a:solidFill>
                  <a:srgbClr val="273239"/>
                </a:solidFill>
                <a:latin typeface="Nunito"/>
              </a:rPr>
              <a:t> </a:t>
            </a:r>
            <a:r>
              <a:rPr lang="en-US" dirty="0" err="1">
                <a:solidFill>
                  <a:srgbClr val="273239"/>
                </a:solidFill>
                <a:latin typeface="Nunito"/>
              </a:rPr>
              <a:t>erishish</a:t>
            </a:r>
            <a:r>
              <a:rPr lang="en-US" dirty="0">
                <a:solidFill>
                  <a:srgbClr val="273239"/>
                </a:solidFill>
                <a:latin typeface="Nunito"/>
              </a:rPr>
              <a:t> </a:t>
            </a:r>
            <a:r>
              <a:rPr lang="en-US" dirty="0" err="1">
                <a:solidFill>
                  <a:srgbClr val="273239"/>
                </a:solidFill>
                <a:latin typeface="Nunito"/>
              </a:rPr>
              <a:t>uchun</a:t>
            </a:r>
            <a:r>
              <a:rPr lang="en-US" dirty="0">
                <a:solidFill>
                  <a:srgbClr val="273239"/>
                </a:solidFill>
                <a:latin typeface="Nunito"/>
              </a:rPr>
              <a:t> </a:t>
            </a:r>
            <a:r>
              <a:rPr lang="en-US" dirty="0" err="1">
                <a:solidFill>
                  <a:srgbClr val="273239"/>
                </a:solidFill>
                <a:latin typeface="Nunito"/>
              </a:rPr>
              <a:t>shunchaki</a:t>
            </a:r>
            <a:r>
              <a:rPr lang="en-US" dirty="0">
                <a:solidFill>
                  <a:srgbClr val="273239"/>
                </a:solidFill>
                <a:latin typeface="Nunito"/>
              </a:rPr>
              <a:t> </a:t>
            </a:r>
            <a:r>
              <a:rPr lang="en-US" dirty="0" err="1">
                <a:solidFill>
                  <a:srgbClr val="273239"/>
                </a:solidFill>
                <a:latin typeface="Nunito"/>
              </a:rPr>
              <a:t>diskka</a:t>
            </a:r>
            <a:r>
              <a:rPr lang="en-US" dirty="0">
                <a:solidFill>
                  <a:srgbClr val="273239"/>
                </a:solidFill>
                <a:latin typeface="Nunito"/>
              </a:rPr>
              <a:t> </a:t>
            </a:r>
            <a:r>
              <a:rPr lang="en-US" dirty="0" err="1">
                <a:solidFill>
                  <a:srgbClr val="273239"/>
                </a:solidFill>
                <a:latin typeface="Nunito"/>
              </a:rPr>
              <a:t>ketma-ket</a:t>
            </a:r>
            <a:r>
              <a:rPr lang="en-US" dirty="0">
                <a:solidFill>
                  <a:srgbClr val="273239"/>
                </a:solidFill>
                <a:latin typeface="Nunito"/>
              </a:rPr>
              <a:t> </a:t>
            </a:r>
            <a:r>
              <a:rPr lang="en-US" dirty="0" err="1">
                <a:solidFill>
                  <a:srgbClr val="273239"/>
                </a:solidFill>
                <a:latin typeface="Nunito"/>
              </a:rPr>
              <a:t>yozish</a:t>
            </a:r>
            <a:r>
              <a:rPr lang="en-US" dirty="0">
                <a:solidFill>
                  <a:srgbClr val="273239"/>
                </a:solidFill>
                <a:latin typeface="Nunito"/>
              </a:rPr>
              <a:t> </a:t>
            </a:r>
            <a:r>
              <a:rPr lang="en-US" dirty="0" err="1">
                <a:solidFill>
                  <a:srgbClr val="273239"/>
                </a:solidFill>
                <a:latin typeface="Nunito"/>
              </a:rPr>
              <a:t>etarli</a:t>
            </a:r>
            <a:r>
              <a:rPr lang="en-US" dirty="0">
                <a:solidFill>
                  <a:srgbClr val="273239"/>
                </a:solidFill>
                <a:latin typeface="Nunito"/>
              </a:rPr>
              <a:t> </a:t>
            </a:r>
            <a:r>
              <a:rPr lang="en-US" dirty="0" err="1">
                <a:solidFill>
                  <a:srgbClr val="273239"/>
                </a:solidFill>
                <a:latin typeface="Nunito"/>
              </a:rPr>
              <a:t>emas</a:t>
            </a:r>
            <a:r>
              <a:rPr lang="en-US" dirty="0">
                <a:solidFill>
                  <a:srgbClr val="273239"/>
                </a:solidFill>
                <a:latin typeface="Nunito"/>
              </a:rPr>
              <a:t>. </a:t>
            </a:r>
            <a:r>
              <a:rPr lang="en-US" dirty="0" err="1">
                <a:solidFill>
                  <a:srgbClr val="273239"/>
                </a:solidFill>
                <a:latin typeface="Nunito"/>
              </a:rPr>
              <a:t>Muammoni</a:t>
            </a:r>
            <a:r>
              <a:rPr lang="en-US" dirty="0">
                <a:solidFill>
                  <a:srgbClr val="273239"/>
                </a:solidFill>
                <a:latin typeface="Nunito"/>
              </a:rPr>
              <a:t> </a:t>
            </a:r>
            <a:r>
              <a:rPr lang="en-US" dirty="0" err="1">
                <a:solidFill>
                  <a:srgbClr val="273239"/>
                </a:solidFill>
                <a:latin typeface="Nunito"/>
              </a:rPr>
              <a:t>tushunish</a:t>
            </a:r>
            <a:r>
              <a:rPr lang="en-US" dirty="0">
                <a:solidFill>
                  <a:srgbClr val="273239"/>
                </a:solidFill>
                <a:latin typeface="Nunito"/>
              </a:rPr>
              <a:t> </a:t>
            </a:r>
            <a:r>
              <a:rPr lang="en-US" dirty="0" err="1">
                <a:solidFill>
                  <a:srgbClr val="273239"/>
                </a:solidFill>
                <a:latin typeface="Nunito"/>
              </a:rPr>
              <a:t>uchun</a:t>
            </a:r>
            <a:r>
              <a:rPr lang="en-US" dirty="0">
                <a:solidFill>
                  <a:srgbClr val="273239"/>
                </a:solidFill>
                <a:latin typeface="Nunito"/>
              </a:rPr>
              <a:t> biz T </a:t>
            </a:r>
            <a:r>
              <a:rPr lang="en-US" dirty="0" err="1">
                <a:solidFill>
                  <a:srgbClr val="273239"/>
                </a:solidFill>
                <a:latin typeface="Nunito"/>
              </a:rPr>
              <a:t>vaqtida</a:t>
            </a:r>
            <a:r>
              <a:rPr lang="en-US" dirty="0">
                <a:solidFill>
                  <a:srgbClr val="273239"/>
                </a:solidFill>
                <a:latin typeface="Nunito"/>
              </a:rPr>
              <a:t> A0 </a:t>
            </a:r>
            <a:r>
              <a:rPr lang="en-US" dirty="0" err="1">
                <a:solidFill>
                  <a:srgbClr val="273239"/>
                </a:solidFill>
                <a:latin typeface="Nunito"/>
              </a:rPr>
              <a:t>manziliga</a:t>
            </a:r>
            <a:r>
              <a:rPr lang="en-US" dirty="0">
                <a:solidFill>
                  <a:srgbClr val="273239"/>
                </a:solidFill>
                <a:latin typeface="Nunito"/>
              </a:rPr>
              <a:t> D </a:t>
            </a:r>
            <a:r>
              <a:rPr lang="en-US" dirty="0" err="1">
                <a:solidFill>
                  <a:srgbClr val="273239"/>
                </a:solidFill>
                <a:latin typeface="Nunito"/>
              </a:rPr>
              <a:t>ma'lumotlar</a:t>
            </a:r>
            <a:r>
              <a:rPr lang="en-US" dirty="0">
                <a:solidFill>
                  <a:srgbClr val="273239"/>
                </a:solidFill>
                <a:latin typeface="Nunito"/>
              </a:rPr>
              <a:t> </a:t>
            </a:r>
            <a:r>
              <a:rPr lang="en-US" dirty="0" err="1">
                <a:solidFill>
                  <a:srgbClr val="273239"/>
                </a:solidFill>
                <a:latin typeface="Nunito"/>
              </a:rPr>
              <a:t>blokini</a:t>
            </a:r>
            <a:r>
              <a:rPr lang="en-US" dirty="0">
                <a:solidFill>
                  <a:srgbClr val="273239"/>
                </a:solidFill>
                <a:latin typeface="Nunito"/>
              </a:rPr>
              <a:t> </a:t>
            </a:r>
            <a:r>
              <a:rPr lang="en-US" dirty="0" err="1">
                <a:solidFill>
                  <a:srgbClr val="273239"/>
                </a:solidFill>
                <a:latin typeface="Nunito"/>
              </a:rPr>
              <a:t>yozganimizni</a:t>
            </a:r>
            <a:r>
              <a:rPr lang="en-US" dirty="0">
                <a:solidFill>
                  <a:srgbClr val="273239"/>
                </a:solidFill>
                <a:latin typeface="Nunito"/>
              </a:rPr>
              <a:t> </a:t>
            </a:r>
            <a:r>
              <a:rPr lang="en-US" dirty="0" err="1">
                <a:solidFill>
                  <a:srgbClr val="273239"/>
                </a:solidFill>
                <a:latin typeface="Nunito"/>
              </a:rPr>
              <a:t>ko'rib</a:t>
            </a:r>
            <a:r>
              <a:rPr lang="en-US" dirty="0">
                <a:solidFill>
                  <a:srgbClr val="273239"/>
                </a:solidFill>
                <a:latin typeface="Nunito"/>
              </a:rPr>
              <a:t> </a:t>
            </a:r>
            <a:r>
              <a:rPr lang="en-US" dirty="0" err="1">
                <a:solidFill>
                  <a:srgbClr val="273239"/>
                </a:solidFill>
                <a:latin typeface="Nunito"/>
              </a:rPr>
              <a:t>chiqaylik</a:t>
            </a:r>
            <a:r>
              <a:rPr lang="en-US" dirty="0">
                <a:solidFill>
                  <a:srgbClr val="273239"/>
                </a:solidFill>
                <a:latin typeface="Nunito"/>
              </a:rPr>
              <a:t>. </a:t>
            </a:r>
            <a:r>
              <a:rPr lang="en-US" dirty="0" err="1">
                <a:solidFill>
                  <a:srgbClr val="273239"/>
                </a:solidFill>
                <a:latin typeface="Nunito"/>
              </a:rPr>
              <a:t>Endi</a:t>
            </a:r>
            <a:r>
              <a:rPr lang="en-US" dirty="0">
                <a:solidFill>
                  <a:srgbClr val="273239"/>
                </a:solidFill>
                <a:latin typeface="Nunito"/>
              </a:rPr>
              <a:t> biz A0+1 </a:t>
            </a:r>
            <a:r>
              <a:rPr lang="en-US" dirty="0" err="1">
                <a:solidFill>
                  <a:srgbClr val="273239"/>
                </a:solidFill>
                <a:latin typeface="Nunito"/>
              </a:rPr>
              <a:t>ga</a:t>
            </a:r>
            <a:r>
              <a:rPr lang="en-US" dirty="0">
                <a:solidFill>
                  <a:srgbClr val="273239"/>
                </a:solidFill>
                <a:latin typeface="Nunito"/>
              </a:rPr>
              <a:t> </a:t>
            </a:r>
            <a:r>
              <a:rPr lang="en-US" dirty="0" err="1">
                <a:solidFill>
                  <a:srgbClr val="273239"/>
                </a:solidFill>
                <a:latin typeface="Nunito"/>
              </a:rPr>
              <a:t>yoziladigan</a:t>
            </a:r>
            <a:r>
              <a:rPr lang="en-US" dirty="0">
                <a:solidFill>
                  <a:srgbClr val="273239"/>
                </a:solidFill>
                <a:latin typeface="Nunito"/>
              </a:rPr>
              <a:t> </a:t>
            </a:r>
            <a:r>
              <a:rPr lang="en-US" dirty="0" err="1">
                <a:solidFill>
                  <a:srgbClr val="273239"/>
                </a:solidFill>
                <a:latin typeface="Nunito"/>
              </a:rPr>
              <a:t>T+t</a:t>
            </a:r>
            <a:r>
              <a:rPr lang="en-US" dirty="0">
                <a:solidFill>
                  <a:srgbClr val="273239"/>
                </a:solidFill>
                <a:latin typeface="Nunito"/>
              </a:rPr>
              <a:t> </a:t>
            </a:r>
            <a:r>
              <a:rPr lang="en-US" dirty="0" err="1">
                <a:solidFill>
                  <a:srgbClr val="273239"/>
                </a:solidFill>
                <a:latin typeface="Nunito"/>
              </a:rPr>
              <a:t>vaqtida</a:t>
            </a:r>
            <a:r>
              <a:rPr lang="en-US" dirty="0">
                <a:solidFill>
                  <a:srgbClr val="273239"/>
                </a:solidFill>
                <a:latin typeface="Nunito"/>
              </a:rPr>
              <a:t> </a:t>
            </a:r>
            <a:r>
              <a:rPr lang="en-US" dirty="0" err="1">
                <a:solidFill>
                  <a:srgbClr val="273239"/>
                </a:solidFill>
                <a:latin typeface="Nunito"/>
              </a:rPr>
              <a:t>keyingi</a:t>
            </a:r>
            <a:r>
              <a:rPr lang="en-US" dirty="0">
                <a:solidFill>
                  <a:srgbClr val="273239"/>
                </a:solidFill>
                <a:latin typeface="Nunito"/>
              </a:rPr>
              <a:t> </a:t>
            </a:r>
            <a:r>
              <a:rPr lang="en-US" dirty="0" err="1">
                <a:solidFill>
                  <a:srgbClr val="273239"/>
                </a:solidFill>
                <a:latin typeface="Nunito"/>
              </a:rPr>
              <a:t>ma'lumotlar</a:t>
            </a:r>
            <a:r>
              <a:rPr lang="en-US" dirty="0">
                <a:solidFill>
                  <a:srgbClr val="273239"/>
                </a:solidFill>
                <a:latin typeface="Nunito"/>
              </a:rPr>
              <a:t> </a:t>
            </a:r>
            <a:r>
              <a:rPr lang="en-US" dirty="0" err="1">
                <a:solidFill>
                  <a:srgbClr val="273239"/>
                </a:solidFill>
                <a:latin typeface="Nunito"/>
              </a:rPr>
              <a:t>blokini</a:t>
            </a:r>
            <a:r>
              <a:rPr lang="en-US" dirty="0">
                <a:solidFill>
                  <a:srgbClr val="273239"/>
                </a:solidFill>
                <a:latin typeface="Nunito"/>
              </a:rPr>
              <a:t> </a:t>
            </a:r>
            <a:r>
              <a:rPr lang="en-US" dirty="0" err="1">
                <a:solidFill>
                  <a:srgbClr val="273239"/>
                </a:solidFill>
                <a:latin typeface="Nunito"/>
              </a:rPr>
              <a:t>olganimizda</a:t>
            </a:r>
            <a:r>
              <a:rPr lang="en-US" dirty="0">
                <a:solidFill>
                  <a:srgbClr val="273239"/>
                </a:solidFill>
                <a:latin typeface="Nunito"/>
              </a:rPr>
              <a:t>, disk </a:t>
            </a:r>
            <a:r>
              <a:rPr lang="en-US" dirty="0" err="1">
                <a:solidFill>
                  <a:srgbClr val="273239"/>
                </a:solidFill>
                <a:latin typeface="Nunito"/>
              </a:rPr>
              <a:t>allaqachon</a:t>
            </a:r>
            <a:r>
              <a:rPr lang="en-US" dirty="0">
                <a:solidFill>
                  <a:srgbClr val="273239"/>
                </a:solidFill>
                <a:latin typeface="Nunito"/>
              </a:rPr>
              <a:t> </a:t>
            </a:r>
            <a:r>
              <a:rPr lang="en-US" dirty="0" err="1">
                <a:solidFill>
                  <a:srgbClr val="273239"/>
                </a:solidFill>
                <a:latin typeface="Nunito"/>
              </a:rPr>
              <a:t>bir</a:t>
            </a:r>
            <a:r>
              <a:rPr lang="en-US" dirty="0">
                <a:solidFill>
                  <a:srgbClr val="273239"/>
                </a:solidFill>
                <a:latin typeface="Nunito"/>
              </a:rPr>
              <a:t> </a:t>
            </a:r>
            <a:r>
              <a:rPr lang="en-US" dirty="0" err="1">
                <a:solidFill>
                  <a:srgbClr val="273239"/>
                </a:solidFill>
                <a:latin typeface="Nunito"/>
              </a:rPr>
              <a:t>necha</a:t>
            </a:r>
            <a:r>
              <a:rPr lang="en-US" dirty="0">
                <a:solidFill>
                  <a:srgbClr val="273239"/>
                </a:solidFill>
                <a:latin typeface="Nunito"/>
              </a:rPr>
              <a:t> </a:t>
            </a:r>
            <a:r>
              <a:rPr lang="en-US" dirty="0" err="1">
                <a:solidFill>
                  <a:srgbClr val="273239"/>
                </a:solidFill>
                <a:latin typeface="Nunito"/>
              </a:rPr>
              <a:t>marta</a:t>
            </a:r>
            <a:r>
              <a:rPr lang="en-US" dirty="0">
                <a:solidFill>
                  <a:srgbClr val="273239"/>
                </a:solidFill>
                <a:latin typeface="Nunito"/>
              </a:rPr>
              <a:t> </a:t>
            </a:r>
            <a:r>
              <a:rPr lang="en-US" dirty="0" err="1">
                <a:solidFill>
                  <a:srgbClr val="273239"/>
                </a:solidFill>
                <a:latin typeface="Nunito"/>
              </a:rPr>
              <a:t>aylangan.</a:t>
            </a:r>
            <a:r>
              <a:rPr lang="en-US" dirty="0" err="1">
                <a:latin typeface="KaTeX_Main"/>
              </a:rPr>
              <a:t>d</a:t>
            </a:r>
            <a:r>
              <a:rPr lang="en-US" i="1" dirty="0" err="1">
                <a:latin typeface="KaTeX_Math"/>
              </a:rPr>
              <a:t>d</a:t>
            </a:r>
            <a:r>
              <a:rPr lang="en-US" dirty="0" err="1">
                <a:solidFill>
                  <a:srgbClr val="273239"/>
                </a:solidFill>
                <a:latin typeface="Nunito"/>
              </a:rPr>
              <a:t>birliklar</a:t>
            </a:r>
            <a:r>
              <a:rPr lang="en-US" dirty="0">
                <a:solidFill>
                  <a:srgbClr val="273239"/>
                </a:solidFill>
                <a:latin typeface="Nunito"/>
              </a:rPr>
              <a:t>. Agar </a:t>
            </a:r>
            <a:r>
              <a:rPr lang="en-US" dirty="0" err="1">
                <a:solidFill>
                  <a:srgbClr val="273239"/>
                </a:solidFill>
                <a:latin typeface="Nunito"/>
              </a:rPr>
              <a:t>diskning</a:t>
            </a:r>
            <a:r>
              <a:rPr lang="en-US" dirty="0">
                <a:solidFill>
                  <a:srgbClr val="273239"/>
                </a:solidFill>
                <a:latin typeface="Nunito"/>
              </a:rPr>
              <a:t> </a:t>
            </a:r>
            <a:r>
              <a:rPr lang="en-US" dirty="0" err="1">
                <a:solidFill>
                  <a:srgbClr val="273239"/>
                </a:solidFill>
                <a:latin typeface="Nunito"/>
              </a:rPr>
              <a:t>aylanish</a:t>
            </a:r>
            <a:r>
              <a:rPr lang="en-US" dirty="0">
                <a:solidFill>
                  <a:srgbClr val="273239"/>
                </a:solidFill>
                <a:latin typeface="Nunito"/>
              </a:rPr>
              <a:t> </a:t>
            </a:r>
            <a:r>
              <a:rPr lang="en-US" dirty="0" err="1">
                <a:solidFill>
                  <a:srgbClr val="273239"/>
                </a:solidFill>
                <a:latin typeface="Nunito"/>
              </a:rPr>
              <a:t>vaqti</a:t>
            </a:r>
            <a:r>
              <a:rPr lang="en-US" dirty="0">
                <a:solidFill>
                  <a:srgbClr val="273239"/>
                </a:solidFill>
                <a:latin typeface="Nunito"/>
              </a:rPr>
              <a:t> </a:t>
            </a:r>
            <a:r>
              <a:rPr lang="en-US" dirty="0" err="1">
                <a:solidFill>
                  <a:srgbClr val="273239"/>
                </a:solidFill>
                <a:latin typeface="Nunito"/>
              </a:rPr>
              <a:t>bo'lsa</a:t>
            </a:r>
            <a:r>
              <a:rPr lang="en-US" dirty="0" err="1">
                <a:latin typeface="KaTeX_Main"/>
              </a:rPr>
              <a:t>Trot</a:t>
            </a:r>
            <a:r>
              <a:rPr lang="en-US" i="1" dirty="0" err="1">
                <a:latin typeface="KaTeX_Math"/>
              </a:rPr>
              <a:t>Tro</a:t>
            </a:r>
            <a:r>
              <a:rPr lang="en-US" i="1" dirty="0">
                <a:latin typeface="KaTeX_Math"/>
              </a:rPr>
              <a:t> t</a:t>
            </a:r>
            <a:r>
              <a:rPr lang="en-US" dirty="0">
                <a:latin typeface="KaTeX_Main"/>
              </a:rPr>
              <a:t>.</a:t>
            </a:r>
            <a:r>
              <a:rPr lang="en-US" dirty="0">
                <a:solidFill>
                  <a:srgbClr val="273239"/>
                </a:solidFill>
                <a:latin typeface="Nunito"/>
              </a:rPr>
              <a:t>, biz </a:t>
            </a:r>
            <a:r>
              <a:rPr lang="en-US" dirty="0" err="1">
                <a:solidFill>
                  <a:srgbClr val="273239"/>
                </a:solidFill>
                <a:latin typeface="Nunito"/>
              </a:rPr>
              <a:t>kutishimiz</a:t>
            </a:r>
            <a:r>
              <a:rPr lang="en-US" dirty="0">
                <a:solidFill>
                  <a:srgbClr val="273239"/>
                </a:solidFill>
                <a:latin typeface="Nunito"/>
              </a:rPr>
              <a:t> </a:t>
            </a:r>
            <a:r>
              <a:rPr lang="en-US" dirty="0" err="1">
                <a:solidFill>
                  <a:srgbClr val="273239"/>
                </a:solidFill>
                <a:latin typeface="Nunito"/>
              </a:rPr>
              <a:t>kerak</a:t>
            </a:r>
            <a:r>
              <a:rPr lang="en-US" dirty="0" err="1">
                <a:latin typeface="KaTeX_Main"/>
              </a:rPr>
              <a:t>Trot−d</a:t>
            </a:r>
            <a:r>
              <a:rPr lang="en-US" i="1" dirty="0" err="1">
                <a:latin typeface="KaTeX_Math"/>
              </a:rPr>
              <a:t>Tro</a:t>
            </a:r>
            <a:r>
              <a:rPr lang="en-US" i="1" dirty="0">
                <a:latin typeface="KaTeX_Math"/>
              </a:rPr>
              <a:t> t</a:t>
            </a:r>
            <a:r>
              <a:rPr lang="en-US" dirty="0">
                <a:latin typeface="KaTeX_Main"/>
              </a:rPr>
              <a:t>.−</a:t>
            </a:r>
            <a:r>
              <a:rPr lang="en-US" i="1" dirty="0" err="1">
                <a:latin typeface="KaTeX_Math"/>
              </a:rPr>
              <a:t>d</a:t>
            </a:r>
            <a:r>
              <a:rPr lang="en-US" dirty="0" err="1">
                <a:solidFill>
                  <a:srgbClr val="273239"/>
                </a:solidFill>
                <a:latin typeface="Nunito"/>
              </a:rPr>
              <a:t>ikkinchi</a:t>
            </a:r>
            <a:r>
              <a:rPr lang="en-US" dirty="0">
                <a:solidFill>
                  <a:srgbClr val="273239"/>
                </a:solidFill>
                <a:latin typeface="Nunito"/>
              </a:rPr>
              <a:t> </a:t>
            </a:r>
            <a:r>
              <a:rPr lang="en-US" dirty="0" err="1">
                <a:solidFill>
                  <a:srgbClr val="273239"/>
                </a:solidFill>
                <a:latin typeface="Nunito"/>
              </a:rPr>
              <a:t>blokni</a:t>
            </a:r>
            <a:r>
              <a:rPr lang="en-US" dirty="0">
                <a:solidFill>
                  <a:srgbClr val="273239"/>
                </a:solidFill>
                <a:latin typeface="Nunito"/>
              </a:rPr>
              <a:t> </a:t>
            </a:r>
            <a:r>
              <a:rPr lang="en-US" dirty="0" err="1">
                <a:solidFill>
                  <a:srgbClr val="273239"/>
                </a:solidFill>
                <a:latin typeface="Nunito"/>
              </a:rPr>
              <a:t>yozishdan</a:t>
            </a:r>
            <a:r>
              <a:rPr lang="en-US" dirty="0">
                <a:solidFill>
                  <a:srgbClr val="273239"/>
                </a:solidFill>
                <a:latin typeface="Nunito"/>
              </a:rPr>
              <a:t> </a:t>
            </a:r>
            <a:r>
              <a:rPr lang="en-US" dirty="0" err="1">
                <a:solidFill>
                  <a:srgbClr val="273239"/>
                </a:solidFill>
                <a:latin typeface="Nunito"/>
              </a:rPr>
              <a:t>oldin</a:t>
            </a:r>
            <a:r>
              <a:rPr lang="en-US" dirty="0">
                <a:solidFill>
                  <a:srgbClr val="273239"/>
                </a:solidFill>
                <a:latin typeface="Nunito"/>
              </a:rPr>
              <a:t> </a:t>
            </a:r>
            <a:r>
              <a:rPr lang="en-US" dirty="0" err="1">
                <a:solidFill>
                  <a:srgbClr val="273239"/>
                </a:solidFill>
                <a:latin typeface="Nunito"/>
              </a:rPr>
              <a:t>ikkita</a:t>
            </a:r>
            <a:r>
              <a:rPr lang="en-US" dirty="0">
                <a:solidFill>
                  <a:srgbClr val="273239"/>
                </a:solidFill>
                <a:latin typeface="Nunito"/>
              </a:rPr>
              <a:t> </a:t>
            </a:r>
            <a:r>
              <a:rPr lang="en-US" dirty="0" err="1">
                <a:solidFill>
                  <a:srgbClr val="273239"/>
                </a:solidFill>
                <a:latin typeface="Nunito"/>
              </a:rPr>
              <a:t>manzil</a:t>
            </a:r>
            <a:r>
              <a:rPr lang="en-US" dirty="0">
                <a:solidFill>
                  <a:srgbClr val="273239"/>
                </a:solidFill>
                <a:latin typeface="Nunito"/>
              </a:rPr>
              <a:t> (A0, A0+1) </a:t>
            </a:r>
            <a:r>
              <a:rPr lang="en-US" dirty="0" err="1">
                <a:solidFill>
                  <a:srgbClr val="273239"/>
                </a:solidFill>
                <a:latin typeface="Nunito"/>
              </a:rPr>
              <a:t>yonma</a:t>
            </a:r>
            <a:r>
              <a:rPr lang="en-US" dirty="0">
                <a:solidFill>
                  <a:srgbClr val="273239"/>
                </a:solidFill>
                <a:latin typeface="Nunito"/>
              </a:rPr>
              <a:t>-yon </a:t>
            </a:r>
            <a:r>
              <a:rPr lang="en-US" dirty="0" err="1">
                <a:solidFill>
                  <a:srgbClr val="273239"/>
                </a:solidFill>
                <a:latin typeface="Nunito"/>
              </a:rPr>
              <a:t>bo'lsin</a:t>
            </a:r>
            <a:r>
              <a:rPr lang="en-US" dirty="0">
                <a:solidFill>
                  <a:srgbClr val="273239"/>
                </a:solidFill>
                <a:latin typeface="Nunito"/>
              </a:rPr>
              <a:t>. Bu </a:t>
            </a:r>
            <a:r>
              <a:rPr lang="en-US" dirty="0" err="1">
                <a:solidFill>
                  <a:srgbClr val="273239"/>
                </a:solidFill>
                <a:latin typeface="Nunito"/>
              </a:rPr>
              <a:t>muammoni</a:t>
            </a:r>
            <a:r>
              <a:rPr lang="en-US" dirty="0">
                <a:solidFill>
                  <a:srgbClr val="273239"/>
                </a:solidFill>
                <a:latin typeface="Nunito"/>
              </a:rPr>
              <a:t> </a:t>
            </a:r>
            <a:r>
              <a:rPr lang="en-US" dirty="0" err="1">
                <a:solidFill>
                  <a:srgbClr val="273239"/>
                </a:solidFill>
                <a:latin typeface="Nunito"/>
              </a:rPr>
              <a:t>hal</a:t>
            </a:r>
            <a:r>
              <a:rPr lang="en-US" dirty="0">
                <a:solidFill>
                  <a:srgbClr val="273239"/>
                </a:solidFill>
                <a:latin typeface="Nunito"/>
              </a:rPr>
              <a:t> </a:t>
            </a:r>
            <a:r>
              <a:rPr lang="en-US" dirty="0" err="1">
                <a:solidFill>
                  <a:srgbClr val="273239"/>
                </a:solidFill>
                <a:latin typeface="Nunito"/>
              </a:rPr>
              <a:t>qilish</a:t>
            </a:r>
            <a:r>
              <a:rPr lang="en-US" dirty="0">
                <a:solidFill>
                  <a:srgbClr val="273239"/>
                </a:solidFill>
                <a:latin typeface="Nunito"/>
              </a:rPr>
              <a:t> </a:t>
            </a:r>
            <a:r>
              <a:rPr lang="en-US" dirty="0" err="1">
                <a:solidFill>
                  <a:srgbClr val="273239"/>
                </a:solidFill>
                <a:latin typeface="Nunito"/>
              </a:rPr>
              <a:t>oddiy</a:t>
            </a:r>
            <a:r>
              <a:rPr lang="en-US" dirty="0">
                <a:solidFill>
                  <a:srgbClr val="273239"/>
                </a:solidFill>
                <a:latin typeface="Nunito"/>
              </a:rPr>
              <a:t> - </a:t>
            </a:r>
            <a:r>
              <a:rPr lang="en-US" dirty="0" err="1">
                <a:solidFill>
                  <a:srgbClr val="273239"/>
                </a:solidFill>
                <a:latin typeface="Nunito"/>
              </a:rPr>
              <a:t>kutish</a:t>
            </a:r>
            <a:r>
              <a:rPr lang="en-US" dirty="0">
                <a:solidFill>
                  <a:srgbClr val="273239"/>
                </a:solidFill>
                <a:latin typeface="Nunito"/>
              </a:rPr>
              <a:t> </a:t>
            </a:r>
            <a:r>
              <a:rPr lang="en-US" dirty="0" err="1">
                <a:solidFill>
                  <a:srgbClr val="273239"/>
                </a:solidFill>
                <a:latin typeface="Nunito"/>
              </a:rPr>
              <a:t>o'rniga</a:t>
            </a:r>
            <a:r>
              <a:rPr lang="en-US" dirty="0" err="1">
                <a:latin typeface="KaTeX_Main"/>
              </a:rPr>
              <a:t>Trot−d</a:t>
            </a:r>
            <a:r>
              <a:rPr lang="en-US" i="1" dirty="0" err="1">
                <a:latin typeface="KaTeX_Math"/>
              </a:rPr>
              <a:t>Tro</a:t>
            </a:r>
            <a:r>
              <a:rPr lang="en-US" i="1" dirty="0">
                <a:latin typeface="KaTeX_Math"/>
              </a:rPr>
              <a:t> t</a:t>
            </a:r>
            <a:r>
              <a:rPr lang="en-US" dirty="0">
                <a:latin typeface="KaTeX_Main"/>
              </a:rPr>
              <a:t>.−</a:t>
            </a:r>
            <a:r>
              <a:rPr lang="en-US" i="1" dirty="0" err="1">
                <a:latin typeface="KaTeX_Math"/>
              </a:rPr>
              <a:t>d</a:t>
            </a:r>
            <a:r>
              <a:rPr lang="en-US" dirty="0" err="1">
                <a:solidFill>
                  <a:srgbClr val="273239"/>
                </a:solidFill>
                <a:latin typeface="Nunito"/>
              </a:rPr>
              <a:t>Har</a:t>
            </a:r>
            <a:r>
              <a:rPr lang="en-US" dirty="0">
                <a:solidFill>
                  <a:srgbClr val="273239"/>
                </a:solidFill>
                <a:latin typeface="Nunito"/>
              </a:rPr>
              <a:t> </a:t>
            </a:r>
            <a:r>
              <a:rPr lang="en-US" dirty="0" err="1">
                <a:solidFill>
                  <a:srgbClr val="273239"/>
                </a:solidFill>
                <a:latin typeface="Nunito"/>
              </a:rPr>
              <a:t>ikki</a:t>
            </a:r>
            <a:r>
              <a:rPr lang="en-US" dirty="0">
                <a:solidFill>
                  <a:srgbClr val="273239"/>
                </a:solidFill>
                <a:latin typeface="Nunito"/>
              </a:rPr>
              <a:t> </a:t>
            </a:r>
            <a:r>
              <a:rPr lang="en-US" dirty="0" err="1">
                <a:solidFill>
                  <a:srgbClr val="273239"/>
                </a:solidFill>
                <a:latin typeface="Nunito"/>
              </a:rPr>
              <a:t>ketma-ket</a:t>
            </a:r>
            <a:r>
              <a:rPr lang="en-US" dirty="0">
                <a:solidFill>
                  <a:srgbClr val="273239"/>
                </a:solidFill>
                <a:latin typeface="Nunito"/>
              </a:rPr>
              <a:t> </a:t>
            </a:r>
            <a:r>
              <a:rPr lang="en-US" dirty="0" err="1">
                <a:solidFill>
                  <a:srgbClr val="273239"/>
                </a:solidFill>
                <a:latin typeface="Nunito"/>
              </a:rPr>
              <a:t>ma'lumotlar</a:t>
            </a:r>
            <a:r>
              <a:rPr lang="en-US" dirty="0">
                <a:solidFill>
                  <a:srgbClr val="273239"/>
                </a:solidFill>
                <a:latin typeface="Nunito"/>
              </a:rPr>
              <a:t> </a:t>
            </a:r>
            <a:r>
              <a:rPr lang="en-US" dirty="0" err="1">
                <a:solidFill>
                  <a:srgbClr val="273239"/>
                </a:solidFill>
                <a:latin typeface="Nunito"/>
              </a:rPr>
              <a:t>bloki</a:t>
            </a:r>
            <a:r>
              <a:rPr lang="en-US" dirty="0">
                <a:solidFill>
                  <a:srgbClr val="273239"/>
                </a:solidFill>
                <a:latin typeface="Nunito"/>
              </a:rPr>
              <a:t> </a:t>
            </a:r>
            <a:r>
              <a:rPr lang="en-US" dirty="0" err="1">
                <a:solidFill>
                  <a:srgbClr val="273239"/>
                </a:solidFill>
                <a:latin typeface="Nunito"/>
              </a:rPr>
              <a:t>yozgandan</a:t>
            </a:r>
            <a:r>
              <a:rPr lang="en-US" dirty="0">
                <a:solidFill>
                  <a:srgbClr val="273239"/>
                </a:solidFill>
                <a:latin typeface="Nunito"/>
              </a:rPr>
              <a:t> </a:t>
            </a:r>
            <a:r>
              <a:rPr lang="en-US" dirty="0" err="1">
                <a:solidFill>
                  <a:srgbClr val="273239"/>
                </a:solidFill>
                <a:latin typeface="Nunito"/>
              </a:rPr>
              <a:t>so'ng</a:t>
            </a:r>
            <a:r>
              <a:rPr lang="en-US" dirty="0">
                <a:solidFill>
                  <a:srgbClr val="273239"/>
                </a:solidFill>
                <a:latin typeface="Nunito"/>
              </a:rPr>
              <a:t>, biz </a:t>
            </a:r>
            <a:r>
              <a:rPr lang="en-US" dirty="0" err="1">
                <a:solidFill>
                  <a:srgbClr val="273239"/>
                </a:solidFill>
                <a:latin typeface="Nunito"/>
              </a:rPr>
              <a:t>ketma-ket</a:t>
            </a:r>
            <a:r>
              <a:rPr lang="en-US" dirty="0">
                <a:solidFill>
                  <a:srgbClr val="273239"/>
                </a:solidFill>
                <a:latin typeface="Nunito"/>
              </a:rPr>
              <a:t> </a:t>
            </a:r>
            <a:r>
              <a:rPr lang="en-US" dirty="0" err="1">
                <a:solidFill>
                  <a:srgbClr val="273239"/>
                </a:solidFill>
                <a:latin typeface="Nunito"/>
              </a:rPr>
              <a:t>yozishmalarning</a:t>
            </a:r>
            <a:r>
              <a:rPr lang="en-US" dirty="0">
                <a:solidFill>
                  <a:srgbClr val="273239"/>
                </a:solidFill>
                <a:latin typeface="Nunito"/>
              </a:rPr>
              <a:t> </a:t>
            </a:r>
            <a:r>
              <a:rPr lang="en-US" dirty="0" err="1">
                <a:solidFill>
                  <a:srgbClr val="273239"/>
                </a:solidFill>
                <a:latin typeface="Nunito"/>
              </a:rPr>
              <a:t>bir</a:t>
            </a:r>
            <a:r>
              <a:rPr lang="en-US" dirty="0">
                <a:solidFill>
                  <a:srgbClr val="273239"/>
                </a:solidFill>
                <a:latin typeface="Nunito"/>
              </a:rPr>
              <a:t> </a:t>
            </a:r>
            <a:r>
              <a:rPr lang="en-US" dirty="0" err="1">
                <a:solidFill>
                  <a:srgbClr val="273239"/>
                </a:solidFill>
                <a:latin typeface="Nunito"/>
              </a:rPr>
              <a:t>qismini</a:t>
            </a:r>
            <a:r>
              <a:rPr lang="en-US" dirty="0">
                <a:solidFill>
                  <a:srgbClr val="273239"/>
                </a:solidFill>
                <a:latin typeface="Nunito"/>
              </a:rPr>
              <a:t> </a:t>
            </a:r>
            <a:r>
              <a:rPr lang="en-US" dirty="0" err="1">
                <a:solidFill>
                  <a:srgbClr val="273239"/>
                </a:solidFill>
                <a:latin typeface="Nunito"/>
              </a:rPr>
              <a:t>shunchaki</a:t>
            </a:r>
            <a:r>
              <a:rPr lang="en-US" dirty="0">
                <a:solidFill>
                  <a:srgbClr val="273239"/>
                </a:solidFill>
                <a:latin typeface="Nunito"/>
              </a:rPr>
              <a:t> </a:t>
            </a:r>
            <a:r>
              <a:rPr lang="en-US" dirty="0" err="1">
                <a:solidFill>
                  <a:srgbClr val="273239"/>
                </a:solidFill>
                <a:latin typeface="Nunito"/>
              </a:rPr>
              <a:t>guruhlashimiz</a:t>
            </a:r>
            <a:r>
              <a:rPr lang="en-US" dirty="0">
                <a:solidFill>
                  <a:srgbClr val="273239"/>
                </a:solidFill>
                <a:latin typeface="Nunito"/>
              </a:rPr>
              <a:t> </a:t>
            </a:r>
            <a:r>
              <a:rPr lang="en-US" dirty="0" err="1">
                <a:solidFill>
                  <a:srgbClr val="273239"/>
                </a:solidFill>
                <a:latin typeface="Nunito"/>
              </a:rPr>
              <a:t>va</a:t>
            </a:r>
            <a:r>
              <a:rPr lang="en-US" dirty="0">
                <a:solidFill>
                  <a:srgbClr val="273239"/>
                </a:solidFill>
                <a:latin typeface="Nunito"/>
              </a:rPr>
              <a:t> </a:t>
            </a:r>
            <a:r>
              <a:rPr lang="en-US" dirty="0" err="1">
                <a:solidFill>
                  <a:srgbClr val="273239"/>
                </a:solidFill>
                <a:latin typeface="Nunito"/>
              </a:rPr>
              <a:t>ularni</a:t>
            </a:r>
            <a:r>
              <a:rPr lang="en-US" dirty="0">
                <a:solidFill>
                  <a:srgbClr val="273239"/>
                </a:solidFill>
                <a:latin typeface="Nunito"/>
              </a:rPr>
              <a:t> </a:t>
            </a:r>
            <a:r>
              <a:rPr lang="en-US" dirty="0" err="1">
                <a:solidFill>
                  <a:srgbClr val="273239"/>
                </a:solidFill>
                <a:latin typeface="Nunito"/>
              </a:rPr>
              <a:t>vaqtinchalik</a:t>
            </a:r>
            <a:r>
              <a:rPr lang="en-US" dirty="0">
                <a:solidFill>
                  <a:srgbClr val="273239"/>
                </a:solidFill>
                <a:latin typeface="Nunito"/>
              </a:rPr>
              <a:t> </a:t>
            </a:r>
            <a:r>
              <a:rPr lang="en-US" dirty="0" err="1">
                <a:solidFill>
                  <a:srgbClr val="273239"/>
                </a:solidFill>
                <a:latin typeface="Nunito"/>
              </a:rPr>
              <a:t>segmentda</a:t>
            </a:r>
            <a:r>
              <a:rPr lang="en-US" dirty="0">
                <a:solidFill>
                  <a:srgbClr val="273239"/>
                </a:solidFill>
                <a:latin typeface="Nunito"/>
              </a:rPr>
              <a:t> </a:t>
            </a:r>
            <a:r>
              <a:rPr lang="en-US" dirty="0" err="1">
                <a:solidFill>
                  <a:srgbClr val="273239"/>
                </a:solidFill>
                <a:latin typeface="Nunito"/>
              </a:rPr>
              <a:t>saqlashimiz</a:t>
            </a:r>
            <a:r>
              <a:rPr lang="en-US" dirty="0">
                <a:solidFill>
                  <a:srgbClr val="273239"/>
                </a:solidFill>
                <a:latin typeface="Nunito"/>
              </a:rPr>
              <a:t> </a:t>
            </a:r>
            <a:r>
              <a:rPr lang="en-US" dirty="0" err="1">
                <a:solidFill>
                  <a:srgbClr val="273239"/>
                </a:solidFill>
                <a:latin typeface="Nunito"/>
              </a:rPr>
              <a:t>va</a:t>
            </a:r>
            <a:r>
              <a:rPr lang="en-US" dirty="0">
                <a:solidFill>
                  <a:srgbClr val="273239"/>
                </a:solidFill>
                <a:latin typeface="Nunito"/>
              </a:rPr>
              <a:t> </a:t>
            </a:r>
            <a:r>
              <a:rPr lang="en-US" dirty="0" err="1">
                <a:solidFill>
                  <a:srgbClr val="273239"/>
                </a:solidFill>
                <a:latin typeface="Nunito"/>
              </a:rPr>
              <a:t>keyin</a:t>
            </a:r>
            <a:r>
              <a:rPr lang="en-US" dirty="0">
                <a:solidFill>
                  <a:srgbClr val="273239"/>
                </a:solidFill>
                <a:latin typeface="Nunito"/>
              </a:rPr>
              <a:t> </a:t>
            </a:r>
            <a:r>
              <a:rPr lang="en-US" dirty="0" err="1">
                <a:solidFill>
                  <a:srgbClr val="273239"/>
                </a:solidFill>
                <a:latin typeface="Nunito"/>
              </a:rPr>
              <a:t>hammasini</a:t>
            </a:r>
            <a:r>
              <a:rPr lang="en-US" dirty="0">
                <a:solidFill>
                  <a:srgbClr val="273239"/>
                </a:solidFill>
                <a:latin typeface="Nunito"/>
              </a:rPr>
              <a:t> </a:t>
            </a:r>
            <a:r>
              <a:rPr lang="en-US" dirty="0" err="1">
                <a:solidFill>
                  <a:srgbClr val="273239"/>
                </a:solidFill>
                <a:latin typeface="Nunito"/>
              </a:rPr>
              <a:t>diskka</a:t>
            </a:r>
            <a:r>
              <a:rPr lang="en-US" dirty="0">
                <a:solidFill>
                  <a:srgbClr val="273239"/>
                </a:solidFill>
                <a:latin typeface="Nunito"/>
              </a:rPr>
              <a:t> </a:t>
            </a:r>
            <a:r>
              <a:rPr lang="en-US" dirty="0" err="1">
                <a:solidFill>
                  <a:srgbClr val="273239"/>
                </a:solidFill>
                <a:latin typeface="Nunito"/>
              </a:rPr>
              <a:t>yozishimiz</a:t>
            </a:r>
            <a:r>
              <a:rPr lang="en-US" dirty="0">
                <a:solidFill>
                  <a:srgbClr val="273239"/>
                </a:solidFill>
                <a:latin typeface="Nunito"/>
              </a:rPr>
              <a:t> </a:t>
            </a:r>
            <a:r>
              <a:rPr lang="en-US" dirty="0" err="1">
                <a:solidFill>
                  <a:srgbClr val="273239"/>
                </a:solidFill>
                <a:latin typeface="Nunito"/>
              </a:rPr>
              <a:t>mumkin</a:t>
            </a:r>
            <a:r>
              <a:rPr lang="en-US" dirty="0">
                <a:solidFill>
                  <a:srgbClr val="273239"/>
                </a:solidFill>
                <a:latin typeface="Nunito"/>
              </a:rPr>
              <a:t>. </a:t>
            </a:r>
            <a:r>
              <a:rPr lang="en-US" dirty="0" err="1">
                <a:solidFill>
                  <a:srgbClr val="273239"/>
                </a:solidFill>
                <a:latin typeface="Nunito"/>
              </a:rPr>
              <a:t>Shunday</a:t>
            </a:r>
            <a:r>
              <a:rPr lang="en-US" dirty="0">
                <a:solidFill>
                  <a:srgbClr val="273239"/>
                </a:solidFill>
                <a:latin typeface="Nunito"/>
              </a:rPr>
              <a:t> </a:t>
            </a:r>
            <a:r>
              <a:rPr lang="en-US" dirty="0" err="1">
                <a:solidFill>
                  <a:srgbClr val="273239"/>
                </a:solidFill>
                <a:latin typeface="Nunito"/>
              </a:rPr>
              <a:t>qilib</a:t>
            </a:r>
            <a:r>
              <a:rPr lang="en-US" dirty="0">
                <a:solidFill>
                  <a:srgbClr val="273239"/>
                </a:solidFill>
                <a:latin typeface="Nunito"/>
              </a:rPr>
              <a:t>, </a:t>
            </a:r>
            <a:r>
              <a:rPr lang="en-US" dirty="0" err="1">
                <a:solidFill>
                  <a:srgbClr val="273239"/>
                </a:solidFill>
                <a:latin typeface="Nunito"/>
              </a:rPr>
              <a:t>har</a:t>
            </a:r>
            <a:r>
              <a:rPr lang="en-US" dirty="0">
                <a:solidFill>
                  <a:srgbClr val="273239"/>
                </a:solidFill>
                <a:latin typeface="Nunito"/>
              </a:rPr>
              <a:t> </a:t>
            </a:r>
            <a:r>
              <a:rPr lang="en-US" dirty="0" err="1">
                <a:solidFill>
                  <a:srgbClr val="273239"/>
                </a:solidFill>
                <a:latin typeface="Nunito"/>
              </a:rPr>
              <a:t>bir</a:t>
            </a:r>
            <a:r>
              <a:rPr lang="en-US" dirty="0">
                <a:solidFill>
                  <a:srgbClr val="273239"/>
                </a:solidFill>
                <a:latin typeface="Nunito"/>
              </a:rPr>
              <a:t> </a:t>
            </a:r>
            <a:r>
              <a:rPr lang="en-US" dirty="0" err="1">
                <a:solidFill>
                  <a:srgbClr val="273239"/>
                </a:solidFill>
                <a:latin typeface="Nunito"/>
              </a:rPr>
              <a:t>ma'lumot</a:t>
            </a:r>
            <a:r>
              <a:rPr lang="en-US" dirty="0">
                <a:solidFill>
                  <a:srgbClr val="273239"/>
                </a:solidFill>
                <a:latin typeface="Nunito"/>
              </a:rPr>
              <a:t> </a:t>
            </a:r>
            <a:r>
              <a:rPr lang="en-US" dirty="0" err="1">
                <a:solidFill>
                  <a:srgbClr val="273239"/>
                </a:solidFill>
                <a:latin typeface="Nunito"/>
              </a:rPr>
              <a:t>blokidan</a:t>
            </a:r>
            <a:r>
              <a:rPr lang="en-US" dirty="0">
                <a:solidFill>
                  <a:srgbClr val="273239"/>
                </a:solidFill>
                <a:latin typeface="Nunito"/>
              </a:rPr>
              <a:t> </a:t>
            </a:r>
            <a:r>
              <a:rPr lang="en-US" dirty="0" err="1">
                <a:solidFill>
                  <a:srgbClr val="273239"/>
                </a:solidFill>
                <a:latin typeface="Nunito"/>
              </a:rPr>
              <a:t>keyin</a:t>
            </a:r>
            <a:r>
              <a:rPr lang="en-US" dirty="0">
                <a:solidFill>
                  <a:srgbClr val="273239"/>
                </a:solidFill>
                <a:latin typeface="Nunito"/>
              </a:rPr>
              <a:t> disk </a:t>
            </a:r>
            <a:r>
              <a:rPr lang="en-US" dirty="0" err="1">
                <a:solidFill>
                  <a:srgbClr val="273239"/>
                </a:solidFill>
                <a:latin typeface="Nunito"/>
              </a:rPr>
              <a:t>o'rnini</a:t>
            </a:r>
            <a:r>
              <a:rPr lang="en-US" dirty="0">
                <a:solidFill>
                  <a:srgbClr val="273239"/>
                </a:solidFill>
                <a:latin typeface="Nunito"/>
              </a:rPr>
              <a:t> </a:t>
            </a:r>
            <a:r>
              <a:rPr lang="en-US" dirty="0" err="1">
                <a:solidFill>
                  <a:srgbClr val="273239"/>
                </a:solidFill>
                <a:latin typeface="Nunito"/>
              </a:rPr>
              <a:t>o'zgartirishni</a:t>
            </a:r>
            <a:r>
              <a:rPr lang="en-US" dirty="0">
                <a:solidFill>
                  <a:srgbClr val="273239"/>
                </a:solidFill>
                <a:latin typeface="Nunito"/>
              </a:rPr>
              <a:t> </a:t>
            </a:r>
            <a:r>
              <a:rPr lang="en-US" dirty="0" err="1">
                <a:solidFill>
                  <a:srgbClr val="273239"/>
                </a:solidFill>
                <a:latin typeface="Nunito"/>
              </a:rPr>
              <a:t>kutish</a:t>
            </a:r>
            <a:r>
              <a:rPr lang="en-US" dirty="0">
                <a:solidFill>
                  <a:srgbClr val="273239"/>
                </a:solidFill>
                <a:latin typeface="Nunito"/>
              </a:rPr>
              <a:t> </a:t>
            </a:r>
            <a:r>
              <a:rPr lang="en-US" dirty="0" err="1">
                <a:solidFill>
                  <a:srgbClr val="273239"/>
                </a:solidFill>
                <a:latin typeface="Nunito"/>
              </a:rPr>
              <a:t>o'rniga</a:t>
            </a:r>
            <a:r>
              <a:rPr lang="en-US" dirty="0">
                <a:solidFill>
                  <a:srgbClr val="273239"/>
                </a:solidFill>
                <a:latin typeface="Nunito"/>
              </a:rPr>
              <a:t>, biz </a:t>
            </a:r>
            <a:r>
              <a:rPr lang="en-US" dirty="0" err="1">
                <a:solidFill>
                  <a:srgbClr val="273239"/>
                </a:solidFill>
                <a:latin typeface="Nunito"/>
              </a:rPr>
              <a:t>har</a:t>
            </a:r>
            <a:r>
              <a:rPr lang="en-US" dirty="0">
                <a:solidFill>
                  <a:srgbClr val="273239"/>
                </a:solidFill>
                <a:latin typeface="Nunito"/>
              </a:rPr>
              <a:t> </a:t>
            </a:r>
            <a:r>
              <a:rPr lang="en-US" dirty="0" err="1">
                <a:solidFill>
                  <a:srgbClr val="273239"/>
                </a:solidFill>
                <a:latin typeface="Nunito"/>
              </a:rPr>
              <a:t>bir</a:t>
            </a:r>
            <a:r>
              <a:rPr lang="en-US" dirty="0">
                <a:solidFill>
                  <a:srgbClr val="273239"/>
                </a:solidFill>
                <a:latin typeface="Nunito"/>
              </a:rPr>
              <a:t> x </a:t>
            </a:r>
            <a:r>
              <a:rPr lang="en-US" dirty="0" err="1">
                <a:solidFill>
                  <a:srgbClr val="273239"/>
                </a:solidFill>
                <a:latin typeface="Nunito"/>
              </a:rPr>
              <a:t>ma'lumot</a:t>
            </a:r>
            <a:r>
              <a:rPr lang="en-US" dirty="0">
                <a:solidFill>
                  <a:srgbClr val="273239"/>
                </a:solidFill>
                <a:latin typeface="Nunito"/>
              </a:rPr>
              <a:t> </a:t>
            </a:r>
            <a:r>
              <a:rPr lang="en-US" dirty="0" err="1">
                <a:solidFill>
                  <a:srgbClr val="273239"/>
                </a:solidFill>
                <a:latin typeface="Nunito"/>
              </a:rPr>
              <a:t>blokidan</a:t>
            </a:r>
            <a:r>
              <a:rPr lang="en-US" dirty="0">
                <a:solidFill>
                  <a:srgbClr val="273239"/>
                </a:solidFill>
                <a:latin typeface="Nunito"/>
              </a:rPr>
              <a:t> </a:t>
            </a:r>
            <a:r>
              <a:rPr lang="en-US" dirty="0" err="1">
                <a:solidFill>
                  <a:srgbClr val="273239"/>
                </a:solidFill>
                <a:latin typeface="Nunito"/>
              </a:rPr>
              <a:t>keyin</a:t>
            </a:r>
            <a:r>
              <a:rPr lang="en-US" dirty="0">
                <a:solidFill>
                  <a:srgbClr val="273239"/>
                </a:solidFill>
                <a:latin typeface="Nunito"/>
              </a:rPr>
              <a:t> </a:t>
            </a:r>
            <a:r>
              <a:rPr lang="en-US" dirty="0" err="1">
                <a:solidFill>
                  <a:srgbClr val="273239"/>
                </a:solidFill>
                <a:latin typeface="Nunito"/>
              </a:rPr>
              <a:t>uning</a:t>
            </a:r>
            <a:r>
              <a:rPr lang="en-US" dirty="0">
                <a:solidFill>
                  <a:srgbClr val="273239"/>
                </a:solidFill>
                <a:latin typeface="Nunito"/>
              </a:rPr>
              <a:t> </a:t>
            </a:r>
            <a:r>
              <a:rPr lang="en-US" dirty="0" err="1">
                <a:solidFill>
                  <a:srgbClr val="273239"/>
                </a:solidFill>
                <a:latin typeface="Nunito"/>
              </a:rPr>
              <a:t>joylashishini</a:t>
            </a:r>
            <a:r>
              <a:rPr lang="en-US" dirty="0">
                <a:solidFill>
                  <a:srgbClr val="273239"/>
                </a:solidFill>
                <a:latin typeface="Nunito"/>
              </a:rPr>
              <a:t> </a:t>
            </a:r>
            <a:r>
              <a:rPr lang="en-US" dirty="0" err="1">
                <a:solidFill>
                  <a:srgbClr val="273239"/>
                </a:solidFill>
                <a:latin typeface="Nunito"/>
              </a:rPr>
              <a:t>kutamiz</a:t>
            </a:r>
            <a:r>
              <a:rPr lang="en-US" dirty="0">
                <a:solidFill>
                  <a:srgbClr val="273239"/>
                </a:solidFill>
                <a:latin typeface="Nunito"/>
              </a:rPr>
              <a:t>, </a:t>
            </a:r>
            <a:r>
              <a:rPr lang="en-US" dirty="0" err="1">
                <a:solidFill>
                  <a:srgbClr val="273239"/>
                </a:solidFill>
                <a:latin typeface="Nunito"/>
              </a:rPr>
              <a:t>bu</a:t>
            </a:r>
            <a:r>
              <a:rPr lang="en-US" dirty="0">
                <a:solidFill>
                  <a:srgbClr val="273239"/>
                </a:solidFill>
                <a:latin typeface="Nunito"/>
              </a:rPr>
              <a:t> </a:t>
            </a:r>
            <a:r>
              <a:rPr lang="en-US" dirty="0" err="1">
                <a:solidFill>
                  <a:srgbClr val="273239"/>
                </a:solidFill>
                <a:latin typeface="Nunito"/>
              </a:rPr>
              <a:t>erda</a:t>
            </a:r>
            <a:r>
              <a:rPr lang="en-US" dirty="0">
                <a:solidFill>
                  <a:srgbClr val="273239"/>
                </a:solidFill>
                <a:latin typeface="Nunito"/>
              </a:rPr>
              <a:t> x - </a:t>
            </a:r>
            <a:r>
              <a:rPr lang="en-US" dirty="0" err="1">
                <a:solidFill>
                  <a:srgbClr val="273239"/>
                </a:solidFill>
                <a:latin typeface="Nunito"/>
              </a:rPr>
              <a:t>segmentning</a:t>
            </a:r>
            <a:r>
              <a:rPr lang="en-US" dirty="0">
                <a:solidFill>
                  <a:srgbClr val="273239"/>
                </a:solidFill>
                <a:latin typeface="Nunito"/>
              </a:rPr>
              <a:t> </a:t>
            </a:r>
            <a:r>
              <a:rPr lang="en-US" dirty="0" err="1">
                <a:solidFill>
                  <a:srgbClr val="273239"/>
                </a:solidFill>
                <a:latin typeface="Nunito"/>
              </a:rPr>
              <a:t>sig'imi</a:t>
            </a:r>
            <a:r>
              <a:rPr lang="en-US" dirty="0">
                <a:solidFill>
                  <a:srgbClr val="273239"/>
                </a:solidFill>
                <a:latin typeface="Nunito"/>
              </a:rPr>
              <a:t>. </a:t>
            </a:r>
            <a:r>
              <a:rPr lang="en-US" dirty="0" err="1">
                <a:solidFill>
                  <a:srgbClr val="273239"/>
                </a:solidFill>
                <a:latin typeface="Nunito"/>
              </a:rPr>
              <a:t>Quyidagi</a:t>
            </a:r>
            <a:r>
              <a:rPr lang="en-US" dirty="0">
                <a:solidFill>
                  <a:srgbClr val="273239"/>
                </a:solidFill>
                <a:latin typeface="Nunito"/>
              </a:rPr>
              <a:t> </a:t>
            </a:r>
            <a:r>
              <a:rPr lang="en-US" dirty="0" err="1">
                <a:solidFill>
                  <a:srgbClr val="273239"/>
                </a:solidFill>
                <a:latin typeface="Nunito"/>
              </a:rPr>
              <a:t>rasm</a:t>
            </a:r>
            <a:r>
              <a:rPr lang="en-US" dirty="0">
                <a:solidFill>
                  <a:srgbClr val="273239"/>
                </a:solidFill>
                <a:latin typeface="Nunito"/>
              </a:rPr>
              <a:t> </a:t>
            </a:r>
            <a:r>
              <a:rPr lang="en-US" dirty="0" err="1">
                <a:solidFill>
                  <a:srgbClr val="273239"/>
                </a:solidFill>
                <a:latin typeface="Nunito"/>
              </a:rPr>
              <a:t>ushbu</a:t>
            </a:r>
            <a:r>
              <a:rPr lang="en-US" dirty="0">
                <a:solidFill>
                  <a:srgbClr val="273239"/>
                </a:solidFill>
                <a:latin typeface="Nunito"/>
              </a:rPr>
              <a:t> </a:t>
            </a:r>
            <a:r>
              <a:rPr lang="en-US" dirty="0" err="1">
                <a:solidFill>
                  <a:srgbClr val="273239"/>
                </a:solidFill>
                <a:latin typeface="Nunito"/>
              </a:rPr>
              <a:t>kontseptsiyani</a:t>
            </a:r>
            <a:r>
              <a:rPr lang="en-US" dirty="0">
                <a:solidFill>
                  <a:srgbClr val="273239"/>
                </a:solidFill>
                <a:latin typeface="Nunito"/>
              </a:rPr>
              <a:t> </a:t>
            </a:r>
            <a:r>
              <a:rPr lang="en-US" dirty="0" err="1">
                <a:solidFill>
                  <a:srgbClr val="273239"/>
                </a:solidFill>
                <a:latin typeface="Nunito"/>
              </a:rPr>
              <a:t>ko'rsatadi</a:t>
            </a:r>
            <a:r>
              <a:rPr lang="en-US" dirty="0">
                <a:solidFill>
                  <a:srgbClr val="273239"/>
                </a:solidFill>
                <a:latin typeface="Nunito"/>
              </a:rPr>
              <a:t>.</a:t>
            </a:r>
            <a:endParaRPr lang="ru-RU" dirty="0"/>
          </a:p>
        </p:txBody>
      </p:sp>
      <p:pic>
        <p:nvPicPr>
          <p:cNvPr id="7170" name="Picture 2" descr="Lightbox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347" y="4268555"/>
            <a:ext cx="7763956" cy="18869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297620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19499ADE-76C2-4252-A7D3-BA11C4A10E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600" kern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Shell </a:t>
            </a:r>
            <a:r>
              <a:rPr lang="ru-RU" sz="3600" kern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skriptlari</a:t>
            </a:r>
            <a:r>
              <a:rPr lang="ru-RU" sz="3600" kern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600" kern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asoslari</a:t>
            </a:r>
            <a:r>
              <a:rPr lang="ru-RU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ru-RU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ru-RU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35039160-2BFE-4B67-89AB-41B1B6C1AF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>
              <a:lnSpc>
                <a:spcPct val="107000"/>
              </a:lnSpc>
              <a:spcBef>
                <a:spcPts val="1800"/>
              </a:spcBef>
              <a:spcAft>
                <a:spcPts val="800"/>
              </a:spcAft>
            </a:pP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Shell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skripti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- Unix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qobig'idagi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vazifalarni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avtomatlashtirish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usuli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skript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faylida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buyruqlar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yozishni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o'z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ichiga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oladi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keyinchalik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ular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bir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qator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vazifalarni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bajarish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qobiq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tomonidan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bajarilishi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mumkin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Bef>
                <a:spcPts val="1200"/>
              </a:spcBef>
              <a:spcAft>
                <a:spcPts val="800"/>
              </a:spcAft>
            </a:pP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Shell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skriptini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o'rganishda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tushunishingiz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kerak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bo'lgan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bir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nechta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asosiy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tushunchalar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Bef>
                <a:spcPts val="1200"/>
              </a:spcBef>
              <a:spcAft>
                <a:spcPts val="800"/>
              </a:spcAft>
            </a:pPr>
            <a:r>
              <a:rPr lang="en-US" sz="1800" b="1" dirty="0">
                <a:solidFill>
                  <a:srgbClr val="55555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Shell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: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Qobiq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operatsion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tizim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bilan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o'zaro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aloqa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qilish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imkonini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beruvchi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buyruq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qatori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tarjimoni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b="1" dirty="0">
                <a:solidFill>
                  <a:srgbClr val="55555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Shebang </a:t>
            </a:r>
            <a:r>
              <a:rPr lang="en-US" sz="1800" b="1" dirty="0" err="1">
                <a:solidFill>
                  <a:srgbClr val="55555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liniyalaridan</a:t>
            </a:r>
            <a:r>
              <a:rPr lang="en-US" sz="1800" b="1" dirty="0">
                <a:solidFill>
                  <a:srgbClr val="55555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rgbClr val="55555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foydalaning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: Shebang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chizig'i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skript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boshida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ishlatiladigan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tarjimonni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belgilaydigan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maxsus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qatordir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Masalan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shebang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qatori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1800" b="1" dirty="0">
                <a:solidFill>
                  <a:srgbClr val="C7254E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#!/bin/bash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tizimga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skriptni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ishga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tushirish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Bash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tarjimonidan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foydalanishni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aytadi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Bef>
                <a:spcPts val="1200"/>
              </a:spcBef>
              <a:spcAft>
                <a:spcPts val="800"/>
              </a:spcAft>
            </a:pPr>
            <a:r>
              <a:rPr lang="en-US" sz="1800" b="1" dirty="0" err="1">
                <a:solidFill>
                  <a:srgbClr val="55555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Skript</a:t>
            </a:r>
            <a:r>
              <a:rPr lang="en-US" sz="1800" b="1" dirty="0">
                <a:solidFill>
                  <a:srgbClr val="55555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Skript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qobiq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tomonidan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bajariladigan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bir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qator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buyruqlarni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o'z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ichiga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olgan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matnli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fayl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Skriptlar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odatda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qobiq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tushunadigan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tilda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yoziladi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masalan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Bash,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lekin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ular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Python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yoki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Ruby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kabi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boshqa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tillarda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yozilgan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buyruqlarni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ham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o'z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ichiga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olishi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mumkin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Bef>
                <a:spcPts val="1200"/>
              </a:spcBef>
              <a:spcAft>
                <a:spcPts val="800"/>
              </a:spcAft>
            </a:pPr>
            <a:r>
              <a:rPr lang="en-US" sz="1800" b="1" dirty="0" err="1">
                <a:solidFill>
                  <a:srgbClr val="55555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O'zgaruvchilar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: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O'zgaruvchilar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ma'lumotlarni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saqlaydigan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saqlash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joylari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deb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nomlanadi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Siz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satrlar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raqamlar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massivlar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kabi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ma'lumotlarni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saqlash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boshqarish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qobiq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skriptidagi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o'zgaruvchilardan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foydalanishingiz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mumkin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61667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01DAEC6F-9D99-471F-82AE-2EAC99BD54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/>
              <a:t>Xulosa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9152FAB1-8D0F-46C4-B231-A890A1443A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Shell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skripti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qobiq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tomonidan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bajarilishi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mumkin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bo'lgan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skript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faylida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buyruqlar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yozish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orqali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Unix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qobig'idagi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vazifalarni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avtomatlashtirish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usuli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Shell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skriptlarida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siz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foydalaniladigan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tarjimonni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ma'lumotlarni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saqlash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boshqarish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o'zgaruvchilarni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skript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oqimini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boshqarish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shartli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bayonotlarni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kod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blokini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takrorlash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tsikllarni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fayllar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dasturlardan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o'qish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yozish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kiritish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chiqarishni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xatolarni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qayta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ishlash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chiqish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holati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kodlarini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hujjat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kodiga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sharhlarni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kodni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qayta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tartibga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solishni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belgilash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shebang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qatorlaridan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foydalanishingiz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mumkin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Bash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Linux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tizimlarida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ishlatiladigan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mashhur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Unix-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ga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o'xshash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qobiq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bo'lib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u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foydalanuvchi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yoki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skript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faylidan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buyruqlarni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o'qiydi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bajaradi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Siz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skript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faylining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nomidan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keyin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bash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buyrug'ini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ishlatib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Bash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skriptini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ishga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tushirishingiz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yoki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skript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faylini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bajariladigan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qilib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to'g'ridan-to'g'ri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ishga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tushirishingiz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mumkin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Bash-da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siz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qayta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yo'naltirish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almashtirish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kengaytirish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kabi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vazifalarni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bajarish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maxsus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belgilar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operatorlardan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ham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foydalanishingiz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mumkin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Shell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skripti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Unix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qobig'ida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vazifalarni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avtomatlashtirish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dasturlarni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yaratish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foydali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vositadir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01207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6489" y="160387"/>
            <a:ext cx="8181984" cy="1143000"/>
          </a:xfrm>
        </p:spPr>
        <p:txBody>
          <a:bodyPr/>
          <a:lstStyle/>
          <a:p>
            <a:pPr marL="0" indent="0" algn="ctr" fontAlgn="auto">
              <a:spcAft>
                <a:spcPts val="0"/>
              </a:spcAft>
              <a:buNone/>
              <a:defRPr/>
            </a:pPr>
            <a:r>
              <a:rPr lang="uz-Latn-UZ" i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Foydalanilgan adabiyotlar</a:t>
            </a:r>
            <a:endParaRPr lang="ru-RU" i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2770" name="Content Placeholder 2"/>
          <p:cNvSpPr>
            <a:spLocks noGrp="1"/>
          </p:cNvSpPr>
          <p:nvPr>
            <p:ph sz="quarter" idx="13"/>
          </p:nvPr>
        </p:nvSpPr>
        <p:spPr>
          <a:xfrm>
            <a:off x="167425" y="1216428"/>
            <a:ext cx="8802710" cy="5481185"/>
          </a:xfrm>
        </p:spPr>
        <p:txBody>
          <a:bodyPr>
            <a:normAutofit fontScale="92500" lnSpcReduction="10000"/>
          </a:bodyPr>
          <a:lstStyle/>
          <a:p>
            <a:pPr marL="388620" indent="-342900">
              <a:spcBef>
                <a:spcPts val="0"/>
              </a:spcBef>
              <a:buFont typeface="+mj-lt"/>
              <a:buAutoNum type="arabicPeriod"/>
            </a:pPr>
            <a:r>
              <a:rPr lang="en-US" sz="1800" b="1" i="1" dirty="0">
                <a:solidFill>
                  <a:srgbClr val="002060"/>
                </a:solidFill>
              </a:rPr>
              <a:t>Andrew S. </a:t>
            </a:r>
            <a:r>
              <a:rPr lang="en-US" sz="1800" b="1" i="1" dirty="0" err="1">
                <a:solidFill>
                  <a:srgbClr val="002060"/>
                </a:solidFill>
              </a:rPr>
              <a:t>Tanenbaum</a:t>
            </a:r>
            <a:r>
              <a:rPr lang="en-US" sz="1800" b="1" i="1" dirty="0">
                <a:solidFill>
                  <a:srgbClr val="002060"/>
                </a:solidFill>
              </a:rPr>
              <a:t>, Albert S. Woodhull</a:t>
            </a:r>
            <a:r>
              <a:rPr lang="en-US" sz="1800" i="1" dirty="0">
                <a:solidFill>
                  <a:srgbClr val="002060"/>
                </a:solidFill>
              </a:rPr>
              <a:t>. Operating Systems: Design and Implementation,</a:t>
            </a:r>
            <a:r>
              <a:rPr lang="uz-Latn-UZ" sz="1800" i="1" dirty="0">
                <a:solidFill>
                  <a:srgbClr val="002060"/>
                </a:solidFill>
              </a:rPr>
              <a:t> </a:t>
            </a:r>
            <a:r>
              <a:rPr lang="en-US" sz="1800" i="1" dirty="0">
                <a:solidFill>
                  <a:srgbClr val="002060"/>
                </a:solidFill>
              </a:rPr>
              <a:t>Chapter </a:t>
            </a:r>
            <a:r>
              <a:rPr lang="uz-Latn-UZ" sz="1800" i="1" dirty="0">
                <a:solidFill>
                  <a:srgbClr val="002060"/>
                </a:solidFill>
              </a:rPr>
              <a:t>8. Multipleprocessor systems,   8.1 Multiprosessors</a:t>
            </a:r>
          </a:p>
          <a:p>
            <a:pPr marL="388620" indent="-342900">
              <a:spcBef>
                <a:spcPts val="0"/>
              </a:spcBef>
              <a:buFont typeface="+mj-lt"/>
              <a:buAutoNum type="arabicPeriod"/>
            </a:pPr>
            <a:r>
              <a:rPr lang="en-US" sz="1800" i="1" dirty="0">
                <a:solidFill>
                  <a:srgbClr val="002060"/>
                </a:solidFill>
                <a:hlinkClick r:id="rId3"/>
              </a:rPr>
              <a:t>https://coderlessons.com/tutorials/akademicheskii/osnovy-operatsionnykh-sistem/15-upravlenie-protsessami-v-os</a:t>
            </a:r>
            <a:endParaRPr lang="en-US" sz="1800" i="1" dirty="0">
              <a:solidFill>
                <a:srgbClr val="002060"/>
              </a:solidFill>
            </a:endParaRPr>
          </a:p>
          <a:p>
            <a:pPr marL="388620" indent="-342900">
              <a:spcBef>
                <a:spcPts val="0"/>
              </a:spcBef>
              <a:buFont typeface="+mj-lt"/>
              <a:buAutoNum type="arabicPeriod"/>
            </a:pPr>
            <a:r>
              <a:rPr lang="en-US" sz="1800" i="1" dirty="0">
                <a:solidFill>
                  <a:srgbClr val="002060"/>
                </a:solidFill>
              </a:rPr>
              <a:t>https://vseloved.github.io/pdf/proc-ru.pdf</a:t>
            </a:r>
          </a:p>
          <a:p>
            <a:pPr marL="457200" indent="-457200">
              <a:spcBef>
                <a:spcPts val="0"/>
              </a:spcBef>
              <a:buFont typeface="+mj-lt"/>
              <a:buAutoNum type="arabicPeriod"/>
            </a:pPr>
            <a:r>
              <a:rPr lang="en-US" b="1" i="1" dirty="0" err="1">
                <a:solidFill>
                  <a:srgbClr val="002060"/>
                </a:solidFill>
              </a:rPr>
              <a:t>Silberschatz</a:t>
            </a:r>
            <a:r>
              <a:rPr lang="en-US" b="1" i="1" dirty="0">
                <a:solidFill>
                  <a:srgbClr val="002060"/>
                </a:solidFill>
              </a:rPr>
              <a:t>, A., Galvin, P., Gagne, G.</a:t>
            </a:r>
            <a:r>
              <a:rPr lang="en-US" i="1" dirty="0">
                <a:solidFill>
                  <a:srgbClr val="002060"/>
                </a:solidFill>
              </a:rPr>
              <a:t/>
            </a:r>
            <a:br>
              <a:rPr lang="en-US" i="1" dirty="0">
                <a:solidFill>
                  <a:srgbClr val="002060"/>
                </a:solidFill>
              </a:rPr>
            </a:br>
            <a:r>
              <a:rPr lang="en-US" i="1" dirty="0">
                <a:solidFill>
                  <a:srgbClr val="002060"/>
                </a:solidFill>
              </a:rPr>
              <a:t>Operating System Concepts (9th Edition). Wiley, 2018.</a:t>
            </a:r>
            <a:br>
              <a:rPr lang="en-US" i="1" dirty="0">
                <a:solidFill>
                  <a:srgbClr val="002060"/>
                </a:solidFill>
              </a:rPr>
            </a:br>
            <a:r>
              <a:rPr lang="en-US" i="1" dirty="0">
                <a:solidFill>
                  <a:srgbClr val="002060"/>
                </a:solidFill>
              </a:rPr>
              <a:t>– </a:t>
            </a:r>
            <a:r>
              <a:rPr lang="en-US" i="1" dirty="0" err="1">
                <a:solidFill>
                  <a:srgbClr val="002060"/>
                </a:solidFill>
              </a:rPr>
              <a:t>Jarayonlar</a:t>
            </a:r>
            <a:r>
              <a:rPr lang="en-US" i="1" dirty="0">
                <a:solidFill>
                  <a:srgbClr val="002060"/>
                </a:solidFill>
              </a:rPr>
              <a:t>, </a:t>
            </a:r>
            <a:r>
              <a:rPr lang="en-US" i="1" dirty="0" err="1">
                <a:solidFill>
                  <a:srgbClr val="002060"/>
                </a:solidFill>
              </a:rPr>
              <a:t>xotira</a:t>
            </a:r>
            <a:r>
              <a:rPr lang="en-US" i="1" dirty="0">
                <a:solidFill>
                  <a:srgbClr val="002060"/>
                </a:solidFill>
              </a:rPr>
              <a:t> </a:t>
            </a:r>
            <a:r>
              <a:rPr lang="en-US" i="1" dirty="0" err="1">
                <a:solidFill>
                  <a:srgbClr val="002060"/>
                </a:solidFill>
              </a:rPr>
              <a:t>boshqaruvi</a:t>
            </a:r>
            <a:r>
              <a:rPr lang="en-US" i="1" dirty="0">
                <a:solidFill>
                  <a:srgbClr val="002060"/>
                </a:solidFill>
              </a:rPr>
              <a:t>, stack </a:t>
            </a:r>
            <a:r>
              <a:rPr lang="en-US" i="1" dirty="0" err="1">
                <a:solidFill>
                  <a:srgbClr val="002060"/>
                </a:solidFill>
              </a:rPr>
              <a:t>va</a:t>
            </a:r>
            <a:r>
              <a:rPr lang="en-US" i="1" dirty="0">
                <a:solidFill>
                  <a:srgbClr val="002060"/>
                </a:solidFill>
              </a:rPr>
              <a:t> heap </a:t>
            </a:r>
            <a:r>
              <a:rPr lang="en-US" i="1" dirty="0" err="1">
                <a:solidFill>
                  <a:srgbClr val="002060"/>
                </a:solidFill>
              </a:rPr>
              <a:t>tushunchalari</a:t>
            </a:r>
            <a:r>
              <a:rPr lang="en-US" i="1" dirty="0">
                <a:solidFill>
                  <a:srgbClr val="002060"/>
                </a:solidFill>
              </a:rPr>
              <a:t> </a:t>
            </a:r>
            <a:r>
              <a:rPr lang="en-US" i="1" dirty="0" err="1">
                <a:solidFill>
                  <a:srgbClr val="002060"/>
                </a:solidFill>
              </a:rPr>
              <a:t>batafsil</a:t>
            </a:r>
            <a:r>
              <a:rPr lang="en-US" i="1" dirty="0">
                <a:solidFill>
                  <a:srgbClr val="002060"/>
                </a:solidFill>
              </a:rPr>
              <a:t> </a:t>
            </a:r>
            <a:r>
              <a:rPr lang="en-US" i="1" dirty="0" err="1">
                <a:solidFill>
                  <a:srgbClr val="002060"/>
                </a:solidFill>
              </a:rPr>
              <a:t>yoritilgan</a:t>
            </a:r>
            <a:r>
              <a:rPr lang="en-US" i="1" dirty="0">
                <a:solidFill>
                  <a:srgbClr val="002060"/>
                </a:solidFill>
              </a:rPr>
              <a:t>.</a:t>
            </a:r>
            <a:endParaRPr lang="ru-RU" i="1" dirty="0">
              <a:solidFill>
                <a:srgbClr val="002060"/>
              </a:solidFill>
            </a:endParaRPr>
          </a:p>
          <a:p>
            <a:pPr marL="457200" indent="-457200">
              <a:spcBef>
                <a:spcPts val="0"/>
              </a:spcBef>
              <a:buFont typeface="+mj-lt"/>
              <a:buAutoNum type="arabicPeriod"/>
            </a:pPr>
            <a:r>
              <a:rPr lang="en-US" b="1" i="1" dirty="0" err="1">
                <a:solidFill>
                  <a:srgbClr val="002060"/>
                </a:solidFill>
              </a:rPr>
              <a:t>Tanenbaum</a:t>
            </a:r>
            <a:r>
              <a:rPr lang="en-US" b="1" i="1" dirty="0">
                <a:solidFill>
                  <a:srgbClr val="002060"/>
                </a:solidFill>
              </a:rPr>
              <a:t>, A. S., </a:t>
            </a:r>
            <a:r>
              <a:rPr lang="en-US" b="1" i="1" dirty="0" err="1">
                <a:solidFill>
                  <a:srgbClr val="002060"/>
                </a:solidFill>
              </a:rPr>
              <a:t>Bos</a:t>
            </a:r>
            <a:r>
              <a:rPr lang="en-US" b="1" i="1" dirty="0">
                <a:solidFill>
                  <a:srgbClr val="002060"/>
                </a:solidFill>
              </a:rPr>
              <a:t>, H.</a:t>
            </a:r>
            <a:r>
              <a:rPr lang="en-US" i="1" dirty="0">
                <a:solidFill>
                  <a:srgbClr val="002060"/>
                </a:solidFill>
              </a:rPr>
              <a:t/>
            </a:r>
            <a:br>
              <a:rPr lang="en-US" i="1" dirty="0">
                <a:solidFill>
                  <a:srgbClr val="002060"/>
                </a:solidFill>
              </a:rPr>
            </a:br>
            <a:r>
              <a:rPr lang="en-US" i="1" dirty="0">
                <a:solidFill>
                  <a:srgbClr val="002060"/>
                </a:solidFill>
              </a:rPr>
              <a:t>Modern Operating Systems (4th Edition). Pearson, 2014.</a:t>
            </a:r>
            <a:br>
              <a:rPr lang="en-US" i="1" dirty="0">
                <a:solidFill>
                  <a:srgbClr val="002060"/>
                </a:solidFill>
              </a:rPr>
            </a:br>
            <a:r>
              <a:rPr lang="en-US" i="1" dirty="0">
                <a:solidFill>
                  <a:srgbClr val="002060"/>
                </a:solidFill>
              </a:rPr>
              <a:t>– </a:t>
            </a:r>
            <a:r>
              <a:rPr lang="en-US" i="1" dirty="0" err="1">
                <a:solidFill>
                  <a:srgbClr val="002060"/>
                </a:solidFill>
              </a:rPr>
              <a:t>Jarayon</a:t>
            </a:r>
            <a:r>
              <a:rPr lang="en-US" i="1" dirty="0">
                <a:solidFill>
                  <a:srgbClr val="002060"/>
                </a:solidFill>
              </a:rPr>
              <a:t> </a:t>
            </a:r>
            <a:r>
              <a:rPr lang="en-US" i="1" dirty="0" err="1">
                <a:solidFill>
                  <a:srgbClr val="002060"/>
                </a:solidFill>
              </a:rPr>
              <a:t>modeli</a:t>
            </a:r>
            <a:r>
              <a:rPr lang="en-US" i="1" dirty="0">
                <a:solidFill>
                  <a:srgbClr val="002060"/>
                </a:solidFill>
              </a:rPr>
              <a:t>, </a:t>
            </a:r>
            <a:r>
              <a:rPr lang="en-US" i="1" dirty="0" err="1">
                <a:solidFill>
                  <a:srgbClr val="002060"/>
                </a:solidFill>
              </a:rPr>
              <a:t>xotira</a:t>
            </a:r>
            <a:r>
              <a:rPr lang="en-US" i="1" dirty="0">
                <a:solidFill>
                  <a:srgbClr val="002060"/>
                </a:solidFill>
              </a:rPr>
              <a:t> </a:t>
            </a:r>
            <a:r>
              <a:rPr lang="en-US" i="1" dirty="0" err="1">
                <a:solidFill>
                  <a:srgbClr val="002060"/>
                </a:solidFill>
              </a:rPr>
              <a:t>segmentlari</a:t>
            </a:r>
            <a:r>
              <a:rPr lang="en-US" i="1" dirty="0">
                <a:solidFill>
                  <a:srgbClr val="002060"/>
                </a:solidFill>
              </a:rPr>
              <a:t>, </a:t>
            </a:r>
            <a:r>
              <a:rPr lang="en-US" i="1" dirty="0" err="1">
                <a:solidFill>
                  <a:srgbClr val="002060"/>
                </a:solidFill>
              </a:rPr>
              <a:t>kontekst</a:t>
            </a:r>
            <a:r>
              <a:rPr lang="en-US" i="1" dirty="0">
                <a:solidFill>
                  <a:srgbClr val="002060"/>
                </a:solidFill>
              </a:rPr>
              <a:t> </a:t>
            </a:r>
            <a:r>
              <a:rPr lang="en-US" i="1" dirty="0" err="1">
                <a:solidFill>
                  <a:srgbClr val="002060"/>
                </a:solidFill>
              </a:rPr>
              <a:t>almashinuvi</a:t>
            </a:r>
            <a:r>
              <a:rPr lang="en-US" i="1" dirty="0">
                <a:solidFill>
                  <a:srgbClr val="002060"/>
                </a:solidFill>
              </a:rPr>
              <a:t> </a:t>
            </a:r>
            <a:r>
              <a:rPr lang="en-US" i="1" dirty="0" err="1">
                <a:solidFill>
                  <a:srgbClr val="002060"/>
                </a:solidFill>
              </a:rPr>
              <a:t>haqida</a:t>
            </a:r>
            <a:r>
              <a:rPr lang="en-US" i="1" dirty="0">
                <a:solidFill>
                  <a:srgbClr val="002060"/>
                </a:solidFill>
              </a:rPr>
              <a:t> </a:t>
            </a:r>
            <a:r>
              <a:rPr lang="en-US" i="1" dirty="0" err="1">
                <a:solidFill>
                  <a:srgbClr val="002060"/>
                </a:solidFill>
              </a:rPr>
              <a:t>chuqur</a:t>
            </a:r>
            <a:r>
              <a:rPr lang="en-US" i="1" dirty="0">
                <a:solidFill>
                  <a:srgbClr val="002060"/>
                </a:solidFill>
              </a:rPr>
              <a:t> </a:t>
            </a:r>
            <a:r>
              <a:rPr lang="en-US" i="1" dirty="0" err="1">
                <a:solidFill>
                  <a:srgbClr val="002060"/>
                </a:solidFill>
              </a:rPr>
              <a:t>izohlar</a:t>
            </a:r>
            <a:r>
              <a:rPr lang="en-US" i="1" dirty="0">
                <a:solidFill>
                  <a:srgbClr val="002060"/>
                </a:solidFill>
              </a:rPr>
              <a:t> bor.</a:t>
            </a:r>
            <a:endParaRPr lang="ru-RU" i="1" dirty="0">
              <a:solidFill>
                <a:srgbClr val="002060"/>
              </a:solidFill>
            </a:endParaRPr>
          </a:p>
          <a:p>
            <a:pPr marL="457200" indent="-457200">
              <a:spcBef>
                <a:spcPts val="0"/>
              </a:spcBef>
              <a:buFont typeface="+mj-lt"/>
              <a:buAutoNum type="arabicPeriod"/>
            </a:pPr>
            <a:r>
              <a:rPr lang="en-US" b="1" i="1" dirty="0">
                <a:solidFill>
                  <a:srgbClr val="002060"/>
                </a:solidFill>
              </a:rPr>
              <a:t>Stallings, W.</a:t>
            </a:r>
            <a:r>
              <a:rPr lang="en-US" i="1" dirty="0">
                <a:solidFill>
                  <a:srgbClr val="002060"/>
                </a:solidFill>
              </a:rPr>
              <a:t/>
            </a:r>
            <a:br>
              <a:rPr lang="en-US" i="1" dirty="0">
                <a:solidFill>
                  <a:srgbClr val="002060"/>
                </a:solidFill>
              </a:rPr>
            </a:br>
            <a:r>
              <a:rPr lang="en-US" i="1" dirty="0">
                <a:solidFill>
                  <a:srgbClr val="002060"/>
                </a:solidFill>
              </a:rPr>
              <a:t>Operating Systems: Internals and Design Principles (9th Edition). Pearson, 2018.</a:t>
            </a:r>
            <a:br>
              <a:rPr lang="en-US" i="1" dirty="0">
                <a:solidFill>
                  <a:srgbClr val="002060"/>
                </a:solidFill>
              </a:rPr>
            </a:br>
            <a:r>
              <a:rPr lang="en-US" i="1" dirty="0">
                <a:solidFill>
                  <a:srgbClr val="002060"/>
                </a:solidFill>
              </a:rPr>
              <a:t>– </a:t>
            </a:r>
            <a:r>
              <a:rPr lang="en-US" i="1" dirty="0" err="1">
                <a:solidFill>
                  <a:srgbClr val="002060"/>
                </a:solidFill>
              </a:rPr>
              <a:t>Jarayonlarni</a:t>
            </a:r>
            <a:r>
              <a:rPr lang="en-US" i="1" dirty="0">
                <a:solidFill>
                  <a:srgbClr val="002060"/>
                </a:solidFill>
              </a:rPr>
              <a:t> </a:t>
            </a:r>
            <a:r>
              <a:rPr lang="en-US" i="1" dirty="0" err="1">
                <a:solidFill>
                  <a:srgbClr val="002060"/>
                </a:solidFill>
              </a:rPr>
              <a:t>boshqarish</a:t>
            </a:r>
            <a:r>
              <a:rPr lang="en-US" i="1" dirty="0">
                <a:solidFill>
                  <a:srgbClr val="002060"/>
                </a:solidFill>
              </a:rPr>
              <a:t> </a:t>
            </a:r>
            <a:r>
              <a:rPr lang="en-US" i="1" dirty="0" err="1">
                <a:solidFill>
                  <a:srgbClr val="002060"/>
                </a:solidFill>
              </a:rPr>
              <a:t>va</a:t>
            </a:r>
            <a:r>
              <a:rPr lang="en-US" i="1" dirty="0">
                <a:solidFill>
                  <a:srgbClr val="002060"/>
                </a:solidFill>
              </a:rPr>
              <a:t> </a:t>
            </a:r>
            <a:r>
              <a:rPr lang="en-US" i="1" dirty="0" err="1">
                <a:solidFill>
                  <a:srgbClr val="002060"/>
                </a:solidFill>
              </a:rPr>
              <a:t>xotira</a:t>
            </a:r>
            <a:r>
              <a:rPr lang="en-US" i="1" dirty="0">
                <a:solidFill>
                  <a:srgbClr val="002060"/>
                </a:solidFill>
              </a:rPr>
              <a:t> </a:t>
            </a:r>
            <a:r>
              <a:rPr lang="en-US" i="1" dirty="0" err="1">
                <a:solidFill>
                  <a:srgbClr val="002060"/>
                </a:solidFill>
              </a:rPr>
              <a:t>strukturalari</a:t>
            </a:r>
            <a:r>
              <a:rPr lang="en-US" i="1" dirty="0">
                <a:solidFill>
                  <a:srgbClr val="002060"/>
                </a:solidFill>
              </a:rPr>
              <a:t> </a:t>
            </a:r>
            <a:r>
              <a:rPr lang="en-US" i="1" dirty="0" err="1">
                <a:solidFill>
                  <a:srgbClr val="002060"/>
                </a:solidFill>
              </a:rPr>
              <a:t>asoslari</a:t>
            </a:r>
            <a:r>
              <a:rPr lang="en-US" i="1" dirty="0">
                <a:solidFill>
                  <a:srgbClr val="002060"/>
                </a:solidFill>
              </a:rPr>
              <a:t> </a:t>
            </a:r>
            <a:r>
              <a:rPr lang="en-US" i="1" dirty="0" err="1">
                <a:solidFill>
                  <a:srgbClr val="002060"/>
                </a:solidFill>
              </a:rPr>
              <a:t>tushuntirilgan</a:t>
            </a:r>
            <a:r>
              <a:rPr lang="en-US" i="1" dirty="0">
                <a:solidFill>
                  <a:srgbClr val="002060"/>
                </a:solidFill>
              </a:rPr>
              <a:t>.</a:t>
            </a:r>
            <a:endParaRPr lang="ru-RU" i="1" dirty="0">
              <a:solidFill>
                <a:srgbClr val="002060"/>
              </a:solidFill>
            </a:endParaRPr>
          </a:p>
          <a:p>
            <a:pPr marL="457200" indent="-457200">
              <a:spcBef>
                <a:spcPts val="0"/>
              </a:spcBef>
              <a:buFont typeface="+mj-lt"/>
              <a:buAutoNum type="arabicPeriod"/>
            </a:pPr>
            <a:r>
              <a:rPr lang="en-US" b="1" i="1" dirty="0">
                <a:solidFill>
                  <a:srgbClr val="002060"/>
                </a:solidFill>
              </a:rPr>
              <a:t>Bryant, R., </a:t>
            </a:r>
            <a:r>
              <a:rPr lang="en-US" b="1" i="1" dirty="0" err="1">
                <a:solidFill>
                  <a:srgbClr val="002060"/>
                </a:solidFill>
              </a:rPr>
              <a:t>O’Hallaron</a:t>
            </a:r>
            <a:r>
              <a:rPr lang="en-US" b="1" i="1" dirty="0">
                <a:solidFill>
                  <a:srgbClr val="002060"/>
                </a:solidFill>
              </a:rPr>
              <a:t>, D.</a:t>
            </a:r>
            <a:r>
              <a:rPr lang="en-US" i="1" dirty="0">
                <a:solidFill>
                  <a:srgbClr val="002060"/>
                </a:solidFill>
              </a:rPr>
              <a:t/>
            </a:r>
            <a:br>
              <a:rPr lang="en-US" i="1" dirty="0">
                <a:solidFill>
                  <a:srgbClr val="002060"/>
                </a:solidFill>
              </a:rPr>
            </a:br>
            <a:r>
              <a:rPr lang="en-US" i="1" dirty="0">
                <a:solidFill>
                  <a:srgbClr val="002060"/>
                </a:solidFill>
              </a:rPr>
              <a:t>Computer Systems: A Programmer’s Perspective (3rd Edition). Pearson, 2016.</a:t>
            </a:r>
            <a:br>
              <a:rPr lang="en-US" i="1" dirty="0">
                <a:solidFill>
                  <a:srgbClr val="002060"/>
                </a:solidFill>
              </a:rPr>
            </a:br>
            <a:r>
              <a:rPr lang="en-US" i="1" dirty="0">
                <a:solidFill>
                  <a:srgbClr val="002060"/>
                </a:solidFill>
              </a:rPr>
              <a:t>– Stack </a:t>
            </a:r>
            <a:r>
              <a:rPr lang="en-US" i="1" dirty="0" err="1">
                <a:solidFill>
                  <a:srgbClr val="002060"/>
                </a:solidFill>
              </a:rPr>
              <a:t>va</a:t>
            </a:r>
            <a:r>
              <a:rPr lang="en-US" i="1" dirty="0">
                <a:solidFill>
                  <a:srgbClr val="002060"/>
                </a:solidFill>
              </a:rPr>
              <a:t> heap </a:t>
            </a:r>
            <a:r>
              <a:rPr lang="en-US" i="1" dirty="0" err="1">
                <a:solidFill>
                  <a:srgbClr val="002060"/>
                </a:solidFill>
              </a:rPr>
              <a:t>xotiralarining</a:t>
            </a:r>
            <a:r>
              <a:rPr lang="en-US" i="1" dirty="0">
                <a:solidFill>
                  <a:srgbClr val="002060"/>
                </a:solidFill>
              </a:rPr>
              <a:t> </a:t>
            </a:r>
            <a:r>
              <a:rPr lang="en-US" i="1" dirty="0" err="1">
                <a:solidFill>
                  <a:srgbClr val="002060"/>
                </a:solidFill>
              </a:rPr>
              <a:t>jarayondagi</a:t>
            </a:r>
            <a:r>
              <a:rPr lang="en-US" i="1" dirty="0">
                <a:solidFill>
                  <a:srgbClr val="002060"/>
                </a:solidFill>
              </a:rPr>
              <a:t> </a:t>
            </a:r>
            <a:r>
              <a:rPr lang="en-US" i="1" dirty="0" err="1">
                <a:solidFill>
                  <a:srgbClr val="002060"/>
                </a:solidFill>
              </a:rPr>
              <a:t>o‘rni</a:t>
            </a:r>
            <a:r>
              <a:rPr lang="en-US" i="1" dirty="0">
                <a:solidFill>
                  <a:srgbClr val="002060"/>
                </a:solidFill>
              </a:rPr>
              <a:t> </a:t>
            </a:r>
            <a:r>
              <a:rPr lang="en-US" i="1" dirty="0" err="1">
                <a:solidFill>
                  <a:srgbClr val="002060"/>
                </a:solidFill>
              </a:rPr>
              <a:t>va</a:t>
            </a:r>
            <a:r>
              <a:rPr lang="en-US" i="1" dirty="0">
                <a:solidFill>
                  <a:srgbClr val="002060"/>
                </a:solidFill>
              </a:rPr>
              <a:t> </a:t>
            </a:r>
            <a:r>
              <a:rPr lang="en-US" i="1" dirty="0" err="1">
                <a:solidFill>
                  <a:srgbClr val="002060"/>
                </a:solidFill>
              </a:rPr>
              <a:t>amaliy</a:t>
            </a:r>
            <a:r>
              <a:rPr lang="en-US" i="1" dirty="0">
                <a:solidFill>
                  <a:srgbClr val="002060"/>
                </a:solidFill>
              </a:rPr>
              <a:t> </a:t>
            </a:r>
            <a:r>
              <a:rPr lang="en-US" i="1" dirty="0" err="1">
                <a:solidFill>
                  <a:srgbClr val="002060"/>
                </a:solidFill>
              </a:rPr>
              <a:t>misollar</a:t>
            </a:r>
            <a:r>
              <a:rPr lang="en-US" i="1" dirty="0">
                <a:solidFill>
                  <a:srgbClr val="002060"/>
                </a:solidFill>
              </a:rPr>
              <a:t> </a:t>
            </a:r>
            <a:r>
              <a:rPr lang="en-US" i="1" dirty="0" err="1">
                <a:solidFill>
                  <a:srgbClr val="002060"/>
                </a:solidFill>
              </a:rPr>
              <a:t>bilan</a:t>
            </a:r>
            <a:r>
              <a:rPr lang="en-US" i="1" dirty="0">
                <a:solidFill>
                  <a:srgbClr val="002060"/>
                </a:solidFill>
              </a:rPr>
              <a:t> </a:t>
            </a:r>
            <a:r>
              <a:rPr lang="en-US" i="1" dirty="0" err="1">
                <a:solidFill>
                  <a:srgbClr val="002060"/>
                </a:solidFill>
              </a:rPr>
              <a:t>ko‘rsatilgan</a:t>
            </a:r>
            <a:r>
              <a:rPr lang="en-US" i="1" dirty="0">
                <a:solidFill>
                  <a:srgbClr val="002060"/>
                </a:solidFill>
              </a:rPr>
              <a:t>.</a:t>
            </a:r>
            <a:endParaRPr lang="ru-RU" i="1" dirty="0">
              <a:solidFill>
                <a:srgbClr val="002060"/>
              </a:solidFill>
            </a:endParaRPr>
          </a:p>
          <a:p>
            <a:pPr marL="457200" indent="-457200">
              <a:spcBef>
                <a:spcPts val="0"/>
              </a:spcBef>
              <a:buFont typeface="+mj-lt"/>
              <a:buAutoNum type="arabicPeriod"/>
            </a:pPr>
            <a:r>
              <a:rPr lang="en-US" b="1" i="1" dirty="0" err="1">
                <a:solidFill>
                  <a:srgbClr val="002060"/>
                </a:solidFill>
              </a:rPr>
              <a:t>Cormen</a:t>
            </a:r>
            <a:r>
              <a:rPr lang="en-US" b="1" i="1" dirty="0">
                <a:solidFill>
                  <a:srgbClr val="002060"/>
                </a:solidFill>
              </a:rPr>
              <a:t>, T. H., </a:t>
            </a:r>
            <a:r>
              <a:rPr lang="en-US" b="1" i="1" dirty="0" err="1">
                <a:solidFill>
                  <a:srgbClr val="002060"/>
                </a:solidFill>
              </a:rPr>
              <a:t>Leiserson</a:t>
            </a:r>
            <a:r>
              <a:rPr lang="en-US" b="1" i="1" dirty="0">
                <a:solidFill>
                  <a:srgbClr val="002060"/>
                </a:solidFill>
              </a:rPr>
              <a:t>, C. E., </a:t>
            </a:r>
            <a:r>
              <a:rPr lang="en-US" b="1" i="1" dirty="0" err="1">
                <a:solidFill>
                  <a:srgbClr val="002060"/>
                </a:solidFill>
              </a:rPr>
              <a:t>Rivest</a:t>
            </a:r>
            <a:r>
              <a:rPr lang="en-US" b="1" i="1" dirty="0">
                <a:solidFill>
                  <a:srgbClr val="002060"/>
                </a:solidFill>
              </a:rPr>
              <a:t>, R. L., Stein, C.</a:t>
            </a:r>
            <a:r>
              <a:rPr lang="en-US" i="1" dirty="0">
                <a:solidFill>
                  <a:srgbClr val="002060"/>
                </a:solidFill>
              </a:rPr>
              <a:t/>
            </a:r>
            <a:br>
              <a:rPr lang="en-US" i="1" dirty="0">
                <a:solidFill>
                  <a:srgbClr val="002060"/>
                </a:solidFill>
              </a:rPr>
            </a:br>
            <a:r>
              <a:rPr lang="en-US" i="1" dirty="0">
                <a:solidFill>
                  <a:srgbClr val="002060"/>
                </a:solidFill>
              </a:rPr>
              <a:t>Introduction to Algorithms (CLRS), MIT Press, 2009.</a:t>
            </a:r>
            <a:br>
              <a:rPr lang="en-US" i="1" dirty="0">
                <a:solidFill>
                  <a:srgbClr val="002060"/>
                </a:solidFill>
              </a:rPr>
            </a:br>
            <a:r>
              <a:rPr lang="en-US" i="1" dirty="0">
                <a:solidFill>
                  <a:srgbClr val="002060"/>
                </a:solidFill>
              </a:rPr>
              <a:t>– </a:t>
            </a:r>
            <a:r>
              <a:rPr lang="en-US" i="1" dirty="0" err="1">
                <a:solidFill>
                  <a:srgbClr val="002060"/>
                </a:solidFill>
              </a:rPr>
              <a:t>Dinamik</a:t>
            </a:r>
            <a:r>
              <a:rPr lang="en-US" i="1" dirty="0">
                <a:solidFill>
                  <a:srgbClr val="002060"/>
                </a:solidFill>
              </a:rPr>
              <a:t> </a:t>
            </a:r>
            <a:r>
              <a:rPr lang="en-US" i="1" dirty="0" err="1">
                <a:solidFill>
                  <a:srgbClr val="002060"/>
                </a:solidFill>
              </a:rPr>
              <a:t>xotira</a:t>
            </a:r>
            <a:r>
              <a:rPr lang="en-US" i="1" dirty="0">
                <a:solidFill>
                  <a:srgbClr val="002060"/>
                </a:solidFill>
              </a:rPr>
              <a:t> </a:t>
            </a:r>
            <a:r>
              <a:rPr lang="en-US" i="1" dirty="0" err="1">
                <a:solidFill>
                  <a:srgbClr val="002060"/>
                </a:solidFill>
              </a:rPr>
              <a:t>ajratish</a:t>
            </a:r>
            <a:r>
              <a:rPr lang="en-US" i="1" dirty="0">
                <a:solidFill>
                  <a:srgbClr val="002060"/>
                </a:solidFill>
              </a:rPr>
              <a:t> (</a:t>
            </a:r>
            <a:r>
              <a:rPr lang="en-US" i="1" dirty="0" err="1">
                <a:solidFill>
                  <a:srgbClr val="002060"/>
                </a:solidFill>
              </a:rPr>
              <a:t>malloc</a:t>
            </a:r>
            <a:r>
              <a:rPr lang="en-US" i="1" dirty="0">
                <a:solidFill>
                  <a:srgbClr val="002060"/>
                </a:solidFill>
              </a:rPr>
              <a:t>, new) </a:t>
            </a:r>
            <a:r>
              <a:rPr lang="en-US" i="1" dirty="0" err="1">
                <a:solidFill>
                  <a:srgbClr val="002060"/>
                </a:solidFill>
              </a:rPr>
              <a:t>algoritmlari</a:t>
            </a:r>
            <a:r>
              <a:rPr lang="en-US" i="1" dirty="0">
                <a:solidFill>
                  <a:srgbClr val="002060"/>
                </a:solidFill>
              </a:rPr>
              <a:t> </a:t>
            </a:r>
            <a:r>
              <a:rPr lang="en-US" i="1" dirty="0" err="1">
                <a:solidFill>
                  <a:srgbClr val="002060"/>
                </a:solidFill>
              </a:rPr>
              <a:t>haqida</a:t>
            </a:r>
            <a:r>
              <a:rPr lang="en-US" i="1" dirty="0">
                <a:solidFill>
                  <a:srgbClr val="002060"/>
                </a:solidFill>
              </a:rPr>
              <a:t>.</a:t>
            </a:r>
            <a:endParaRPr lang="ru-RU" i="1" dirty="0">
              <a:solidFill>
                <a:srgbClr val="002060"/>
              </a:solidFill>
            </a:endParaRPr>
          </a:p>
          <a:p>
            <a:pPr marL="388620" indent="-342900">
              <a:spcBef>
                <a:spcPts val="0"/>
              </a:spcBef>
              <a:buFont typeface="+mj-lt"/>
              <a:buAutoNum type="arabicPeriod"/>
            </a:pPr>
            <a:endParaRPr lang="ru-RU" sz="1800" i="1" dirty="0">
              <a:solidFill>
                <a:srgbClr val="002060"/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 Them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Slipstream</Template>
  <TotalTime>3017</TotalTime>
  <Words>678</Words>
  <Application>Microsoft Office PowerPoint</Application>
  <PresentationFormat>Экран (4:3)</PresentationFormat>
  <Paragraphs>99</Paragraphs>
  <Slides>20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12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20</vt:i4>
      </vt:variant>
    </vt:vector>
  </HeadingPairs>
  <TitlesOfParts>
    <vt:vector size="34" baseType="lpstr">
      <vt:lpstr>Arial</vt:lpstr>
      <vt:lpstr>Calibri</vt:lpstr>
      <vt:lpstr>Calibri Light</vt:lpstr>
      <vt:lpstr>Cambria</vt:lpstr>
      <vt:lpstr>Google Sans</vt:lpstr>
      <vt:lpstr>KaTeX_Main</vt:lpstr>
      <vt:lpstr>KaTeX_Math</vt:lpstr>
      <vt:lpstr>Montserrat Medium</vt:lpstr>
      <vt:lpstr>Nunito</vt:lpstr>
      <vt:lpstr>Open Sans</vt:lpstr>
      <vt:lpstr>Poppins</vt:lpstr>
      <vt:lpstr>Times New Roman</vt:lpstr>
      <vt:lpstr>Office Theme</vt:lpstr>
      <vt:lpstr>1_Office Theme</vt:lpstr>
      <vt:lpstr>Презентация PowerPoint</vt:lpstr>
      <vt:lpstr>Reja 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Shell skriptlari asoslari </vt:lpstr>
      <vt:lpstr>Xulosa</vt:lpstr>
      <vt:lpstr>Foydalanilgan adabiyotlar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Operatsion tizimlar tushunchasi va</dc:title>
  <dc:creator>Temurbek</dc:creator>
  <cp:lastModifiedBy>Пользователь</cp:lastModifiedBy>
  <cp:revision>309</cp:revision>
  <dcterms:created xsi:type="dcterms:W3CDTF">2015-02-05T07:15:58Z</dcterms:created>
  <dcterms:modified xsi:type="dcterms:W3CDTF">2025-11-25T12:04:55Z</dcterms:modified>
</cp:coreProperties>
</file>