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1" r:id="rId2"/>
  </p:sldMasterIdLst>
  <p:sldIdLst>
    <p:sldId id="278" r:id="rId3"/>
    <p:sldId id="288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10" r:id="rId12"/>
    <p:sldId id="289" r:id="rId13"/>
    <p:sldId id="339" r:id="rId14"/>
    <p:sldId id="362" r:id="rId15"/>
    <p:sldId id="363" r:id="rId16"/>
    <p:sldId id="361" r:id="rId17"/>
    <p:sldId id="353" r:id="rId18"/>
    <p:sldId id="272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2" autoAdjust="0"/>
    <p:restoredTop sz="94660"/>
  </p:normalViewPr>
  <p:slideViewPr>
    <p:cSldViewPr snapToGrid="0">
      <p:cViewPr varScale="1">
        <p:scale>
          <a:sx n="51" d="100"/>
          <a:sy n="51" d="100"/>
        </p:scale>
        <p:origin x="197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9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1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151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53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86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4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91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283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88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70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9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345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87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7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61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868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eeksforgeeks.org/computer-graphics/what-is-graphical-user-interfac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rlessons.com/tutorials/akademicheskii/osnovy-operatsionnykh-sistem/15-upravlenie-protsessami-v-os" TargetMode="Externa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E87C95D-A949-8018-EAD4-7E662E967B8B}"/>
              </a:ext>
            </a:extLst>
          </p:cNvPr>
          <p:cNvSpPr/>
          <p:nvPr/>
        </p:nvSpPr>
        <p:spPr>
          <a:xfrm>
            <a:off x="1143000" y="3472860"/>
            <a:ext cx="6858000" cy="14649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99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91" y="1958201"/>
            <a:ext cx="815033" cy="815033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:a16="http://schemas.microsoft.com/office/drawing/2014/main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071" y="2707953"/>
            <a:ext cx="1423074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2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7CEA3-5F12-F926-5225-E322607396DD}"/>
              </a:ext>
            </a:extLst>
          </p:cNvPr>
          <p:cNvSpPr txBox="1"/>
          <p:nvPr/>
        </p:nvSpPr>
        <p:spPr>
          <a:xfrm>
            <a:off x="2203417" y="2115491"/>
            <a:ext cx="2083005" cy="56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5" y="4890125"/>
            <a:ext cx="283550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749125" y="4307118"/>
            <a:ext cx="0" cy="13537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:a16="http://schemas.microsoft.com/office/drawing/2014/main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498" y="971947"/>
            <a:ext cx="815033" cy="81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87285E1-AEB3-23F8-1174-DB88C42A560B}"/>
              </a:ext>
            </a:extLst>
          </p:cNvPr>
          <p:cNvSpPr txBox="1"/>
          <p:nvPr/>
        </p:nvSpPr>
        <p:spPr>
          <a:xfrm>
            <a:off x="2049527" y="1148632"/>
            <a:ext cx="592347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1500" b="1" spc="134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2133531" y="1610297"/>
            <a:ext cx="5867469" cy="74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51" r="13851"/>
          <a:stretch>
            <a:fillRect/>
          </a:stretch>
        </p:blipFill>
        <p:spPr>
          <a:xfrm>
            <a:off x="4898441" y="1298783"/>
            <a:ext cx="3074558" cy="3106593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2707211" y="3147021"/>
            <a:ext cx="5230280" cy="82269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:a16="http://schemas.microsoft.com/office/drawing/2014/main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929" y="3210248"/>
            <a:ext cx="4375733" cy="67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Shell.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Lokal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o’zgaruvchilar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Ayrim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shell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buyruqlari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flags </a:t>
            </a: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153" y="3432172"/>
            <a:ext cx="737141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35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3505955" y="3147799"/>
            <a:ext cx="0" cy="8226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26734-4FF9-4643-9CF3-2134BE2C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 err="1">
                <a:solidFill>
                  <a:srgbClr val="00B050"/>
                </a:solidFill>
              </a:rPr>
              <a:t>Reja</a:t>
            </a:r>
            <a:r>
              <a:rPr lang="en-US" b="1" i="1" dirty="0">
                <a:solidFill>
                  <a:srgbClr val="00B050"/>
                </a:solidFill>
              </a:rPr>
              <a:t> </a:t>
            </a:r>
            <a:endParaRPr lang="ru-RU" b="1" i="1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6929A1-5B41-41C7-B7DF-0D0E2C678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0070C0"/>
                </a:solidFill>
              </a:rPr>
              <a:t>Kirish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Lokal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o’zgaruvchilar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Muhim</a:t>
            </a:r>
            <a:r>
              <a:rPr lang="en-US" b="1" i="1" dirty="0">
                <a:solidFill>
                  <a:srgbClr val="0070C0"/>
                </a:solidFill>
              </a:rPr>
              <a:t> shell </a:t>
            </a:r>
            <a:r>
              <a:rPr lang="en-US" b="1" i="1" dirty="0" err="1">
                <a:solidFill>
                  <a:srgbClr val="0070C0"/>
                </a:solidFill>
              </a:rPr>
              <a:t>buyruqlari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Flags(</a:t>
            </a:r>
            <a:r>
              <a:rPr lang="en-US" b="1" i="1" dirty="0" err="1">
                <a:solidFill>
                  <a:srgbClr val="0070C0"/>
                </a:solidFill>
              </a:rPr>
              <a:t>optionlar</a:t>
            </a:r>
            <a:r>
              <a:rPr lang="en-US" b="1" i="1" dirty="0">
                <a:solidFill>
                  <a:srgbClr val="0070C0"/>
                </a:solidFill>
              </a:rPr>
              <a:t>) </a:t>
            </a:r>
            <a:r>
              <a:rPr lang="en-US" b="1" i="1" dirty="0" err="1">
                <a:solidFill>
                  <a:srgbClr val="0070C0"/>
                </a:solidFill>
              </a:rPr>
              <a:t>tushinchasi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Amaliy</a:t>
            </a:r>
            <a:r>
              <a:rPr lang="en-US" b="1" i="1" dirty="0">
                <a:solidFill>
                  <a:srgbClr val="0070C0"/>
                </a:solidFill>
              </a:rPr>
              <a:t>  </a:t>
            </a:r>
            <a:r>
              <a:rPr lang="en-US" b="1" i="1" dirty="0" err="1">
                <a:solidFill>
                  <a:srgbClr val="0070C0"/>
                </a:solidFill>
              </a:rPr>
              <a:t>misollar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Xulosa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Mavzu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bo‘yicha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savollar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Foydalanilgan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adabiyotlar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</a:p>
          <a:p>
            <a:endParaRPr lang="en-US" b="1" i="1" dirty="0">
              <a:solidFill>
                <a:srgbClr val="0070C0"/>
              </a:solidFill>
            </a:endParaRPr>
          </a:p>
          <a:p>
            <a:endParaRPr lang="ru-RU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84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67FF3-B762-4FF2-96CE-8416C68F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81664"/>
            <a:ext cx="7886698" cy="99874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 Shell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skriptlariga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br>
              <a:rPr lang="ru-RU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DBB6B3-012E-49C7-8F57-DDDBF3C5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 (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Bourne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Again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SHell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- Linux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tizimlarida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keng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qo'llaniladigan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Unix-ga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o'xshash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qobiq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Bu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skript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faylidan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buyruqlarni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o'qiydigan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bajaradigan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buyruq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qatori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tarjimoni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Linux,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tizimdan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4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bilvosita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buyruqlarimizni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sharhlovchi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bajaradigan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bo'lamiz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Ubuntu, Linux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Mint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Linux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distribyutorlarini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ilganda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oshadi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Linux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qobiqlari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bo’linadi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spc="10" dirty="0">
              <a:solidFill>
                <a:srgbClr val="273239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Yadro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Terminal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77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5EC30-417A-4DBF-8AC3-8AD7CA21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Karnel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A8321-DDD6-49AB-BE95-750E4BA8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	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Yadro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-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bu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kompyuter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operatsion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tizimining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yadrosi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bo'lgan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,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tizimdagi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hamma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narsani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to'liq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nazorat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qiladigan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kompyuter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dasturi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. U Linux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tizimining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quyidagi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resurslarini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boshqaradi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Fayl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boshqaruvi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Jarayonni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I/</a:t>
            </a:r>
            <a:r>
              <a:rPr lang="en-US" sz="1800" spc="10" dirty="0">
                <a:solidFill>
                  <a:srgbClr val="273239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boshqaruvi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Xotirani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Qurilmani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boshqalar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To'liq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Linux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Yadro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GNU 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yordam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dasturlari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kutubxonalari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boshqaruv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skriptlari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o'rnatish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skriptlari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6728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1C49A7C-2720-45DB-A24A-43672500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75220"/>
            <a:ext cx="8058150" cy="18039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operatsion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yadrosi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(Linux kernel)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o‘rtasidagi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tarjimoni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Terminal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qabul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bajaradi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qaytaradi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F270C9-BAB1-45FC-A66F-876495462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876" y="1633929"/>
            <a:ext cx="4549137" cy="4848850"/>
          </a:xfrm>
        </p:spPr>
        <p:txBody>
          <a:bodyPr>
            <a:noAutofit/>
          </a:bodyPr>
          <a:lstStyle/>
          <a:p>
            <a:pPr indent="0" algn="just">
              <a:lnSpc>
                <a:spcPct val="120000"/>
              </a:lnSpc>
              <a:spcAft>
                <a:spcPts val="8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shell’lar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(default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distributivlarda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 algn="just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(TTY/PTY)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muhitda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qanday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kirganda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shell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tushiriladi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Shell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kirish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chiqish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terminalga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Bu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so'rovni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belgini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kiritish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boshlanadi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Linux Shell">
            <a:extLst>
              <a:ext uri="{FF2B5EF4-FFF2-40B4-BE49-F238E27FC236}">
                <a16:creationId xmlns:a16="http://schemas.microsoft.com/office/drawing/2014/main" id="{3F285F63-8948-4888-B3F7-3EEC4B1B9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014" y="2555633"/>
            <a:ext cx="3971109" cy="3752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82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D7AD0E7-6065-45AD-A519-532CBA31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52" y="846334"/>
            <a:ext cx="8043896" cy="1476103"/>
          </a:xfrm>
        </p:spPr>
        <p:txBody>
          <a:bodyPr>
            <a:noAutofit/>
          </a:bodyPr>
          <a:lstStyle/>
          <a:p>
            <a:pPr indent="450215"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sessiyalari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turlari</a:t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 shell: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kirishda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(SSH, TTY).</a:t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Non-login shell: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ochilgan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terminal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ichida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shell (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GNOME Terminal).</a:t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o‘zaro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muloqot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(prompt,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readline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Non-interactive: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tushganda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(stdin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buyruqlar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oqimi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0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4DACF2-5B4F-48AE-9DAA-8D4217B1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052" y="2083470"/>
            <a:ext cx="8043896" cy="2084124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toifaga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bo'linadi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Buyruqlar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qatori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qobig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en-US" sz="2000" b="1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Grafik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qobiq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Shell-ga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kirishlari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Linux/macOS da Terminal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 OS da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nomlangan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-l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 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hokazo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o'qiy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foydalanuvchiga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terminalda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ko'rsatiladi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/>
          </a:p>
        </p:txBody>
      </p:sp>
      <p:pic>
        <p:nvPicPr>
          <p:cNvPr id="4" name="Рисунок 3" descr="linux buyruq qatori">
            <a:extLst>
              <a:ext uri="{FF2B5EF4-FFF2-40B4-BE49-F238E27FC236}">
                <a16:creationId xmlns:a16="http://schemas.microsoft.com/office/drawing/2014/main" id="{54445435-315A-42DA-B976-BA25C0A3C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118" y="4037507"/>
            <a:ext cx="4920281" cy="247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759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793F4D-1089-4B2D-8B44-B8436DCF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77" y="447807"/>
            <a:ext cx="8333648" cy="28500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qobiqlar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oynalarni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ko'chirish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o'lchamlarini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o'zgartirish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diqqatni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derazalar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o'rtasida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operatsiyalarga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u="sng" spc="10" dirty="0" err="1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grafik</a:t>
            </a:r>
            <a:r>
              <a:rPr lang="en-US" sz="2000" u="sng" spc="1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sz="2000" u="sng" spc="10" dirty="0" err="1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foydalanuvchi</a:t>
            </a:r>
            <a:r>
              <a:rPr lang="en-US" sz="2000" u="sng" spc="1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sz="2000" u="sng" spc="10" dirty="0" err="1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interfeysi</a:t>
            </a:r>
            <a:r>
              <a:rPr lang="en-US" sz="2000" u="sng" spc="1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(GUI)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dasturlarni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manipulyatsiya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vositalarini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 OS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Ubuntu OS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GUI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etadigan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yaxshi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ko'rib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harakat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kiritishlari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Ubuntu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tizimidagi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odatiy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GUI: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GUI Shell">
            <a:extLst>
              <a:ext uri="{FF2B5EF4-FFF2-40B4-BE49-F238E27FC236}">
                <a16:creationId xmlns:a16="http://schemas.microsoft.com/office/drawing/2014/main" id="{9049E7D3-B3A9-4CC9-935F-D653FACA5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88" y="2919334"/>
            <a:ext cx="5940425" cy="32169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228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EAA8B-D9B4-4457-BFE1-6A04A4CE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Linux </a:t>
            </a:r>
            <a:r>
              <a:rPr lang="en-US" sz="36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tizimlari</a:t>
            </a:r>
            <a:r>
              <a:rPr lang="en-US" sz="36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36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qobiqlar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106899-DFE3-44D8-AB5D-3FBC8773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-BASH (</a:t>
            </a:r>
            <a:r>
              <a:rPr lang="en-US" sz="1800" b="1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Bourne</a:t>
            </a: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Again Shell):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Bu Linux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tizimlarida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ko'p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ishlatiladigan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qobiqdir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U Linux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tizimlarida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macOS da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kirish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qobig'i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sifatida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Uni Windows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operatsion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tizimiga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o'rnatish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-CSH (C Shell):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C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qobig'ining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sintaksisi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undan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foydalanish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tiliga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o'xshash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-KSH (Korn Shell):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Korn Shell,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shuningdek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POSIX Shell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spetsifikatsiyalari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boshqalar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asos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bo'lgan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8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79B99-B032-4780-85B7-01152DB7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Teminal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725AA9-3723-4667-933B-E5E35C98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9" y="1161950"/>
            <a:ext cx="7869890" cy="4889709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qobiqqa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mas'ul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foydalanuvchilarga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 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Shellning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tarjimonidir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(CLI),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ko'rsatmalar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ro'yxatidir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shkengaytmali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 myscript.sh</a:t>
            </a:r>
          </a:p>
          <a:p>
            <a:pPr marL="0" indent="0" fontAlgn="base">
              <a:lnSpc>
                <a:spcPct val="10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&quot;python&quot; katalogiga kiring:">
            <a:extLst>
              <a:ext uri="{FF2B5EF4-FFF2-40B4-BE49-F238E27FC236}">
                <a16:creationId xmlns:a16="http://schemas.microsoft.com/office/drawing/2014/main" id="{12918BE9-334D-444C-BF0D-7AA2DA1D3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61" y="3987384"/>
            <a:ext cx="6864052" cy="2189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515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60" y="895082"/>
            <a:ext cx="7869890" cy="5281883"/>
          </a:xfrm>
        </p:spPr>
        <p:txBody>
          <a:bodyPr>
            <a:normAutofit/>
          </a:bodyPr>
          <a:lstStyle/>
          <a:p>
            <a:pPr marL="0" indent="0" fontAlgn="base">
              <a:spcAft>
                <a:spcPts val="750"/>
              </a:spcAft>
              <a:buNone/>
            </a:pPr>
            <a:r>
              <a:rPr lang="ru-RU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Linux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tarjimonidir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o'rtasidagi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ta'minlaydi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ketma-ketligi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yozilishi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ataladi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Shell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skriptlarida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o'zgaruvchilarning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uchta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hell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o'zgaruvchisi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mahalliy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96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22294-2C25-49C6-ABA6-82A94AE9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o’zgaruvchi</a:t>
            </a:r>
            <a:endParaRPr lang="ru-RU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5F196F-814A-4DDB-882E-D9E28216D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964" y="478631"/>
            <a:ext cx="8210071" cy="200764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o'zgaruvchilarning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maxsus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bo'lib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ma'lum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funktsiya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kod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blokida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qo'llaniladi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Blok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tugagandan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so’ng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xotiradan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o’chadi</a:t>
            </a:r>
            <a:endParaRPr lang="en-US" sz="18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faqatgina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ishlamaydi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tashqarisida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o‘zgaruvchiga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xatolik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ro‘y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chiqariladi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5A46D1-FAE9-49CF-A0CA-05AACE1C0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964" y="2486271"/>
            <a:ext cx="4469776" cy="350769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o‘zlari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eʼlon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bo‘ladigan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muayyan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doirasida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doirasidagina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o‘zgaruvchilardan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qismlarida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qolishi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kamaytiradi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o’zgaruvchining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funksiyalari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-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Izolyatsiya</a:t>
            </a:r>
            <a:endParaRPr lang="en-US" sz="18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-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Xotirani</a:t>
            </a: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tejash</a:t>
            </a:r>
            <a:endParaRPr lang="en-US" sz="18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- </a:t>
            </a:r>
            <a:r>
              <a:rPr lang="en-US" sz="18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Modullilik</a:t>
            </a:r>
            <a:endParaRPr lang="en-US" sz="18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C88AC59-6F97-4D68-A043-136F4C48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740" y="2928791"/>
            <a:ext cx="3496163" cy="33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5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66104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Global </a:t>
            </a:r>
            <a:r>
              <a:rPr lang="en-US" dirty="0" err="1">
                <a:solidFill>
                  <a:srgbClr val="C00000"/>
                </a:solidFill>
              </a:rPr>
              <a:t>o’zgaruvchi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2" y="824248"/>
            <a:ext cx="7869890" cy="48897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Global </a:t>
            </a:r>
            <a:r>
              <a:rPr lang="en-US" dirty="0" err="1"/>
              <a:t>o’zgaruvchi</a:t>
            </a:r>
            <a:r>
              <a:rPr lang="en-US" dirty="0"/>
              <a:t> –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bo’ylab</a:t>
            </a:r>
            <a:r>
              <a:rPr lang="en-US" dirty="0"/>
              <a:t> </a:t>
            </a:r>
            <a:r>
              <a:rPr lang="en-US" dirty="0" err="1"/>
              <a:t>hamma</a:t>
            </a:r>
            <a:r>
              <a:rPr lang="en-US" dirty="0"/>
              <a:t> </a:t>
            </a:r>
            <a:r>
              <a:rPr lang="en-US" dirty="0" err="1"/>
              <a:t>funksiyalarda</a:t>
            </a:r>
            <a:r>
              <a:rPr lang="en-US" dirty="0"/>
              <a:t> </a:t>
            </a:r>
            <a:r>
              <a:rPr lang="en-US" dirty="0" err="1"/>
              <a:t>ko’rinadigan</a:t>
            </a:r>
            <a:r>
              <a:rPr lang="en-US" dirty="0"/>
              <a:t> </a:t>
            </a:r>
            <a:r>
              <a:rPr lang="en-US" dirty="0" err="1"/>
              <a:t>o’zgaruvchi</a:t>
            </a:r>
            <a:r>
              <a:rPr lang="en-US" dirty="0"/>
              <a:t>.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boshida</a:t>
            </a:r>
            <a:r>
              <a:rPr lang="en-US" dirty="0"/>
              <a:t> </a:t>
            </a:r>
            <a:r>
              <a:rPr lang="en-US" dirty="0" err="1"/>
              <a:t>e’lon</a:t>
            </a:r>
            <a:r>
              <a:rPr lang="en-US" dirty="0"/>
              <a:t> </a:t>
            </a:r>
            <a:r>
              <a:rPr lang="en-US" dirty="0" err="1"/>
              <a:t>qilinib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tugaguncha</a:t>
            </a:r>
            <a:r>
              <a:rPr lang="en-US" dirty="0"/>
              <a:t> </a:t>
            </a:r>
            <a:r>
              <a:rPr lang="en-US" dirty="0" err="1"/>
              <a:t>xotirada</a:t>
            </a:r>
            <a:r>
              <a:rPr lang="en-US" dirty="0"/>
              <a:t> </a:t>
            </a:r>
            <a:r>
              <a:rPr lang="en-US" dirty="0" err="1"/>
              <a:t>saqlanadi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barch</a:t>
            </a:r>
            <a:r>
              <a:rPr lang="en-US" dirty="0"/>
              <a:t> </a:t>
            </a:r>
            <a:r>
              <a:rPr lang="en-US" dirty="0" err="1"/>
              <a:t>funksiyalar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ishlatilishi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Global </a:t>
            </a:r>
            <a:r>
              <a:rPr lang="en-US" dirty="0" err="1"/>
              <a:t>o’zgaruvchining</a:t>
            </a:r>
            <a:r>
              <a:rPr lang="en-US" dirty="0"/>
              <a:t> </a:t>
            </a:r>
            <a:r>
              <a:rPr lang="en-US" dirty="0" err="1"/>
              <a:t>funksiyalari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holatini</a:t>
            </a:r>
            <a:r>
              <a:rPr lang="en-US" dirty="0"/>
              <a:t> </a:t>
            </a:r>
            <a:r>
              <a:rPr lang="en-US" dirty="0" err="1"/>
              <a:t>kuzatish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Modullararo</a:t>
            </a:r>
            <a:r>
              <a:rPr lang="en-US" dirty="0"/>
              <a:t> </a:t>
            </a:r>
            <a:r>
              <a:rPr lang="en-US" dirty="0" err="1"/>
              <a:t>aloqa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Xotira</a:t>
            </a:r>
            <a:r>
              <a:rPr lang="en-US" dirty="0"/>
              <a:t> </a:t>
            </a:r>
            <a:r>
              <a:rPr lang="en-US" dirty="0" err="1"/>
              <a:t>manzillarini</a:t>
            </a:r>
            <a:r>
              <a:rPr lang="en-US" dirty="0"/>
              <a:t> </a:t>
            </a:r>
            <a:r>
              <a:rPr lang="en-US" dirty="0" err="1"/>
              <a:t>o’zgarmas</a:t>
            </a:r>
            <a:r>
              <a:rPr lang="en-US" dirty="0"/>
              <a:t> </a:t>
            </a:r>
            <a:r>
              <a:rPr lang="en-US" dirty="0" err="1"/>
              <a:t>bo’lishi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E34C12-24F1-4A97-B245-23D2C37D9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924" y="2274952"/>
            <a:ext cx="323895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74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A95F-D183-41D1-AEBE-C2B0BD02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Muhim shell buyruqlari va flaglari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E339AFA-577B-4F30-AAAB-1324B219A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287132"/>
              </p:ext>
            </p:extLst>
          </p:nvPr>
        </p:nvGraphicFramePr>
        <p:xfrm>
          <a:off x="1139252" y="982068"/>
          <a:ext cx="6865495" cy="53332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4786">
                  <a:extLst>
                    <a:ext uri="{9D8B030D-6E8A-4147-A177-3AD203B41FA5}">
                      <a16:colId xmlns:a16="http://schemas.microsoft.com/office/drawing/2014/main" val="2614346317"/>
                    </a:ext>
                  </a:extLst>
                </a:gridCol>
                <a:gridCol w="2649423">
                  <a:extLst>
                    <a:ext uri="{9D8B030D-6E8A-4147-A177-3AD203B41FA5}">
                      <a16:colId xmlns:a16="http://schemas.microsoft.com/office/drawing/2014/main" val="2596702067"/>
                    </a:ext>
                  </a:extLst>
                </a:gridCol>
                <a:gridCol w="3191286">
                  <a:extLst>
                    <a:ext uri="{9D8B030D-6E8A-4147-A177-3AD203B41FA5}">
                      <a16:colId xmlns:a16="http://schemas.microsoft.com/office/drawing/2014/main" val="2111295777"/>
                    </a:ext>
                  </a:extLst>
                </a:gridCol>
              </a:tblGrid>
              <a:tr h="2904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Buyruq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Vazifasi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Asosiy flaglari / Misollar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5742500"/>
                  </a:ext>
                </a:extLst>
              </a:tr>
              <a:tr h="2112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pwd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Joriy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katalogni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ko‘rsatadi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pwd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821469"/>
                  </a:ext>
                </a:extLst>
              </a:tr>
              <a:tr h="8444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ls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Fayllar va kataloglarni chiqaradi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ls -l (uzun format), ls -a (yashirin fayllar), ls -lh (odam o‘qiy oladigan format)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2636434"/>
                  </a:ext>
                </a:extLst>
              </a:tr>
              <a:tr h="2904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Katalogni almashtiradi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cd /home/user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24127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echo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Matn yoki o‘zgaruvchini chiqaradi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echo $PATH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8963250"/>
                  </a:ext>
                </a:extLst>
              </a:tr>
              <a:tr h="2904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cat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Faylni ko‘rsatadi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cat file.txt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1053259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Fayl/katalogni nusxalaydi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cp -r dir1 dir2 (rekursiv), cp -i a.txt b.txt (tasdiq bilan)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6318344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mv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Faylni ko‘chirish yoki nomini o‘zgartirish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mv a.txt /tmp/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5143997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rm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Fayl/katalogni o‘chiradi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rm -i (tasdiq bilan), rm -r (rekursiv), rm -rf (majburiy)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9483367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touch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Yangi bo‘sh fayl yaratish yoki vaqtni yangilash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touch new.txt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0175399"/>
                  </a:ext>
                </a:extLst>
              </a:tr>
              <a:tr h="2904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man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Buyruqlar uchun qo‘llanma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man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ls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7967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90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C8952F6-EE72-4860-BC31-23D4CF08C7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038558"/>
              </p:ext>
            </p:extLst>
          </p:nvPr>
        </p:nvGraphicFramePr>
        <p:xfrm>
          <a:off x="1034321" y="914400"/>
          <a:ext cx="7285220" cy="48609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7437">
                  <a:extLst>
                    <a:ext uri="{9D8B030D-6E8A-4147-A177-3AD203B41FA5}">
                      <a16:colId xmlns:a16="http://schemas.microsoft.com/office/drawing/2014/main" val="2080891316"/>
                    </a:ext>
                  </a:extLst>
                </a:gridCol>
                <a:gridCol w="2811397">
                  <a:extLst>
                    <a:ext uri="{9D8B030D-6E8A-4147-A177-3AD203B41FA5}">
                      <a16:colId xmlns:a16="http://schemas.microsoft.com/office/drawing/2014/main" val="821968812"/>
                    </a:ext>
                  </a:extLst>
                </a:gridCol>
                <a:gridCol w="3386386">
                  <a:extLst>
                    <a:ext uri="{9D8B030D-6E8A-4147-A177-3AD203B41FA5}">
                      <a16:colId xmlns:a16="http://schemas.microsoft.com/office/drawing/2014/main" val="1082177141"/>
                    </a:ext>
                  </a:extLst>
                </a:gridCol>
              </a:tblGrid>
              <a:tr h="824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grep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Matn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ichidan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qidiradi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grep -</a:t>
                      </a:r>
                      <a:r>
                        <a:rPr lang="en-US" sz="1800" dirty="0" err="1">
                          <a:effectLst/>
                        </a:rPr>
                        <a:t>i</a:t>
                      </a:r>
                      <a:r>
                        <a:rPr lang="en-US" sz="1800" dirty="0">
                          <a:effectLst/>
                        </a:rPr>
                        <a:t> "text" file.txt (</a:t>
                      </a:r>
                      <a:r>
                        <a:rPr lang="en-US" sz="1800" dirty="0" err="1">
                          <a:effectLst/>
                        </a:rPr>
                        <a:t>katta-kichik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farqsiz</a:t>
                      </a:r>
                      <a:r>
                        <a:rPr lang="en-US" sz="1800" dirty="0">
                          <a:effectLst/>
                        </a:rPr>
                        <a:t>), grep -r "pattern" </a:t>
                      </a:r>
                      <a:r>
                        <a:rPr lang="en-US" sz="1800" dirty="0" err="1">
                          <a:effectLst/>
                        </a:rPr>
                        <a:t>dir</a:t>
                      </a:r>
                      <a:r>
                        <a:rPr lang="en-US" sz="1800" dirty="0">
                          <a:effectLst/>
                        </a:rPr>
                        <a:t>/ (</a:t>
                      </a:r>
                      <a:r>
                        <a:rPr lang="en-US" sz="1800" dirty="0" err="1">
                          <a:effectLst/>
                        </a:rPr>
                        <a:t>rekursiv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0758502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find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 qidiradi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find . -name "*.txt"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6847637"/>
                  </a:ext>
                </a:extLst>
              </a:tr>
              <a:tr h="7833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chmod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>
                          <a:effectLst/>
                        </a:rPr>
                        <a:t>Fayl</a:t>
                      </a:r>
                      <a:r>
                        <a:rPr lang="en-US" sz="1800" dirty="0">
                          <a:effectLst/>
                        </a:rPr>
                        <a:t>/</a:t>
                      </a:r>
                      <a:r>
                        <a:rPr lang="en-US" sz="1800" dirty="0" err="1">
                          <a:effectLst/>
                        </a:rPr>
                        <a:t>katalog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huquqlarini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o‘zgartirish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chmod 755 file.sh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472267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Protsesslarni ko‘rsatadi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ps -aux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776171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kill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Protsessni to‘xtatadi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kill -9 PID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5812768"/>
                  </a:ext>
                </a:extLst>
              </a:tr>
              <a:tr h="4027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top / htop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Tizim resurslarini ko‘rsatadi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top, htop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2061540"/>
                  </a:ext>
                </a:extLst>
              </a:tr>
              <a:tr h="4027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Arxivlash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tar -cvf a.tar dir/, tar -xvf a.tar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003501"/>
                  </a:ext>
                </a:extLst>
              </a:tr>
              <a:tr h="7833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gzip / gunzip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Faylni siqish va ochish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gzip file.txt, gunzip file.txt.gz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8346214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unzip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Zip faylni ochish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unzip</a:t>
                      </a:r>
                      <a:r>
                        <a:rPr lang="ru-RU" sz="1800" dirty="0">
                          <a:effectLst/>
                        </a:rPr>
                        <a:t> archive.zip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5450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762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9ADE-76C2-4252-A7D3-BA11C4A1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kern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3600" kern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</a:t>
            </a:r>
            <a:r>
              <a:rPr lang="ru-RU" sz="3600" kern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kern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39160-2BFE-4B67-89AB-41B1B6C1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</a:pP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Unix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qobig'idagi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o'rganishda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Shebang </a:t>
            </a: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liniyalaridan</a:t>
            </a: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foydalaning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Shebang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chizig'i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boshida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belgilaydigan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shebang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b="1" dirty="0">
                <a:solidFill>
                  <a:srgbClr val="C725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#!/bin/bash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tizimga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Bash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aytadi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Bash,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Ruby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tillarda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saqlaydigan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joylari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nomlanadi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massivlar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skriptidagi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16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AEC6F-9D99-471F-82AE-2EAC99BD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Xulosa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2FAB1-8D0F-46C4-B231-A890A144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qobig'idagi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Shell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foydalaniladigan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oqimini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bayonotlarni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blokini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takrorlash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tsikllarni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dasturlardan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o'qish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kodlarini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sharhlarni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shebang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qatorlaridan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Linux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Unix-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o'xshash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o'qiydi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faylining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buyrug'ini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ishlatib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tushirishingiz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tushirishingiz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Bash-da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yo'naltirish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kengaytirish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Shell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vositadir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120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89" y="160387"/>
            <a:ext cx="8181984" cy="1143000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uz-Latn-UZ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Foydalanilgan adabiyotlar</a:t>
            </a:r>
            <a:endParaRPr lang="ru-RU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sz="quarter" idx="13"/>
          </p:nvPr>
        </p:nvSpPr>
        <p:spPr>
          <a:xfrm>
            <a:off x="167425" y="1216428"/>
            <a:ext cx="8802710" cy="5481185"/>
          </a:xfrm>
        </p:spPr>
        <p:txBody>
          <a:bodyPr>
            <a:normAutofit fontScale="92500" lnSpcReduction="10000"/>
          </a:bodyPr>
          <a:lstStyle/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b="1" i="1" dirty="0">
                <a:solidFill>
                  <a:srgbClr val="002060"/>
                </a:solidFill>
              </a:rPr>
              <a:t>Andrew S. </a:t>
            </a:r>
            <a:r>
              <a:rPr lang="en-US" sz="1800" b="1" i="1" dirty="0" err="1">
                <a:solidFill>
                  <a:srgbClr val="002060"/>
                </a:solidFill>
              </a:rPr>
              <a:t>Tanenbaum</a:t>
            </a:r>
            <a:r>
              <a:rPr lang="en-US" sz="1800" b="1" i="1" dirty="0">
                <a:solidFill>
                  <a:srgbClr val="002060"/>
                </a:solidFill>
              </a:rPr>
              <a:t>, Albert S. Woodhull</a:t>
            </a:r>
            <a:r>
              <a:rPr lang="en-US" sz="1800" i="1" dirty="0">
                <a:solidFill>
                  <a:srgbClr val="002060"/>
                </a:solidFill>
              </a:rPr>
              <a:t>. Operating Systems: Design and Implementation,</a:t>
            </a:r>
            <a:r>
              <a:rPr lang="uz-Latn-UZ" sz="1800" i="1" dirty="0">
                <a:solidFill>
                  <a:srgbClr val="002060"/>
                </a:solidFill>
              </a:rPr>
              <a:t> </a:t>
            </a:r>
            <a:r>
              <a:rPr lang="en-US" sz="1800" i="1" dirty="0">
                <a:solidFill>
                  <a:srgbClr val="002060"/>
                </a:solidFill>
              </a:rPr>
              <a:t>Chapter </a:t>
            </a:r>
            <a:r>
              <a:rPr lang="uz-Latn-UZ" sz="1800" i="1" dirty="0">
                <a:solidFill>
                  <a:srgbClr val="002060"/>
                </a:solidFill>
              </a:rPr>
              <a:t>8. Multipleprocessor systems,   8.1 Multiprosessors</a:t>
            </a: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i="1" dirty="0">
                <a:solidFill>
                  <a:srgbClr val="002060"/>
                </a:solidFill>
                <a:hlinkClick r:id="rId3"/>
              </a:rPr>
              <a:t>https://coderlessons.com/tutorials/akademicheskii/osnovy-operatsionnykh-sistem/15-upravlenie-protsessami-v-os</a:t>
            </a:r>
            <a:endParaRPr lang="en-US" sz="1800" i="1" dirty="0">
              <a:solidFill>
                <a:srgbClr val="002060"/>
              </a:solidFill>
            </a:endParaRP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i="1" dirty="0">
                <a:solidFill>
                  <a:srgbClr val="002060"/>
                </a:solidFill>
              </a:rPr>
              <a:t>https://vseloved.github.io/pdf/proc-ru.pdf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Silberschatz</a:t>
            </a:r>
            <a:r>
              <a:rPr lang="en-US" b="1" i="1" dirty="0">
                <a:solidFill>
                  <a:srgbClr val="002060"/>
                </a:solidFill>
              </a:rPr>
              <a:t>, A., Galvin, P., Gagne, G.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Operating System Concepts (9th Edition). Wiley, 2018.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Jarayonlar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boshqaruvi</a:t>
            </a:r>
            <a:r>
              <a:rPr lang="en-US" i="1" dirty="0">
                <a:solidFill>
                  <a:srgbClr val="002060"/>
                </a:solidFill>
              </a:rPr>
              <a:t>, stack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heap </a:t>
            </a:r>
            <a:r>
              <a:rPr lang="en-US" i="1" dirty="0" err="1">
                <a:solidFill>
                  <a:srgbClr val="002060"/>
                </a:solidFill>
              </a:rPr>
              <a:t>tushunchalari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batafsil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yoritilgan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Tanenbaum</a:t>
            </a:r>
            <a:r>
              <a:rPr lang="en-US" b="1" i="1" dirty="0">
                <a:solidFill>
                  <a:srgbClr val="002060"/>
                </a:solidFill>
              </a:rPr>
              <a:t>, A. S., </a:t>
            </a:r>
            <a:r>
              <a:rPr lang="en-US" b="1" i="1" dirty="0" err="1">
                <a:solidFill>
                  <a:srgbClr val="002060"/>
                </a:solidFill>
              </a:rPr>
              <a:t>Bos</a:t>
            </a:r>
            <a:r>
              <a:rPr lang="en-US" b="1" i="1" dirty="0">
                <a:solidFill>
                  <a:srgbClr val="002060"/>
                </a:solidFill>
              </a:rPr>
              <a:t>, H.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Modern Operating Systems (4th Edition). Pearson, 2014.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modeli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segmentlari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kontekst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almashinuvi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haqida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chuqur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izohlar</a:t>
            </a:r>
            <a:r>
              <a:rPr lang="en-US" i="1" dirty="0">
                <a:solidFill>
                  <a:srgbClr val="002060"/>
                </a:solidFill>
              </a:rPr>
              <a:t> bor.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>
                <a:solidFill>
                  <a:srgbClr val="002060"/>
                </a:solidFill>
              </a:rPr>
              <a:t>Stallings, W.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Operating Systems: Internals and Design Principles (9th Edition). Pearson, 2018.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Jarayonlarni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boshqarish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strukturalari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asoslari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tushuntirilgan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>
                <a:solidFill>
                  <a:srgbClr val="002060"/>
                </a:solidFill>
              </a:rPr>
              <a:t>Bryant, R., </a:t>
            </a:r>
            <a:r>
              <a:rPr lang="en-US" b="1" i="1" dirty="0" err="1">
                <a:solidFill>
                  <a:srgbClr val="002060"/>
                </a:solidFill>
              </a:rPr>
              <a:t>O’Hallaron</a:t>
            </a:r>
            <a:r>
              <a:rPr lang="en-US" b="1" i="1" dirty="0">
                <a:solidFill>
                  <a:srgbClr val="002060"/>
                </a:solidFill>
              </a:rPr>
              <a:t>, D.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Computer Systems: A Programmer’s Perspective (3rd Edition). Pearson, 2016.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Stack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heap </a:t>
            </a:r>
            <a:r>
              <a:rPr lang="en-US" i="1" dirty="0" err="1">
                <a:solidFill>
                  <a:srgbClr val="002060"/>
                </a:solidFill>
              </a:rPr>
              <a:t>xotiralarining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jarayondagi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o‘rni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amaliy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misollar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bilan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ko‘rsatilgan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Cormen</a:t>
            </a:r>
            <a:r>
              <a:rPr lang="en-US" b="1" i="1" dirty="0">
                <a:solidFill>
                  <a:srgbClr val="002060"/>
                </a:solidFill>
              </a:rPr>
              <a:t>, T. H., </a:t>
            </a:r>
            <a:r>
              <a:rPr lang="en-US" b="1" i="1" dirty="0" err="1">
                <a:solidFill>
                  <a:srgbClr val="002060"/>
                </a:solidFill>
              </a:rPr>
              <a:t>Leiserson</a:t>
            </a:r>
            <a:r>
              <a:rPr lang="en-US" b="1" i="1" dirty="0">
                <a:solidFill>
                  <a:srgbClr val="002060"/>
                </a:solidFill>
              </a:rPr>
              <a:t>, C. E., </a:t>
            </a:r>
            <a:r>
              <a:rPr lang="en-US" b="1" i="1" dirty="0" err="1">
                <a:solidFill>
                  <a:srgbClr val="002060"/>
                </a:solidFill>
              </a:rPr>
              <a:t>Rivest</a:t>
            </a:r>
            <a:r>
              <a:rPr lang="en-US" b="1" i="1" dirty="0">
                <a:solidFill>
                  <a:srgbClr val="002060"/>
                </a:solidFill>
              </a:rPr>
              <a:t>, R. L., Stein, C.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Introduction to Algorithms (CLRS), MIT Press, 2009.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Dinamik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ajratish</a:t>
            </a:r>
            <a:r>
              <a:rPr lang="en-US" i="1" dirty="0">
                <a:solidFill>
                  <a:srgbClr val="002060"/>
                </a:solidFill>
              </a:rPr>
              <a:t> (</a:t>
            </a:r>
            <a:r>
              <a:rPr lang="en-US" i="1" dirty="0" err="1">
                <a:solidFill>
                  <a:srgbClr val="002060"/>
                </a:solidFill>
              </a:rPr>
              <a:t>malloc</a:t>
            </a:r>
            <a:r>
              <a:rPr lang="en-US" i="1" dirty="0">
                <a:solidFill>
                  <a:srgbClr val="002060"/>
                </a:solidFill>
              </a:rPr>
              <a:t>, new) </a:t>
            </a:r>
            <a:r>
              <a:rPr lang="en-US" i="1" dirty="0" err="1">
                <a:solidFill>
                  <a:srgbClr val="002060"/>
                </a:solidFill>
              </a:rPr>
              <a:t>algoritmlari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haqida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endParaRPr lang="ru-RU" sz="1800" i="1" dirty="0">
              <a:solidFill>
                <a:srgbClr val="00206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2875</TotalTime>
  <Words>1762</Words>
  <Application>Microsoft Office PowerPoint</Application>
  <PresentationFormat>Экран (4:3)</PresentationFormat>
  <Paragraphs>145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</vt:lpstr>
      <vt:lpstr>Montserrat Medium</vt:lpstr>
      <vt:lpstr>Nunito</vt:lpstr>
      <vt:lpstr>Symbol</vt:lpstr>
      <vt:lpstr>Times New Roman</vt:lpstr>
      <vt:lpstr>Office Theme</vt:lpstr>
      <vt:lpstr>1_Office Theme</vt:lpstr>
      <vt:lpstr>Презентация PowerPoint</vt:lpstr>
      <vt:lpstr>Reja </vt:lpstr>
      <vt:lpstr>Linux Shell va Shell skriptlariga kirish </vt:lpstr>
      <vt:lpstr>Karnel </vt:lpstr>
      <vt:lpstr>Shell — foydalanuvchi va operatsion tizim yadrosi (Linux kernel) o‘rtasidagi buyruq tarjimoni. Terminal orqali buyruq qabul qiladi, bajaradi va natijani qaytaradi. </vt:lpstr>
      <vt:lpstr>Shell sessiyalari turlari Login shell: tizimga kirishda ishga tushadi (SSH, TTY). Non-login shell: ochilgan terminal ichida yangi shell (masalan, GNOME Terminal). Interactive: foydalanuvchi bilan o‘zaro muloqot (prompt, readline). Non-interactive: skript ishga tushganda (stdin orqali buyruqlar oqimi). </vt:lpstr>
      <vt:lpstr>Презентация PowerPoint</vt:lpstr>
      <vt:lpstr>Linux tizimlari uchun qobiqlar</vt:lpstr>
      <vt:lpstr>Teminal </vt:lpstr>
      <vt:lpstr>Презентация PowerPoint</vt:lpstr>
      <vt:lpstr> Local o’zgaruvchi</vt:lpstr>
      <vt:lpstr>Global o’zgaruvchi</vt:lpstr>
      <vt:lpstr>Muhim shell buyruqlari va flaglari</vt:lpstr>
      <vt:lpstr>Презентация PowerPoint</vt:lpstr>
      <vt:lpstr>Shell skriptlari asoslari </vt:lpstr>
      <vt:lpstr>Xulosa</vt:lpstr>
      <vt:lpstr>Foydalanilgan adabiyotlar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Operatsion tizimlar tushunchasi va</dc:title>
  <dc:creator>Temurbek</dc:creator>
  <cp:lastModifiedBy>Пользователь</cp:lastModifiedBy>
  <cp:revision>297</cp:revision>
  <dcterms:created xsi:type="dcterms:W3CDTF">2015-02-05T07:15:58Z</dcterms:created>
  <dcterms:modified xsi:type="dcterms:W3CDTF">2025-10-03T10:48:07Z</dcterms:modified>
</cp:coreProperties>
</file>