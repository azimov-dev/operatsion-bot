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64" r:id="rId2"/>
    <p:sldId id="263" r:id="rId3"/>
    <p:sldId id="298" r:id="rId4"/>
    <p:sldId id="299" r:id="rId5"/>
    <p:sldId id="308" r:id="rId6"/>
    <p:sldId id="300" r:id="rId7"/>
    <p:sldId id="313" r:id="rId8"/>
    <p:sldId id="309" r:id="rId9"/>
    <p:sldId id="286" r:id="rId10"/>
    <p:sldId id="287" r:id="rId11"/>
    <p:sldId id="288" r:id="rId12"/>
    <p:sldId id="290" r:id="rId13"/>
    <p:sldId id="291" r:id="rId14"/>
    <p:sldId id="314" r:id="rId15"/>
    <p:sldId id="307" r:id="rId16"/>
    <p:sldId id="312" r:id="rId17"/>
    <p:sldId id="304" r:id="rId18"/>
    <p:sldId id="305" r:id="rId19"/>
    <p:sldId id="315" r:id="rId20"/>
    <p:sldId id="316" r:id="rId21"/>
    <p:sldId id="321" r:id="rId22"/>
    <p:sldId id="317" r:id="rId23"/>
    <p:sldId id="318" r:id="rId24"/>
    <p:sldId id="319" r:id="rId25"/>
    <p:sldId id="320" r:id="rId26"/>
    <p:sldId id="322" r:id="rId27"/>
    <p:sldId id="323" r:id="rId28"/>
    <p:sldId id="324" r:id="rId29"/>
    <p:sldId id="26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C7C62C-6075-426B-B9CE-B65FA7FF71B9}">
          <p14:sldIdLst>
            <p14:sldId id="264"/>
            <p14:sldId id="263"/>
            <p14:sldId id="298"/>
            <p14:sldId id="299"/>
            <p14:sldId id="308"/>
            <p14:sldId id="300"/>
            <p14:sldId id="313"/>
            <p14:sldId id="309"/>
            <p14:sldId id="286"/>
            <p14:sldId id="287"/>
            <p14:sldId id="288"/>
            <p14:sldId id="290"/>
            <p14:sldId id="291"/>
            <p14:sldId id="314"/>
            <p14:sldId id="307"/>
            <p14:sldId id="312"/>
            <p14:sldId id="304"/>
            <p14:sldId id="305"/>
            <p14:sldId id="315"/>
            <p14:sldId id="316"/>
            <p14:sldId id="321"/>
            <p14:sldId id="317"/>
            <p14:sldId id="318"/>
            <p14:sldId id="319"/>
            <p14:sldId id="320"/>
            <p14:sldId id="322"/>
            <p14:sldId id="323"/>
            <p14:sldId id="32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>
    <p:extLst>
      <p:ext uri="{19B8F6BF-5375-455C-9EA6-DF929625EA0E}">
        <p15:presenceInfo xmlns:p15="http://schemas.microsoft.com/office/powerpoint/2012/main" userId="f2f9b344bf3702e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3AA1"/>
    <a:srgbClr val="FFCE33"/>
    <a:srgbClr val="3A5896"/>
    <a:srgbClr val="ECF10B"/>
    <a:srgbClr val="F1F1F1"/>
    <a:srgbClr val="C6D4DF"/>
    <a:srgbClr val="F3F0ED"/>
    <a:srgbClr val="E1DAD2"/>
    <a:srgbClr val="FEFEFE"/>
    <a:srgbClr val="C1C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120AF-D066-4185-AB2D-8C6EF4775D8B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15E77-75F2-4727-8AD9-31CF774A4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5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B4B3F-22A1-4C21-B9F9-9DA9C569E155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0313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B37DDE-3E07-4B6C-BD21-F033625B336A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29046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661E46-6A07-48F8-9258-978EF32A3B15}" type="slidenum">
              <a:rPr kumimoji="0" lang="ru-RU" alt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33077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3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 userDrawn="1"/>
        </p:nvSpPr>
        <p:spPr>
          <a:xfrm>
            <a:off x="180753" y="163209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59" y="1287254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33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35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E0BDA083-1089-17DE-92D5-E22E26580D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/>
          <a:stretch/>
        </p:blipFill>
        <p:spPr>
          <a:xfrm rot="10800000">
            <a:off x="3039360" y="4259020"/>
            <a:ext cx="6104640" cy="23812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55" y="1467935"/>
            <a:ext cx="1086710" cy="1086710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=""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906" y="2467602"/>
            <a:ext cx="18974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6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1413889" y="1677655"/>
            <a:ext cx="2777340" cy="72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=""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166" y="5377166"/>
            <a:ext cx="37806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Axborot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texnologiyalarining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dasturiy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ta’minoti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800" b="1" spc="36" dirty="0" err="1">
                <a:solidFill>
                  <a:srgbClr val="452721"/>
                </a:solidFill>
                <a:latin typeface="Montserrat Medium"/>
              </a:rPr>
              <a:t>kafedrasi</a:t>
            </a:r>
            <a: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  <a:t/>
            </a:r>
            <a:br>
              <a:rPr lang="en-US" altLang="ru-RU" sz="1800" b="1" spc="36" dirty="0">
                <a:solidFill>
                  <a:srgbClr val="452721"/>
                </a:solidFill>
                <a:latin typeface="Montserrat Medium"/>
              </a:rPr>
            </a:br>
            <a:endParaRPr lang="en-US" altLang="ru-RU" sz="1800" b="1" spc="36" dirty="0">
              <a:solidFill>
                <a:srgbClr val="452721"/>
              </a:solidFill>
              <a:latin typeface="Montserrat Medium"/>
            </a:endParaRPr>
          </a:p>
        </p:txBody>
      </p:sp>
      <p:pic>
        <p:nvPicPr>
          <p:cNvPr id="20" name="Рисунок 13" descr="Преподаватель">
            <a:extLst>
              <a:ext uri="{FF2B5EF4-FFF2-40B4-BE49-F238E27FC236}">
                <a16:creationId xmlns="" xmlns:a16="http://schemas.microsoft.com/office/drawing/2014/main" id="{8A0F662C-40CF-2A8F-51F1-8D4313D17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715131"/>
            <a:ext cx="660029" cy="66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="" xmlns:a16="http://schemas.microsoft.com/office/drawing/2014/main" id="{4E175628-FB7D-59C0-6606-952FA6AAD4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523" y="5604273"/>
            <a:ext cx="533479" cy="53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808167" y="4599824"/>
            <a:ext cx="0" cy="18049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=""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8" y="152930"/>
            <a:ext cx="1086710" cy="108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1208703" y="388508"/>
            <a:ext cx="789796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2000" b="1" spc="179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=""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1320708" y="1004061"/>
            <a:ext cx="7823292" cy="99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51" r="13851"/>
          <a:stretch>
            <a:fillRect/>
          </a:stretch>
        </p:blipFill>
        <p:spPr>
          <a:xfrm>
            <a:off x="5007255" y="588711"/>
            <a:ext cx="4099410" cy="4142124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085613" y="2404649"/>
            <a:ext cx="6973707" cy="174530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=""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021" y="2705281"/>
            <a:ext cx="5834311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(Deadlock).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Muammoli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xususiyatlar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Tupiklarga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oid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misollar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zaruriy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shartlar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1-inkor,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2-inkor,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Harmonyda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bir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vaqtning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o‘zida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bajarish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Tupiklar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oldini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olish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: 3-inkor,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nuqtani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aniqlash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Tupik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nuqtani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tiklash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Xavfsiz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holat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misoli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Bankir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algoritmi</a:t>
            </a: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" name="POWERPOINT TEMPLATE">
            <a:extLst>
              <a:ext uri="{FF2B5EF4-FFF2-40B4-BE49-F238E27FC236}">
                <a16:creationId xmlns=""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752" y="2723303"/>
            <a:ext cx="98285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=""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150606" y="2467602"/>
            <a:ext cx="0" cy="16833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REJA</a:t>
            </a:r>
          </a:p>
        </p:txBody>
      </p:sp>
      <p:grpSp>
        <p:nvGrpSpPr>
          <p:cNvPr id="42" name="Group 7"/>
          <p:cNvGrpSpPr>
            <a:grpSpLocks/>
          </p:cNvGrpSpPr>
          <p:nvPr/>
        </p:nvGrpSpPr>
        <p:grpSpPr bwMode="auto">
          <a:xfrm>
            <a:off x="1116629" y="1086408"/>
            <a:ext cx="5162552" cy="744538"/>
            <a:chOff x="1212" y="1911"/>
            <a:chExt cx="3252" cy="469"/>
          </a:xfrm>
        </p:grpSpPr>
        <p:sp>
          <p:nvSpPr>
            <p:cNvPr id="43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gray">
            <a:xfrm rot="3419336">
              <a:off x="1225" y="2018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5" name="Text Box 10"/>
            <p:cNvSpPr txBox="1">
              <a:spLocks noChangeArrowheads="1"/>
            </p:cNvSpPr>
            <p:nvPr/>
          </p:nvSpPr>
          <p:spPr bwMode="gray">
            <a:xfrm>
              <a:off x="1736" y="1911"/>
              <a:ext cx="218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Deadlocks(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)</a:t>
              </a:r>
            </a:p>
          </p:txBody>
        </p:sp>
        <p:sp>
          <p:nvSpPr>
            <p:cNvPr id="46" name="Text Box 11"/>
            <p:cNvSpPr txBox="1">
              <a:spLocks noChangeArrowheads="1"/>
            </p:cNvSpPr>
            <p:nvPr/>
          </p:nvSpPr>
          <p:spPr bwMode="gray">
            <a:xfrm>
              <a:off x="1269" y="2036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</p:grpSp>
      <p:grpSp>
        <p:nvGrpSpPr>
          <p:cNvPr id="47" name="Group 12"/>
          <p:cNvGrpSpPr>
            <a:grpSpLocks/>
          </p:cNvGrpSpPr>
          <p:nvPr/>
        </p:nvGrpSpPr>
        <p:grpSpPr bwMode="auto">
          <a:xfrm>
            <a:off x="1072846" y="5086103"/>
            <a:ext cx="5514979" cy="558800"/>
            <a:chOff x="1248" y="2638"/>
            <a:chExt cx="3474" cy="352"/>
          </a:xfrm>
        </p:grpSpPr>
        <p:sp>
          <p:nvSpPr>
            <p:cNvPr id="48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0" name="Text Box 15"/>
            <p:cNvSpPr txBox="1">
              <a:spLocks noChangeArrowheads="1"/>
            </p:cNvSpPr>
            <p:nvPr/>
          </p:nvSpPr>
          <p:spPr bwMode="gray">
            <a:xfrm>
              <a:off x="1736" y="2638"/>
              <a:ext cx="29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oldini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olish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usullari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1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5</a:t>
              </a:r>
            </a:p>
          </p:txBody>
        </p:sp>
      </p:grpSp>
      <p:grpSp>
        <p:nvGrpSpPr>
          <p:cNvPr id="52" name="Group 17"/>
          <p:cNvGrpSpPr>
            <a:grpSpLocks/>
          </p:cNvGrpSpPr>
          <p:nvPr/>
        </p:nvGrpSpPr>
        <p:grpSpPr bwMode="auto">
          <a:xfrm>
            <a:off x="1085213" y="3170963"/>
            <a:ext cx="5105400" cy="555625"/>
            <a:chOff x="1248" y="3230"/>
            <a:chExt cx="3216" cy="350"/>
          </a:xfrm>
        </p:grpSpPr>
        <p:sp>
          <p:nvSpPr>
            <p:cNvPr id="53" name="Line 18"/>
            <p:cNvSpPr>
              <a:spLocks noChangeShapeType="1"/>
            </p:cNvSpPr>
            <p:nvPr/>
          </p:nvSpPr>
          <p:spPr bwMode="gray">
            <a:xfrm>
              <a:off x="1441" y="3579"/>
              <a:ext cx="3023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4" name="Rectangle 19"/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gray">
            <a:xfrm>
              <a:off x="1736" y="3246"/>
              <a:ext cx="25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Resurslarni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taqsimlash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grafigi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gray">
            <a:xfrm>
              <a:off x="1296" y="324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</a:p>
          </p:txBody>
        </p:sp>
      </p:grpSp>
      <p:sp>
        <p:nvSpPr>
          <p:cNvPr id="58" name="Line 23"/>
          <p:cNvSpPr>
            <a:spLocks noChangeShapeType="1"/>
          </p:cNvSpPr>
          <p:nvPr/>
        </p:nvSpPr>
        <p:spPr bwMode="gray">
          <a:xfrm>
            <a:off x="2374602" y="14211"/>
            <a:ext cx="4800600" cy="0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085212" y="4089153"/>
            <a:ext cx="5583241" cy="852488"/>
            <a:chOff x="1248" y="1440"/>
            <a:chExt cx="3517" cy="537"/>
          </a:xfrm>
        </p:grpSpPr>
        <p:sp>
          <p:nvSpPr>
            <p:cNvPr id="30" name="Line 3"/>
            <p:cNvSpPr>
              <a:spLocks noChangeShapeType="1"/>
            </p:cNvSpPr>
            <p:nvPr/>
          </p:nvSpPr>
          <p:spPr bwMode="gray">
            <a:xfrm>
              <a:off x="1440" y="17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gray">
            <a:xfrm rot="3419336">
              <a:off x="1261" y="14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Text Box 5"/>
            <p:cNvSpPr txBox="1">
              <a:spLocks noChangeArrowheads="1"/>
            </p:cNvSpPr>
            <p:nvPr/>
          </p:nvSpPr>
          <p:spPr bwMode="gray">
            <a:xfrm>
              <a:off x="1775" y="1454"/>
              <a:ext cx="299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Qulflanishlarni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boshqarish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usullari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3" name="Text Box 6"/>
            <p:cNvSpPr txBox="1">
              <a:spLocks noChangeArrowheads="1"/>
            </p:cNvSpPr>
            <p:nvPr/>
          </p:nvSpPr>
          <p:spPr bwMode="gray">
            <a:xfrm>
              <a:off x="1296" y="14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</a:p>
          </p:txBody>
        </p:sp>
      </p:grpSp>
      <p:grpSp>
        <p:nvGrpSpPr>
          <p:cNvPr id="34" name="Group 12"/>
          <p:cNvGrpSpPr>
            <a:grpSpLocks/>
          </p:cNvGrpSpPr>
          <p:nvPr/>
        </p:nvGrpSpPr>
        <p:grpSpPr bwMode="auto">
          <a:xfrm>
            <a:off x="1085212" y="2191253"/>
            <a:ext cx="5105401" cy="558800"/>
            <a:chOff x="1248" y="2638"/>
            <a:chExt cx="3216" cy="352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7" name="Text Box 15"/>
            <p:cNvSpPr txBox="1">
              <a:spLocks noChangeArrowheads="1"/>
            </p:cNvSpPr>
            <p:nvPr/>
          </p:nvSpPr>
          <p:spPr bwMode="gray">
            <a:xfrm>
              <a:off x="1736" y="2638"/>
              <a:ext cx="24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Qulflanishlar</a:t>
              </a:r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(System model)</a:t>
              </a:r>
            </a:p>
          </p:txBody>
        </p:sp>
        <p:sp>
          <p:nvSpPr>
            <p:cNvPr id="59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</a:p>
          </p:txBody>
        </p:sp>
      </p:grpSp>
      <p:grpSp>
        <p:nvGrpSpPr>
          <p:cNvPr id="60" name="Group 7"/>
          <p:cNvGrpSpPr>
            <a:grpSpLocks/>
          </p:cNvGrpSpPr>
          <p:nvPr/>
        </p:nvGrpSpPr>
        <p:grpSpPr bwMode="auto">
          <a:xfrm>
            <a:off x="1149046" y="5954420"/>
            <a:ext cx="5105403" cy="581025"/>
            <a:chOff x="1248" y="2014"/>
            <a:chExt cx="3216" cy="366"/>
          </a:xfrm>
        </p:grpSpPr>
        <p:sp>
          <p:nvSpPr>
            <p:cNvPr id="61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2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gray">
            <a:xfrm>
              <a:off x="1766" y="2014"/>
              <a:ext cx="1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ambria" panose="02040503050406030204" pitchFamily="18" charset="0"/>
                  <a:ea typeface="Cambria" panose="02040503050406030204" pitchFamily="18" charset="0"/>
                </a:rPr>
                <a:t>Banker </a:t>
              </a:r>
              <a:r>
                <a:rPr lang="en-US" sz="24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algoritmi</a:t>
              </a:r>
              <a:endParaRPr lang="en-US" sz="2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41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60486" y="433473"/>
            <a:ext cx="82647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ru-RU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DEADLOCKS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(QULFLANISHLAR)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6679" y="1207307"/>
            <a:ext cx="7886700" cy="2805894"/>
          </a:xfrm>
        </p:spPr>
        <p:txBody>
          <a:bodyPr>
            <a:noAutofit/>
          </a:bodyPr>
          <a:lstStyle/>
          <a:p>
            <a:pPr algn="just"/>
            <a:r>
              <a:rPr lang="en-US" altLang="ru-RU" sz="2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DEADLOCK(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to‘plami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resurslarni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turgani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kutayotgani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sababli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bloklanib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holatdir</a:t>
            </a:r>
            <a:r>
              <a:rPr lang="en-US" alt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Agar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yo'lda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ta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poyezd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qarab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kelsa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yo'l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bo'lsa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poezdlarning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hech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bir-birining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oldida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harakatlana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olmaydi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ortiq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ba'zi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resurslarni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ushlab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(lar)da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resurslarni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kutayotganda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xuddi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shunday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holat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yuzaga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B6BBC429-7005-41FC-A1F9-17DA564E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32" y="4013201"/>
            <a:ext cx="6975475" cy="23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3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2140" y="322044"/>
            <a:ext cx="8357189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  <a:spcAft>
                <a:spcPts val="0"/>
              </a:spcAft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</a:t>
            </a:r>
            <a:endParaRPr lang="ru-RU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78834" y="-228599"/>
            <a:ext cx="7886700" cy="1536700"/>
          </a:xfrm>
        </p:spPr>
        <p:txBody>
          <a:bodyPr>
            <a:normAutofit/>
          </a:bodyPr>
          <a:lstStyle/>
          <a:p>
            <a:r>
              <a:rPr lang="en-US" sz="2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(System Model)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2400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268335" y="1914250"/>
            <a:ext cx="5586365" cy="479134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so‘raydi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(request)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band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Resursdan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(use)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printerga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chop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fayldan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o‘qiydi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bo‘shatadi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(release)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3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delete()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egallab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kutayotgan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holatidir</a:t>
            </a:r>
            <a:r>
              <a:rPr lang="en-A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ru-RU" sz="3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1DF2C3AF-D6D6-4FB9-9891-0E253B82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84" y="1914251"/>
            <a:ext cx="3279555" cy="32649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82A806-33ED-4B66-A4C6-A4D12B411C87}"/>
              </a:ext>
            </a:extLst>
          </p:cNvPr>
          <p:cNvSpPr txBox="1"/>
          <p:nvPr/>
        </p:nvSpPr>
        <p:spPr>
          <a:xfrm>
            <a:off x="543589" y="649447"/>
            <a:ext cx="8014290" cy="125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miqdordagi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printer,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protsessor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19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BBC75FF-6347-428D-A823-BE03CC3B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70" y="449262"/>
            <a:ext cx="7886700" cy="896937"/>
          </a:xfrm>
        </p:spPr>
        <p:txBody>
          <a:bodyPr>
            <a:normAutofit fontScale="90000"/>
          </a:bodyPr>
          <a:lstStyle/>
          <a:p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tavsiflash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(Deadlock Characterization)</a:t>
            </a:r>
            <a:r>
              <a:rPr lang="ru-RU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ru-RU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55EDAF1-ABDA-47D9-82C9-F1BF14B9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955800"/>
            <a:ext cx="7886700" cy="42338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AU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lang="en-AU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istisno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(Mutual Exclusion)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paytda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Ushlab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(Hold and Wait)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ushlab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kutayotgan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Majburlab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yo‘qligi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majburan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qo‘ya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bo‘shatadi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(Circular Wait)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halqa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bir-birining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resursini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kutadi</a:t>
            </a:r>
            <a: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A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P0 → P1 → P2 → … </a:t>
            </a:r>
            <a:r>
              <a:rPr lang="ru-R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u-RU" sz="2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ru-RU" sz="2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P0</a:t>
            </a:r>
            <a:endParaRPr lang="ru-RU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EF63331-248F-4C2B-927A-2DE1349D59EA}"/>
              </a:ext>
            </a:extLst>
          </p:cNvPr>
          <p:cNvSpPr txBox="1"/>
          <p:nvPr/>
        </p:nvSpPr>
        <p:spPr>
          <a:xfrm>
            <a:off x="775098" y="940305"/>
            <a:ext cx="77390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/>
              <a:t>Tugallangan holatda jarayonlar hech qachon bajarilishini tugatmaydi va tizim resurslari bog'langan bo'lib, boshqa ishlarni boshlashga to'sqinlik qiladi.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59685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(Resource Allocation Graph)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4223" y="1161950"/>
            <a:ext cx="7869890" cy="488970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o‘rtasidagi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Tugunlar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{P1, P2, …,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= {R1, R2, …, Rm} —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</a:t>
            </a:r>
            <a:endParaRPr lang="en-US" sz="18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resursini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so‘ramoqda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(request edge)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Rj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Pi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ajratilgan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(assignment edge)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qulflanmagan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6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5A91F6-1EB2-40A5-9A2A-28D465B7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Resurslarni</a:t>
            </a:r>
            <a:r>
              <a:rPr lang="en-US" dirty="0"/>
              <a:t> </a:t>
            </a:r>
            <a:r>
              <a:rPr lang="en-US" dirty="0" err="1"/>
              <a:t>taqsimlash</a:t>
            </a:r>
            <a:r>
              <a:rPr lang="en-US" dirty="0"/>
              <a:t> </a:t>
            </a:r>
            <a:r>
              <a:rPr lang="en-US" dirty="0" err="1"/>
              <a:t>grafiklari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="" xmlns:a16="http://schemas.microsoft.com/office/drawing/2014/main" id="{69C1AACC-651C-42A5-ADE2-65F8572BEC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5101" y="2032000"/>
            <a:ext cx="8797144" cy="3695700"/>
          </a:xfr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FA2BB10-71FF-4F48-9D6A-295AC02F3430}"/>
              </a:ext>
            </a:extLst>
          </p:cNvPr>
          <p:cNvSpPr txBox="1"/>
          <p:nvPr/>
        </p:nvSpPr>
        <p:spPr>
          <a:xfrm>
            <a:off x="431800" y="5727700"/>
            <a:ext cx="8369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(a) </a:t>
            </a:r>
            <a:r>
              <a:rPr lang="ru-RU" sz="2400" dirty="0" err="1"/>
              <a:t>Resurs</a:t>
            </a:r>
            <a:r>
              <a:rPr lang="ru-RU" sz="2400" dirty="0"/>
              <a:t> </a:t>
            </a:r>
            <a:r>
              <a:rPr lang="ru-RU" sz="2400" dirty="0" err="1"/>
              <a:t>taqsimoti</a:t>
            </a:r>
            <a:r>
              <a:rPr lang="ru-RU" sz="2400" dirty="0"/>
              <a:t> </a:t>
            </a:r>
            <a:r>
              <a:rPr lang="ru-RU" sz="2400" dirty="0" err="1"/>
              <a:t>grafigi</a:t>
            </a:r>
            <a:r>
              <a:rPr lang="ru-RU" sz="2400" dirty="0"/>
              <a:t> (b) </a:t>
            </a:r>
            <a:r>
              <a:rPr lang="ru-RU" sz="2400" dirty="0" err="1"/>
              <a:t>Tugallangan</a:t>
            </a:r>
            <a:r>
              <a:rPr lang="ru-RU" sz="2400" dirty="0"/>
              <a:t> </a:t>
            </a:r>
            <a:r>
              <a:rPr lang="ru-RU" sz="2400" dirty="0" err="1"/>
              <a:t>holda</a:t>
            </a:r>
            <a:r>
              <a:rPr lang="ru-RU" sz="2400" dirty="0"/>
              <a:t> (c) </a:t>
            </a:r>
            <a:r>
              <a:rPr lang="ru-RU" sz="2400" dirty="0" err="1"/>
              <a:t>sikl</a:t>
            </a:r>
            <a:r>
              <a:rPr lang="ru-RU" sz="2400" dirty="0"/>
              <a:t> </a:t>
            </a:r>
            <a:r>
              <a:rPr lang="ru-RU" sz="2400" dirty="0" err="1"/>
              <a:t>bilan</a:t>
            </a:r>
            <a:r>
              <a:rPr lang="ru-RU" sz="2400" dirty="0"/>
              <a:t>, </a:t>
            </a:r>
            <a:r>
              <a:rPr lang="ru-RU" sz="2400" dirty="0" err="1"/>
              <a:t>lekin</a:t>
            </a:r>
            <a:r>
              <a:rPr lang="ru-RU" sz="2400" dirty="0"/>
              <a:t> </a:t>
            </a:r>
            <a:r>
              <a:rPr lang="ru-RU" sz="2400" dirty="0" err="1"/>
              <a:t>boshi</a:t>
            </a:r>
            <a:r>
              <a:rPr lang="ru-RU" sz="2400" dirty="0"/>
              <a:t> </a:t>
            </a:r>
            <a:r>
              <a:rPr lang="ru-RU" sz="2400" dirty="0" err="1"/>
              <a:t>berk</a:t>
            </a:r>
            <a:r>
              <a:rPr lang="ru-RU" sz="2400" dirty="0"/>
              <a:t> </a:t>
            </a:r>
            <a:r>
              <a:rPr lang="ru-RU" sz="2400" dirty="0" err="1"/>
              <a:t>ko'chaga</a:t>
            </a:r>
            <a:r>
              <a:rPr lang="ru-RU" sz="2400" dirty="0"/>
              <a:t> </a:t>
            </a:r>
            <a:r>
              <a:rPr lang="ru-RU" sz="2400" dirty="0" err="1"/>
              <a:t>ega</a:t>
            </a:r>
            <a:r>
              <a:rPr lang="ru-RU" sz="2400" dirty="0"/>
              <a:t> </a:t>
            </a:r>
            <a:r>
              <a:rPr lang="ru-RU" sz="2400" dirty="0" err="1"/>
              <a:t>emas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8139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F060F0E-56F8-4856-9439-C3F28B95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Qulflanishlarni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(Methods for Handling Deadlocks)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5E95A25-5417-4A12-8F06-69DBCD2D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uchta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chetlab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(Prevention/Avoidance)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keltirmaslik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tiklash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(Detection and Recovery)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aniqlangach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to‘xtatish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E’tiborsiz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qoldirish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(Ignore)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kamdan-kam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sodir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kifoya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Qulflanishning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(Deadlock Prevention)</a:t>
            </a:r>
            <a:endParaRPr lang="ru-RU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10DEC32A-D19B-4A0C-ADE8-90B980FB96A9}"/>
              </a:ext>
            </a:extLst>
          </p:cNvPr>
          <p:cNvSpPr txBox="1"/>
          <p:nvPr/>
        </p:nvSpPr>
        <p:spPr>
          <a:xfrm>
            <a:off x="628650" y="1161950"/>
            <a:ext cx="7886697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yo‘qotish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shartdan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bittasini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buzish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EDFDA24-B7A1-4750-8861-BF62ADAAB45C}"/>
              </a:ext>
            </a:extLst>
          </p:cNvPr>
          <p:cNvSpPr txBox="1"/>
          <p:nvPr/>
        </p:nvSpPr>
        <p:spPr>
          <a:xfrm>
            <a:off x="628650" y="2085620"/>
            <a:ext cx="7702550" cy="179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istisno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(Mutual Exclusion)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printer)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tabiatan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butunlay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yo‘qotib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D0928546-846E-49CE-848F-E3D1FBE17283}"/>
              </a:ext>
            </a:extLst>
          </p:cNvPr>
          <p:cNvSpPr txBox="1"/>
          <p:nvPr/>
        </p:nvSpPr>
        <p:spPr>
          <a:xfrm>
            <a:off x="628651" y="3883292"/>
            <a:ext cx="7886696" cy="209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2.Ushlab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turish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en-A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(Hold and Wait)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Jarayonlarga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vaqtning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o‘zida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kerakli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dastlab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resurslardan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samaradorligi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resursga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bo‘lmaganda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so‘rov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yuboradi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qolish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5100" y="266700"/>
            <a:ext cx="8410863" cy="638809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Majburlab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egallab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boshlanadi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printer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qurilmalarga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kutish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o‘suvchi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kamayuvchi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8465" y="1161950"/>
            <a:ext cx="8221035" cy="5015013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qachon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keltirmaslik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jarayonning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maksimal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ehtiyojini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oldindan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Qulflanishni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chetlab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o‘tish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(Deadlock Avoidance)</a:t>
            </a:r>
            <a:endParaRPr lang="ru-RU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1" y="163208"/>
            <a:ext cx="7886698" cy="68769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Xavfsiz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(Safe State)</a:t>
            </a:r>
            <a:endParaRPr lang="ru-R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DC3AEE6-E634-40E4-BAC4-359781C55960}"/>
              </a:ext>
            </a:extLst>
          </p:cNvPr>
          <p:cNvSpPr txBox="1"/>
          <p:nvPr/>
        </p:nvSpPr>
        <p:spPr>
          <a:xfrm>
            <a:off x="628651" y="991644"/>
            <a:ext cx="7886698" cy="125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(safe)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so‘rovlarini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kelmasa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9F7B3D6-4EC9-4FB6-A77B-C1836C430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2690076"/>
            <a:ext cx="3263900" cy="32071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ACBE889-EE93-4B5C-8BD3-9780B98B26A4}"/>
              </a:ext>
            </a:extLst>
          </p:cNvPr>
          <p:cNvSpPr txBox="1"/>
          <p:nvPr/>
        </p:nvSpPr>
        <p:spPr>
          <a:xfrm>
            <a:off x="3797300" y="60047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Xavfsiz</a:t>
            </a:r>
            <a:r>
              <a:rPr lang="ru-RU" dirty="0"/>
              <a:t>, </a:t>
            </a:r>
            <a:r>
              <a:rPr lang="ru-RU" dirty="0" err="1"/>
              <a:t>xavfli</a:t>
            </a:r>
            <a:r>
              <a:rPr lang="ru-RU" dirty="0"/>
              <a:t> </a:t>
            </a:r>
            <a:r>
              <a:rPr lang="ru-RU" dirty="0" err="1"/>
              <a:t>va</a:t>
            </a:r>
            <a:r>
              <a:rPr lang="ru-RU" dirty="0"/>
              <a:t> </a:t>
            </a:r>
            <a:r>
              <a:rPr lang="ru-RU" dirty="0" err="1"/>
              <a:t>o'lik</a:t>
            </a:r>
            <a:r>
              <a:rPr lang="ru-RU" dirty="0"/>
              <a:t> </a:t>
            </a:r>
            <a:r>
              <a:rPr lang="ru-RU" dirty="0" err="1"/>
              <a:t>holatidagi</a:t>
            </a:r>
            <a:r>
              <a:rPr lang="ru-RU" dirty="0"/>
              <a:t> </a:t>
            </a:r>
            <a:r>
              <a:rPr lang="ru-RU" dirty="0" err="1"/>
              <a:t>bo'shliqlar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678ACB1-7188-454D-8534-FDB2CD40386C}"/>
              </a:ext>
            </a:extLst>
          </p:cNvPr>
          <p:cNvSpPr txBox="1"/>
          <p:nvPr/>
        </p:nvSpPr>
        <p:spPr>
          <a:xfrm>
            <a:off x="628651" y="2272729"/>
            <a:ext cx="3009900" cy="3732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(unsafe)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qulflanishsiz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kelmaydi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9598" y="1965498"/>
            <a:ext cx="7823201" cy="3439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400" dirty="0"/>
              <a:t>	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resursning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nusxasi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grafikdagi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aylanalar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qulflanishni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Bu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(claim edge)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kelajakda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so‘rashi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mumkinligini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bildiradi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Agar talab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yo‘nalishini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ajratilgan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yo‘nalishga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qilsa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xavfli</a:t>
            </a:r>
            <a:r>
              <a:rPr lang="en-A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resursni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ajratmaslik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5B08EB-3D29-4655-A60C-DBF5F5C3E660}"/>
              </a:ext>
            </a:extLst>
          </p:cNvPr>
          <p:cNvSpPr txBox="1"/>
          <p:nvPr/>
        </p:nvSpPr>
        <p:spPr>
          <a:xfrm>
            <a:off x="609598" y="332791"/>
            <a:ext cx="8054975" cy="112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(Resource Allocation Graph Algorithm)</a:t>
            </a:r>
            <a:endParaRPr lang="ru-RU" sz="3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E0FC58A5-8A25-4157-B386-385EA1D6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721661"/>
            <a:ext cx="7481888" cy="2746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D9AA49F-CB9D-4E12-B2BF-CF692683911B}"/>
              </a:ext>
            </a:extLst>
          </p:cNvPr>
          <p:cNvSpPr txBox="1"/>
          <p:nvPr/>
        </p:nvSpPr>
        <p:spPr>
          <a:xfrm>
            <a:off x="906066" y="4430968"/>
            <a:ext cx="7546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(</a:t>
            </a:r>
            <a:r>
              <a:rPr lang="ru-RU" sz="2000" b="1" i="1" dirty="0"/>
              <a:t>a) </a:t>
            </a:r>
            <a:r>
              <a:rPr lang="ru-RU" sz="2000" b="1" i="1" dirty="0" err="1"/>
              <a:t>Tugallanishdan</a:t>
            </a:r>
            <a:r>
              <a:rPr lang="ru-RU" sz="2000" b="1" i="1" dirty="0"/>
              <a:t> </a:t>
            </a:r>
            <a:r>
              <a:rPr lang="ru-RU" sz="2000" b="1" i="1" dirty="0" err="1"/>
              <a:t>qochish</a:t>
            </a:r>
            <a:r>
              <a:rPr lang="ru-RU" sz="2000" b="1" i="1" dirty="0"/>
              <a:t> </a:t>
            </a:r>
            <a:r>
              <a:rPr lang="ru-RU" sz="2000" b="1" i="1" dirty="0" err="1"/>
              <a:t>uchun</a:t>
            </a:r>
            <a:r>
              <a:rPr lang="ru-RU" sz="2000" b="1" i="1" dirty="0"/>
              <a:t> </a:t>
            </a:r>
            <a:r>
              <a:rPr lang="en-US" sz="2000" b="1" i="1" dirty="0"/>
              <a:t>                               </a:t>
            </a:r>
            <a:r>
              <a:rPr lang="ru-RU" sz="2000" b="1" i="1" dirty="0"/>
              <a:t>(b) </a:t>
            </a:r>
            <a:r>
              <a:rPr lang="ru-RU" sz="2000" b="1" i="1" dirty="0" err="1"/>
              <a:t>xavfli</a:t>
            </a:r>
            <a:r>
              <a:rPr lang="ru-RU" sz="2000" b="1" i="1" dirty="0"/>
              <a:t> </a:t>
            </a:r>
            <a:r>
              <a:rPr lang="ru-RU" sz="2000" b="1" i="1" dirty="0" err="1"/>
              <a:t>holat</a:t>
            </a:r>
            <a:endParaRPr lang="ru-RU" sz="20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096FD2C-589C-4354-B866-FC8BE3FE6231}"/>
              </a:ext>
            </a:extLst>
          </p:cNvPr>
          <p:cNvSpPr txBox="1"/>
          <p:nvPr/>
        </p:nvSpPr>
        <p:spPr>
          <a:xfrm>
            <a:off x="519907" y="5022113"/>
            <a:ext cx="8319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 </a:t>
            </a:r>
            <a:r>
              <a:rPr lang="ru-RU" sz="2400" b="1" dirty="0" err="1"/>
              <a:t>Muammo</a:t>
            </a:r>
            <a:r>
              <a:rPr lang="ru-RU" sz="2400" b="1" dirty="0"/>
              <a:t>: </a:t>
            </a:r>
            <a:r>
              <a:rPr lang="ru-RU" sz="2400" dirty="0" err="1"/>
              <a:t>Resurslarni</a:t>
            </a:r>
            <a:r>
              <a:rPr lang="ru-RU" sz="2400" dirty="0"/>
              <a:t> </a:t>
            </a:r>
            <a:r>
              <a:rPr lang="ru-RU" sz="2400" dirty="0" err="1"/>
              <a:t>taqsimlash</a:t>
            </a:r>
            <a:r>
              <a:rPr lang="ru-RU" sz="2400" dirty="0"/>
              <a:t> </a:t>
            </a:r>
            <a:r>
              <a:rPr lang="ru-RU" sz="2400" dirty="0" err="1"/>
              <a:t>grafigi</a:t>
            </a:r>
            <a:r>
              <a:rPr lang="ru-RU" sz="2400" dirty="0"/>
              <a:t> </a:t>
            </a:r>
            <a:r>
              <a:rPr lang="ru-RU" sz="2400" dirty="0" err="1"/>
              <a:t>algoritmi</a:t>
            </a:r>
            <a:r>
              <a:rPr lang="ru-RU" sz="2400" dirty="0"/>
              <a:t> </a:t>
            </a:r>
            <a:r>
              <a:rPr lang="ru-RU" sz="2400" dirty="0" err="1"/>
              <a:t>har</a:t>
            </a:r>
            <a:r>
              <a:rPr lang="ru-RU" sz="2400" dirty="0"/>
              <a:t> </a:t>
            </a:r>
            <a:r>
              <a:rPr lang="ru-RU" sz="2400" dirty="0" err="1"/>
              <a:t>bir</a:t>
            </a:r>
            <a:r>
              <a:rPr lang="ru-RU" sz="2400" dirty="0"/>
              <a:t> </a:t>
            </a:r>
            <a:r>
              <a:rPr lang="ru-RU" sz="2400" dirty="0" err="1"/>
              <a:t>resurs</a:t>
            </a:r>
            <a:r>
              <a:rPr lang="ru-RU" sz="2400" dirty="0"/>
              <a:t> </a:t>
            </a:r>
            <a:r>
              <a:rPr lang="ru-RU" sz="2400" dirty="0" err="1"/>
              <a:t>uchun</a:t>
            </a:r>
            <a:r>
              <a:rPr lang="ru-RU" sz="2400" dirty="0"/>
              <a:t> </a:t>
            </a:r>
            <a:r>
              <a:rPr lang="ru-RU" sz="2400" dirty="0" err="1"/>
              <a:t>bir</a:t>
            </a:r>
            <a:r>
              <a:rPr lang="ru-RU" sz="2400" dirty="0"/>
              <a:t> </a:t>
            </a:r>
            <a:r>
              <a:rPr lang="ru-RU" sz="2400" dirty="0" err="1"/>
              <a:t>nechta</a:t>
            </a:r>
            <a:r>
              <a:rPr lang="ru-RU" sz="2400" dirty="0"/>
              <a:t> </a:t>
            </a:r>
            <a:r>
              <a:rPr lang="ru-RU" sz="2400" dirty="0" err="1"/>
              <a:t>misollar</a:t>
            </a:r>
            <a:r>
              <a:rPr lang="ru-RU" sz="2400" dirty="0"/>
              <a:t> </a:t>
            </a:r>
            <a:r>
              <a:rPr lang="ru-RU" sz="2400" dirty="0" err="1"/>
              <a:t>mavjud</a:t>
            </a:r>
            <a:r>
              <a:rPr lang="ru-RU" sz="2400" dirty="0"/>
              <a:t> </a:t>
            </a:r>
            <a:r>
              <a:rPr lang="ru-RU" sz="2400" dirty="0" err="1"/>
              <a:t>bo'lganda</a:t>
            </a:r>
            <a:r>
              <a:rPr lang="ru-RU" sz="2400" dirty="0"/>
              <a:t> </a:t>
            </a:r>
            <a:r>
              <a:rPr lang="ru-RU" sz="2400" dirty="0" err="1"/>
              <a:t>qo'llanilmaydi</a:t>
            </a:r>
            <a:r>
              <a:rPr lang="ru-RU" sz="2400" dirty="0"/>
              <a:t>. </a:t>
            </a:r>
            <a:endParaRPr lang="en-US" sz="2400" dirty="0"/>
          </a:p>
          <a:p>
            <a:r>
              <a:rPr lang="ru-RU" sz="2400" b="1" dirty="0"/>
              <a:t> </a:t>
            </a:r>
            <a:r>
              <a:rPr lang="ru-RU" sz="2400" b="1" dirty="0" err="1"/>
              <a:t>Yechim</a:t>
            </a:r>
            <a:r>
              <a:rPr lang="ru-RU" sz="2400" b="1" dirty="0"/>
              <a:t>: </a:t>
            </a:r>
            <a:r>
              <a:rPr lang="ru-RU" sz="2400" dirty="0" err="1"/>
              <a:t>Bankir</a:t>
            </a:r>
            <a:r>
              <a:rPr lang="ru-RU" sz="2400" dirty="0"/>
              <a:t> </a:t>
            </a:r>
            <a:r>
              <a:rPr lang="ru-RU" sz="2400" dirty="0" err="1"/>
              <a:t>algoritmidan</a:t>
            </a:r>
            <a:r>
              <a:rPr lang="ru-RU" sz="2400" dirty="0"/>
              <a:t> </a:t>
            </a:r>
            <a:r>
              <a:rPr lang="ru-RU" sz="2400" dirty="0" err="1"/>
              <a:t>foydalaning</a:t>
            </a:r>
            <a:r>
              <a:rPr lang="ru-RU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A942E28-5140-43CB-86E5-BD01BB011061}"/>
              </a:ext>
            </a:extLst>
          </p:cNvPr>
          <p:cNvSpPr txBox="1"/>
          <p:nvPr/>
        </p:nvSpPr>
        <p:spPr>
          <a:xfrm>
            <a:off x="246856" y="356998"/>
            <a:ext cx="8312944" cy="112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(Resource Allocation Graph Algorithm)</a:t>
            </a:r>
            <a:endParaRPr lang="ru-RU" sz="3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218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3759" y="308644"/>
            <a:ext cx="8048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	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Banker </a:t>
            </a:r>
            <a:r>
              <a:rPr lang="en-AU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algoritmi</a:t>
            </a:r>
            <a:r>
              <a:rPr lang="en-A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(Banker’s Algorithm)</a:t>
            </a: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B3B7460-F57A-4985-844A-6E6D8302D7E2}"/>
              </a:ext>
            </a:extLst>
          </p:cNvPr>
          <p:cNvSpPr txBox="1"/>
          <p:nvPr/>
        </p:nvSpPr>
        <p:spPr>
          <a:xfrm>
            <a:off x="528418" y="989015"/>
            <a:ext cx="8327340" cy="5467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bu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operatsion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tizimlarda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foydalaniladigan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taqsimlash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blokirovkadan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qochish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Bu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jarayonlarga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ehtiyotkorlik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taqsimlash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orqali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tizimning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holatda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qolishini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ta'minlaydi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shu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berk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ko'chaga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olib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kelishi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bo'lgan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xavfli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vaziyatlardan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qochadi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Ma’lumot</a:t>
            </a:r>
            <a:r>
              <a:rPr lang="ru-RU" sz="20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tuzilmalari</a:t>
            </a:r>
            <a:r>
              <a:rPr lang="ru-RU" sz="20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Total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tizimdagi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jami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masalan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10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dona</a:t>
            </a:r>
            <a:endParaRPr lang="en-US" altLang="ru-RU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Alloc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Ajratilgan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hozirda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berilgan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Max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Maksimal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jarayon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ko‘pi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qancha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so‘rashi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Ehtiyoj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yana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qancha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kerak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Max 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Alloc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Bo‘sh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berilmagan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Total 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ΣAlloc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53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5018DC0-7431-41F8-8F47-BFFE8E2F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Banker </a:t>
            </a:r>
            <a:r>
              <a:rPr lang="en-AU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algoritmi</a:t>
            </a:r>
            <a:r>
              <a:rPr lang="en-A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(Banker’s Algorithm)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12612E3-BE42-475B-BA45-DDC0821EB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Banker 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algoritmida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2 ta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asosiy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g‘oya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holat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(safe state) —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Hamma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jarayonlar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oxir-oqibat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tugay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oladigan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taqsimot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bormi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Tekshir-berish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—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Jarayon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so‘ragan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bersak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ham,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tizim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bo‘lib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qoladimi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</a:t>
            </a:r>
          </a:p>
          <a:p>
            <a:pPr marL="0" indent="0">
              <a:buNone/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Bankir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mijozga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qarz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berishdan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oldin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 “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Hozir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summani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bersam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hamma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mijozlar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navbatma-navbat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qarzini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qaytara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oladimi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?” Agar ha —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yo‘q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—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kuting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deydi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Xuddi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shunday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OS ham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avval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xavfsizlikni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tekshirib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keyin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beradi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87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9186318-F02C-409B-AACA-DCB6F62E32EC}"/>
              </a:ext>
            </a:extLst>
          </p:cNvPr>
          <p:cNvSpPr txBox="1"/>
          <p:nvPr/>
        </p:nvSpPr>
        <p:spPr>
          <a:xfrm>
            <a:off x="863600" y="443984"/>
            <a:ext cx="871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holatni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tekshirish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(Safety </a:t>
            </a:r>
            <a:r>
              <a:rPr lang="en-US" sz="3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tekshiruvi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57C57862-7BE6-4B5B-B4E1-82C93F76D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26" y="1563504"/>
            <a:ext cx="81541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Maqsad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shunday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tartib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ketma-ketlik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topsinmizki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birma-bir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resurslarni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qaytarib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oxirida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hammasi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tugasin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Qadamlar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hisobla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Tugashi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mumkin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sharti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Need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≤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faraz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qilamiz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o‘zidagi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Alloc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qaytaradi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Available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oshadi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2–3-qadamni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tugaguncha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takrorla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hech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shartni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qanoatlantirmasa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xavfsiz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ketma-ketlik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yo‘q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holat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xavfsiz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9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="" xmlns:a16="http://schemas.microsoft.com/office/drawing/2014/main" id="{0CA6C902-A37D-4E2C-8E07-B817D236E55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2659" y="1214728"/>
            <a:ext cx="6660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ru-RU" dirty="0">
                <a:latin typeface="Arial" panose="020B0604020202020204" pitchFamily="34" charset="0"/>
              </a:rPr>
              <a:t>J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resurs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= 10</a:t>
            </a:r>
            <a:r>
              <a:rPr kumimoji="0" lang="en-US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Jarayonlar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(P1, P2, P3):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="" xmlns:a16="http://schemas.microsoft.com/office/drawing/2014/main" id="{75AECDC1-39C5-40FC-A64D-8CC46F1FC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51284"/>
              </p:ext>
            </p:extLst>
          </p:nvPr>
        </p:nvGraphicFramePr>
        <p:xfrm>
          <a:off x="646113" y="1551084"/>
          <a:ext cx="7869236" cy="1737360"/>
        </p:xfrm>
        <a:graphic>
          <a:graphicData uri="http://schemas.openxmlformats.org/drawingml/2006/table">
            <a:tbl>
              <a:tblPr/>
              <a:tblGrid>
                <a:gridCol w="1967309">
                  <a:extLst>
                    <a:ext uri="{9D8B030D-6E8A-4147-A177-3AD203B41FA5}">
                      <a16:colId xmlns="" xmlns:a16="http://schemas.microsoft.com/office/drawing/2014/main" val="982477754"/>
                    </a:ext>
                  </a:extLst>
                </a:gridCol>
                <a:gridCol w="1967309">
                  <a:extLst>
                    <a:ext uri="{9D8B030D-6E8A-4147-A177-3AD203B41FA5}">
                      <a16:colId xmlns="" xmlns:a16="http://schemas.microsoft.com/office/drawing/2014/main" val="2241311321"/>
                    </a:ext>
                  </a:extLst>
                </a:gridCol>
                <a:gridCol w="1967309">
                  <a:extLst>
                    <a:ext uri="{9D8B030D-6E8A-4147-A177-3AD203B41FA5}">
                      <a16:colId xmlns="" xmlns:a16="http://schemas.microsoft.com/office/drawing/2014/main" val="1986736533"/>
                    </a:ext>
                  </a:extLst>
                </a:gridCol>
                <a:gridCol w="1967309">
                  <a:extLst>
                    <a:ext uri="{9D8B030D-6E8A-4147-A177-3AD203B41FA5}">
                      <a16:colId xmlns="" xmlns:a16="http://schemas.microsoft.com/office/drawing/2014/main" val="1404351406"/>
                    </a:ext>
                  </a:extLst>
                </a:gridCol>
              </a:tblGrid>
              <a:tr h="636778">
                <a:tc>
                  <a:txBody>
                    <a:bodyPr/>
                    <a:lstStyle/>
                    <a:p>
                      <a:r>
                        <a:rPr lang="en-US" dirty="0" err="1"/>
                        <a:t>Jarayon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Need = Max − Alloc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317412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43302928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418460386"/>
                  </a:ext>
                </a:extLst>
              </a:tr>
              <a:tr h="363872">
                <a:tc>
                  <a:txBody>
                    <a:bodyPr/>
                    <a:lstStyle/>
                    <a:p>
                      <a:r>
                        <a:rPr lang="en-US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73356866"/>
                  </a:ext>
                </a:extLst>
              </a:tr>
            </a:tbl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6F9B7D09-288E-4CF1-BF84-C39BD253F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3283078"/>
            <a:ext cx="7233134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1-qadam: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=8.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Tugashi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mumkinlar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kumimoji="0" lang="ru-RU" altLang="ru-RU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/>
            </a:r>
            <a:br>
              <a:rPr kumimoji="0" lang="ru-RU" altLang="ru-RU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P1: 7 ≤ 8 , P2: 4 ≤ 8 , P3: 2 ≤ 8  →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xohlaganimizdan</a:t>
            </a:r>
            <a:endParaRPr lang="en-US" altLang="ru-RU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boshlash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eng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kichigidan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boshamiz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P3.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P3 “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”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deb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faraz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qilamiz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o‘zidagi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1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resursni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qaytardi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endParaRPr kumimoji="0" lang="en-US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=8+1=9.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P2: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=4 ≤ 9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tugashi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mumkin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1+4=5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qaytardi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endParaRPr kumimoji="0" lang="en-US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Available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=9+5=14.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Endi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P1: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Need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=7 ≤ 14 →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tugadi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Xulosa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ketma-ketlik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bor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(P3 → P2 → P1).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Holat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xavfsiz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42E983D-CC0D-45D6-95A9-EF7D022C97AE}"/>
              </a:ext>
            </a:extLst>
          </p:cNvPr>
          <p:cNvSpPr txBox="1"/>
          <p:nvPr/>
        </p:nvSpPr>
        <p:spPr>
          <a:xfrm>
            <a:off x="923364" y="492551"/>
            <a:ext cx="72076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Banker </a:t>
            </a:r>
            <a:r>
              <a:rPr lang="en-AU" sz="3200" b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algoritmi</a:t>
            </a:r>
            <a:r>
              <a:rPr lang="en-AU" sz="32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(Banker’s Algorithm) </a:t>
            </a:r>
          </a:p>
        </p:txBody>
      </p:sp>
    </p:spTree>
    <p:extLst>
      <p:ext uri="{BB962C8B-B14F-4D97-AF65-F5344CB8AC3E}">
        <p14:creationId xmlns:p14="http://schemas.microsoft.com/office/powerpoint/2010/main" val="58825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7611950" cy="554736"/>
          </a:xfrm>
        </p:spPr>
        <p:txBody>
          <a:bodyPr/>
          <a:lstStyle/>
          <a:p>
            <a:r>
              <a:rPr lang="en-AU" b="1" dirty="0" err="1"/>
              <a:t>Qulflanishni</a:t>
            </a:r>
            <a:r>
              <a:rPr lang="en-AU" b="1" dirty="0"/>
              <a:t> </a:t>
            </a:r>
            <a:r>
              <a:rPr lang="en-AU" b="1" dirty="0" err="1"/>
              <a:t>aniqlash</a:t>
            </a:r>
            <a:r>
              <a:rPr lang="en-AU" b="1" dirty="0"/>
              <a:t> (Deadlock Detection)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353312"/>
            <a:ext cx="7611951" cy="4515676"/>
          </a:xfrm>
        </p:spPr>
        <p:txBody>
          <a:bodyPr/>
          <a:lstStyle/>
          <a:p>
            <a:r>
              <a:rPr lang="en-AU" sz="2400" dirty="0" smtClean="0"/>
              <a:t>	</a:t>
            </a:r>
            <a:r>
              <a:rPr lang="en-AU" sz="2400" dirty="0" smtClean="0">
                <a:latin typeface="Bell MT" panose="02020503060305020303" pitchFamily="18" charset="0"/>
              </a:rPr>
              <a:t>Agar </a:t>
            </a:r>
            <a:r>
              <a:rPr lang="en-AU" sz="2400" dirty="0" err="1">
                <a:latin typeface="Bell MT" panose="02020503060305020303" pitchFamily="18" charset="0"/>
              </a:rPr>
              <a:t>tizim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qulflanishning</a:t>
            </a:r>
            <a:r>
              <a:rPr lang="en-AU" sz="2400" b="1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oldini</a:t>
            </a:r>
            <a:r>
              <a:rPr lang="en-AU" sz="2400" b="1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olish</a:t>
            </a:r>
            <a:r>
              <a:rPr lang="en-AU" sz="2400" b="1" dirty="0">
                <a:latin typeface="Bell MT" panose="02020503060305020303" pitchFamily="18" charset="0"/>
              </a:rPr>
              <a:t> (prevention)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yoki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chetlab</a:t>
            </a:r>
            <a:r>
              <a:rPr lang="en-AU" sz="2400" b="1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o‘tish</a:t>
            </a:r>
            <a:r>
              <a:rPr lang="en-AU" sz="2400" b="1" dirty="0">
                <a:latin typeface="Bell MT" panose="02020503060305020303" pitchFamily="18" charset="0"/>
              </a:rPr>
              <a:t> (avoidance)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algoritmlaridan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foydalanmasa</a:t>
            </a:r>
            <a:r>
              <a:rPr lang="en-AU" sz="2400" dirty="0">
                <a:latin typeface="Bell MT" panose="02020503060305020303" pitchFamily="18" charset="0"/>
              </a:rPr>
              <a:t>, u </a:t>
            </a:r>
            <a:r>
              <a:rPr lang="en-AU" sz="2400" dirty="0" err="1">
                <a:latin typeface="Bell MT" panose="02020503060305020303" pitchFamily="18" charset="0"/>
              </a:rPr>
              <a:t>holda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qulflanish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sodir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bo‘lishi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mumkin</a:t>
            </a:r>
            <a:r>
              <a:rPr lang="en-AU" sz="2400" dirty="0">
                <a:latin typeface="Bell MT" panose="02020503060305020303" pitchFamily="18" charset="0"/>
              </a:rPr>
              <a:t>.</a:t>
            </a:r>
            <a:br>
              <a:rPr lang="en-AU" sz="2400" dirty="0">
                <a:latin typeface="Bell MT" panose="02020503060305020303" pitchFamily="18" charset="0"/>
              </a:rPr>
            </a:br>
            <a:r>
              <a:rPr lang="ru-RU" sz="2400" dirty="0" err="1"/>
              <a:t>Shu</a:t>
            </a:r>
            <a:r>
              <a:rPr lang="ru-RU" sz="2400" dirty="0"/>
              <a:t> </a:t>
            </a:r>
            <a:r>
              <a:rPr lang="ru-RU" sz="2400" dirty="0" err="1"/>
              <a:t>sababli</a:t>
            </a:r>
            <a:r>
              <a:rPr lang="ru-RU" sz="2400" dirty="0"/>
              <a:t> </a:t>
            </a:r>
            <a:r>
              <a:rPr lang="ru-RU" sz="2400" dirty="0" err="1"/>
              <a:t>tizimda</a:t>
            </a:r>
            <a:r>
              <a:rPr lang="ru-RU" sz="2400" dirty="0"/>
              <a:t> </a:t>
            </a:r>
            <a:r>
              <a:rPr lang="ru-RU" sz="2400" dirty="0" err="1"/>
              <a:t>quyidagi</a:t>
            </a:r>
            <a:r>
              <a:rPr lang="ru-RU" sz="2400" dirty="0"/>
              <a:t> </a:t>
            </a:r>
            <a:r>
              <a:rPr lang="ru-RU" sz="2400" dirty="0" err="1"/>
              <a:t>ikki</a:t>
            </a:r>
            <a:r>
              <a:rPr lang="ru-RU" sz="2400" dirty="0"/>
              <a:t> </a:t>
            </a:r>
            <a:r>
              <a:rPr lang="ru-RU" sz="2400" dirty="0" err="1"/>
              <a:t>mexanizm</a:t>
            </a:r>
            <a:r>
              <a:rPr lang="ru-RU" sz="2400" dirty="0"/>
              <a:t> </a:t>
            </a:r>
            <a:r>
              <a:rPr lang="ru-RU" sz="2400" dirty="0" err="1"/>
              <a:t>bo‘lishi</a:t>
            </a:r>
            <a:r>
              <a:rPr lang="ru-RU" sz="2400" dirty="0"/>
              <a:t> </a:t>
            </a:r>
            <a:r>
              <a:rPr lang="ru-RU" sz="2400" dirty="0" err="1"/>
              <a:t>zarur</a:t>
            </a:r>
            <a:r>
              <a:rPr lang="ru-RU" sz="2400" dirty="0"/>
              <a:t>:</a:t>
            </a:r>
          </a:p>
          <a:p>
            <a:pPr lvl="0"/>
            <a:r>
              <a:rPr lang="en-AU" sz="2400" b="1" dirty="0" err="1" smtClean="0">
                <a:latin typeface="Bell MT" panose="02020503060305020303" pitchFamily="18" charset="0"/>
              </a:rPr>
              <a:t>Qulflanishni</a:t>
            </a:r>
            <a:r>
              <a:rPr lang="en-AU" sz="2400" b="1" dirty="0" smtClean="0">
                <a:latin typeface="Bell MT" panose="02020503060305020303" pitchFamily="18" charset="0"/>
              </a:rPr>
              <a:t> </a:t>
            </a:r>
            <a:r>
              <a:rPr lang="en-AU" sz="2400" b="1" dirty="0" err="1" smtClean="0">
                <a:latin typeface="Bell MT" panose="02020503060305020303" pitchFamily="18" charset="0"/>
              </a:rPr>
              <a:t>aniqlash</a:t>
            </a:r>
            <a:r>
              <a:rPr lang="en-AU" sz="2400" b="1" dirty="0" smtClean="0">
                <a:latin typeface="Bell MT" panose="02020503060305020303" pitchFamily="18" charset="0"/>
              </a:rPr>
              <a:t> </a:t>
            </a:r>
            <a:r>
              <a:rPr lang="en-AU" sz="2400" b="1" dirty="0" err="1" smtClean="0">
                <a:latin typeface="Bell MT" panose="02020503060305020303" pitchFamily="18" charset="0"/>
              </a:rPr>
              <a:t>algoritmi</a:t>
            </a:r>
            <a:r>
              <a:rPr lang="en-AU" sz="2400" dirty="0" smtClean="0">
                <a:latin typeface="Bell MT" panose="02020503060305020303" pitchFamily="18" charset="0"/>
              </a:rPr>
              <a:t> — </a:t>
            </a:r>
            <a:r>
              <a:rPr lang="en-AU" sz="2400" dirty="0" err="1" smtClean="0">
                <a:latin typeface="Bell MT" panose="02020503060305020303" pitchFamily="18" charset="0"/>
              </a:rPr>
              <a:t>tizim</a:t>
            </a:r>
            <a:r>
              <a:rPr lang="en-AU" sz="2400" dirty="0" smtClean="0">
                <a:latin typeface="Bell MT" panose="02020503060305020303" pitchFamily="18" charset="0"/>
              </a:rPr>
              <a:t> </a:t>
            </a:r>
            <a:r>
              <a:rPr lang="en-AU" sz="2400" dirty="0" err="1" smtClean="0">
                <a:latin typeface="Bell MT" panose="02020503060305020303" pitchFamily="18" charset="0"/>
              </a:rPr>
              <a:t>holatini</a:t>
            </a:r>
            <a:r>
              <a:rPr lang="en-AU" sz="2400" dirty="0" smtClean="0">
                <a:latin typeface="Bell MT" panose="02020503060305020303" pitchFamily="18" charset="0"/>
              </a:rPr>
              <a:t> </a:t>
            </a:r>
            <a:r>
              <a:rPr lang="en-AU" sz="2400" dirty="0" err="1" smtClean="0">
                <a:latin typeface="Bell MT" panose="02020503060305020303" pitchFamily="18" charset="0"/>
              </a:rPr>
              <a:t>tekshirib</a:t>
            </a:r>
            <a:r>
              <a:rPr lang="en-AU" sz="2400" dirty="0" smtClean="0">
                <a:latin typeface="Bell MT" panose="02020503060305020303" pitchFamily="18" charset="0"/>
              </a:rPr>
              <a:t>, </a:t>
            </a:r>
            <a:r>
              <a:rPr lang="en-AU" sz="2400" dirty="0" err="1" smtClean="0">
                <a:latin typeface="Bell MT" panose="02020503060305020303" pitchFamily="18" charset="0"/>
              </a:rPr>
              <a:t>qulflanish</a:t>
            </a:r>
            <a:r>
              <a:rPr lang="en-AU" sz="2400" dirty="0" smtClean="0">
                <a:latin typeface="Bell MT" panose="02020503060305020303" pitchFamily="18" charset="0"/>
              </a:rPr>
              <a:t> </a:t>
            </a:r>
            <a:r>
              <a:rPr lang="en-AU" sz="2400" dirty="0" err="1" smtClean="0">
                <a:latin typeface="Bell MT" panose="02020503060305020303" pitchFamily="18" charset="0"/>
              </a:rPr>
              <a:t>sodir</a:t>
            </a:r>
            <a:r>
              <a:rPr lang="en-AU" sz="2400" dirty="0" smtClean="0">
                <a:latin typeface="Bell MT" panose="02020503060305020303" pitchFamily="18" charset="0"/>
              </a:rPr>
              <a:t> </a:t>
            </a:r>
            <a:r>
              <a:rPr lang="en-AU" sz="2400" dirty="0" err="1" smtClean="0">
                <a:latin typeface="Bell MT" panose="02020503060305020303" pitchFamily="18" charset="0"/>
              </a:rPr>
              <a:t>bo‘lganini</a:t>
            </a:r>
            <a:r>
              <a:rPr lang="en-AU" sz="2400" dirty="0" smtClean="0">
                <a:latin typeface="Bell MT" panose="02020503060305020303" pitchFamily="18" charset="0"/>
              </a:rPr>
              <a:t> </a:t>
            </a:r>
            <a:r>
              <a:rPr lang="en-AU" sz="2400" dirty="0" err="1" smtClean="0">
                <a:latin typeface="Bell MT" panose="02020503060305020303" pitchFamily="18" charset="0"/>
              </a:rPr>
              <a:t>aniqlaydi</a:t>
            </a:r>
            <a:r>
              <a:rPr lang="en-AU" sz="2400" dirty="0" smtClean="0">
                <a:latin typeface="Bell MT" panose="02020503060305020303" pitchFamily="18" charset="0"/>
              </a:rPr>
              <a:t>.</a:t>
            </a:r>
            <a:endParaRPr lang="ru-RU" sz="2400" dirty="0" smtClean="0"/>
          </a:p>
          <a:p>
            <a:pPr lvl="0"/>
            <a:r>
              <a:rPr lang="en-AU" sz="2400" b="1" dirty="0" err="1" smtClean="0">
                <a:latin typeface="Bell MT" panose="02020503060305020303" pitchFamily="18" charset="0"/>
              </a:rPr>
              <a:t>Qulflanishdan</a:t>
            </a:r>
            <a:r>
              <a:rPr lang="en-AU" sz="2400" b="1" dirty="0" smtClean="0">
                <a:latin typeface="Bell MT" panose="02020503060305020303" pitchFamily="18" charset="0"/>
              </a:rPr>
              <a:t> </a:t>
            </a:r>
            <a:r>
              <a:rPr lang="en-AU" sz="2400" b="1" dirty="0" err="1">
                <a:latin typeface="Bell MT" panose="02020503060305020303" pitchFamily="18" charset="0"/>
              </a:rPr>
              <a:t>chiqish</a:t>
            </a:r>
            <a:r>
              <a:rPr lang="en-AU" sz="2400" b="1" dirty="0">
                <a:latin typeface="Bell MT" panose="02020503060305020303" pitchFamily="18" charset="0"/>
              </a:rPr>
              <a:t> (recovery) </a:t>
            </a:r>
            <a:r>
              <a:rPr lang="en-AU" sz="2400" b="1" dirty="0" err="1">
                <a:latin typeface="Bell MT" panose="02020503060305020303" pitchFamily="18" charset="0"/>
              </a:rPr>
              <a:t>algoritmi</a:t>
            </a:r>
            <a:r>
              <a:rPr lang="en-AU" sz="2400" dirty="0">
                <a:latin typeface="Bell MT" panose="02020503060305020303" pitchFamily="18" charset="0"/>
              </a:rPr>
              <a:t> — </a:t>
            </a:r>
            <a:r>
              <a:rPr lang="en-AU" sz="2400" dirty="0" err="1">
                <a:latin typeface="Bell MT" panose="02020503060305020303" pitchFamily="18" charset="0"/>
              </a:rPr>
              <a:t>aniqlangan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qulflanishni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yo‘q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qiladi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yoki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jarayonlarni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qayta</a:t>
            </a:r>
            <a:r>
              <a:rPr lang="en-AU" sz="2400" dirty="0">
                <a:latin typeface="Bell MT" panose="02020503060305020303" pitchFamily="18" charset="0"/>
              </a:rPr>
              <a:t> </a:t>
            </a:r>
            <a:r>
              <a:rPr lang="en-AU" sz="2400" dirty="0" err="1">
                <a:latin typeface="Bell MT" panose="02020503060305020303" pitchFamily="18" charset="0"/>
              </a:rPr>
              <a:t>tiklaydi</a:t>
            </a:r>
            <a:r>
              <a:rPr lang="en-AU" sz="2400" dirty="0">
                <a:latin typeface="Bell MT" panose="02020503060305020303" pitchFamily="18" charset="0"/>
              </a:rPr>
              <a:t>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3407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892367" cy="542544"/>
          </a:xfrm>
        </p:spPr>
        <p:txBody>
          <a:bodyPr>
            <a:noAutofit/>
          </a:bodyPr>
          <a:lstStyle/>
          <a:p>
            <a:pPr algn="ctr"/>
            <a:r>
              <a:rPr lang="en-AU" sz="2800" b="1" dirty="0" err="1">
                <a:latin typeface="Bell MT" panose="02020503060305020303" pitchFamily="18" charset="0"/>
              </a:rPr>
              <a:t>Har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bir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resurs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turi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uchun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bitta</a:t>
            </a:r>
            <a:r>
              <a:rPr lang="en-AU" sz="2800" b="1" dirty="0">
                <a:latin typeface="Bell MT" panose="02020503060305020303" pitchFamily="18" charset="0"/>
              </a:rPr>
              <a:t> </a:t>
            </a:r>
            <a:r>
              <a:rPr lang="en-AU" sz="2800" b="1" dirty="0" err="1">
                <a:latin typeface="Bell MT" panose="02020503060305020303" pitchFamily="18" charset="0"/>
              </a:rPr>
              <a:t>nusxa</a:t>
            </a:r>
            <a:r>
              <a:rPr lang="en-AU" sz="2800" b="1" dirty="0">
                <a:latin typeface="Bell MT" panose="02020503060305020303" pitchFamily="18" charset="0"/>
              </a:rPr>
              <a:t> (Single Instance of Each Resource Type)</a:t>
            </a:r>
            <a:endParaRPr lang="ru-RU" sz="28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085088"/>
            <a:ext cx="7892366" cy="4783900"/>
          </a:xfrm>
        </p:spPr>
        <p:txBody>
          <a:bodyPr>
            <a:normAutofit/>
          </a:bodyPr>
          <a:lstStyle/>
          <a:p>
            <a:r>
              <a:rPr lang="en-AU" dirty="0">
                <a:latin typeface="Bell MT" panose="02020503060305020303" pitchFamily="18" charset="0"/>
              </a:rPr>
              <a:t>Agar </a:t>
            </a:r>
            <a:r>
              <a:rPr lang="en-AU" dirty="0" err="1">
                <a:latin typeface="Bell MT" panose="02020503060305020303" pitchFamily="18" charset="0"/>
              </a:rPr>
              <a:t>har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bir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resurs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turining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faqat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bitta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nusxasi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mavjud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bo‘lsa</a:t>
            </a:r>
            <a:r>
              <a:rPr lang="en-AU" dirty="0">
                <a:latin typeface="Bell MT" panose="02020503060305020303" pitchFamily="18" charset="0"/>
              </a:rPr>
              <a:t>, </a:t>
            </a:r>
            <a:r>
              <a:rPr lang="en-AU" dirty="0" err="1">
                <a:latin typeface="Bell MT" panose="02020503060305020303" pitchFamily="18" charset="0"/>
              </a:rPr>
              <a:t>qulflanishni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kutish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grafigi</a:t>
            </a:r>
            <a:r>
              <a:rPr lang="en-AU" b="1" dirty="0">
                <a:latin typeface="Bell MT" panose="02020503060305020303" pitchFamily="18" charset="0"/>
              </a:rPr>
              <a:t> (Wait-for Graph, </a:t>
            </a:r>
            <a:r>
              <a:rPr lang="en-AU" b="1" dirty="0" err="1">
                <a:latin typeface="Bell MT" panose="02020503060305020303" pitchFamily="18" charset="0"/>
              </a:rPr>
              <a:t>WFG</a:t>
            </a:r>
            <a:r>
              <a:rPr lang="en-AU" b="1" dirty="0">
                <a:latin typeface="Bell MT" panose="02020503060305020303" pitchFamily="18" charset="0"/>
              </a:rPr>
              <a:t>)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orqali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aniqlash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mumkin</a:t>
            </a:r>
            <a:r>
              <a:rPr lang="en-AU" dirty="0">
                <a:latin typeface="Bell MT" panose="02020503060305020303" pitchFamily="18" charset="0"/>
              </a:rPr>
              <a:t>.</a:t>
            </a:r>
            <a:endParaRPr lang="ru-RU" dirty="0"/>
          </a:p>
          <a:p>
            <a:r>
              <a:rPr lang="ru-RU" b="1" dirty="0" err="1"/>
              <a:t>Asosiy</a:t>
            </a:r>
            <a:r>
              <a:rPr lang="ru-RU" b="1" dirty="0"/>
              <a:t> </a:t>
            </a:r>
            <a:r>
              <a:rPr lang="ru-RU" b="1" dirty="0" err="1"/>
              <a:t>tushuncha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en-AU" dirty="0">
                <a:latin typeface="Bell MT" panose="02020503060305020303" pitchFamily="18" charset="0"/>
              </a:rPr>
              <a:t>Bu </a:t>
            </a:r>
            <a:r>
              <a:rPr lang="en-AU" dirty="0" err="1">
                <a:latin typeface="Bell MT" panose="02020503060305020303" pitchFamily="18" charset="0"/>
              </a:rPr>
              <a:t>graf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resurs-taqsimlash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grafigining</a:t>
            </a:r>
            <a:r>
              <a:rPr lang="en-AU" b="1" dirty="0">
                <a:latin typeface="Bell MT" panose="02020503060305020303" pitchFamily="18" charset="0"/>
              </a:rPr>
              <a:t> (RAG)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soddalashtirilgan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shaklidir</a:t>
            </a:r>
            <a:r>
              <a:rPr lang="en-AU" dirty="0">
                <a:latin typeface="Bell MT" panose="02020503060305020303" pitchFamily="18" charset="0"/>
              </a:rPr>
              <a:t>.</a:t>
            </a:r>
            <a:endParaRPr lang="ru-RU" dirty="0"/>
          </a:p>
          <a:p>
            <a:pPr lvl="0"/>
            <a:r>
              <a:rPr lang="en-AU" dirty="0" err="1">
                <a:latin typeface="Bell MT" panose="02020503060305020303" pitchFamily="18" charset="0"/>
              </a:rPr>
              <a:t>Ya’ni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smtClean="0">
                <a:latin typeface="Bell MT" panose="02020503060305020303" pitchFamily="18" charset="0"/>
              </a:rPr>
              <a:t>RAG </a:t>
            </a:r>
            <a:r>
              <a:rPr lang="en-AU" dirty="0" err="1" smtClean="0">
                <a:latin typeface="Bell MT" panose="02020503060305020303" pitchFamily="18" charset="0"/>
              </a:rPr>
              <a:t>dagi</a:t>
            </a:r>
            <a:r>
              <a:rPr lang="en-AU" dirty="0" smtClean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resurs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tugunlari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olib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tashlanadi</a:t>
            </a:r>
            <a:r>
              <a:rPr lang="en-AU" dirty="0">
                <a:latin typeface="Bell MT" panose="02020503060305020303" pitchFamily="18" charset="0"/>
              </a:rPr>
              <a:t>, </a:t>
            </a:r>
            <a:r>
              <a:rPr lang="en-AU" dirty="0" err="1">
                <a:latin typeface="Bell MT" panose="02020503060305020303" pitchFamily="18" charset="0"/>
              </a:rPr>
              <a:t>va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ularning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o‘rniga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jarayonlar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orasidagi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kutish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munosabatlari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qoldiriladi</a:t>
            </a:r>
            <a:r>
              <a:rPr lang="en-AU" dirty="0">
                <a:latin typeface="Bell MT" panose="02020503060305020303" pitchFamily="18" charset="0"/>
              </a:rPr>
              <a:t>.</a:t>
            </a:r>
            <a:endParaRPr lang="ru-RU" dirty="0"/>
          </a:p>
          <a:p>
            <a:r>
              <a:rPr lang="ru-RU" b="1" dirty="0" err="1" smtClean="0"/>
              <a:t>Ta’rif</a:t>
            </a:r>
            <a:r>
              <a:rPr lang="ru-RU" b="1" dirty="0" smtClean="0"/>
              <a:t>:</a:t>
            </a:r>
            <a:r>
              <a:rPr lang="en-AU" b="1" dirty="0" smtClean="0"/>
              <a:t> </a:t>
            </a:r>
            <a:r>
              <a:rPr lang="ru-RU" dirty="0" err="1" smtClean="0"/>
              <a:t>Agar</a:t>
            </a:r>
            <a:r>
              <a:rPr lang="ru-RU" dirty="0" smtClean="0"/>
              <a:t> </a:t>
            </a:r>
            <a:r>
              <a:rPr lang="ru-RU" b="1" dirty="0" err="1"/>
              <a:t>Pi</a:t>
            </a:r>
            <a:r>
              <a:rPr lang="ru-RU" b="1" dirty="0"/>
              <a:t> → </a:t>
            </a:r>
            <a:r>
              <a:rPr lang="ru-RU" b="1" dirty="0" err="1"/>
              <a:t>Pj</a:t>
            </a:r>
            <a:r>
              <a:rPr lang="ru-RU" dirty="0"/>
              <a:t> </a:t>
            </a:r>
            <a:r>
              <a:rPr lang="ru-RU" dirty="0" err="1"/>
              <a:t>yo‘nalgan</a:t>
            </a:r>
            <a:r>
              <a:rPr lang="ru-RU" dirty="0"/>
              <a:t> </a:t>
            </a:r>
            <a:r>
              <a:rPr lang="ru-RU" dirty="0" err="1"/>
              <a:t>chiziq</a:t>
            </a:r>
            <a:r>
              <a:rPr lang="ru-RU" dirty="0"/>
              <a:t> </a:t>
            </a:r>
            <a:r>
              <a:rPr lang="ru-RU" dirty="0" err="1"/>
              <a:t>mavjud</a:t>
            </a:r>
            <a:r>
              <a:rPr lang="ru-RU" dirty="0"/>
              <a:t> </a:t>
            </a:r>
            <a:r>
              <a:rPr lang="ru-RU" dirty="0" err="1"/>
              <a:t>bo‘lsa</a:t>
            </a:r>
            <a:r>
              <a:rPr lang="ru-RU" dirty="0"/>
              <a:t>, </a:t>
            </a:r>
            <a:r>
              <a:rPr lang="ru-RU" dirty="0" err="1"/>
              <a:t>bu</a:t>
            </a:r>
            <a:r>
              <a:rPr lang="ru-RU" dirty="0"/>
              <a:t> </a:t>
            </a:r>
            <a:r>
              <a:rPr lang="ru-RU" dirty="0" err="1"/>
              <a:t>shuni</a:t>
            </a:r>
            <a:r>
              <a:rPr lang="ru-RU" dirty="0"/>
              <a:t> </a:t>
            </a:r>
            <a:r>
              <a:rPr lang="ru-RU" dirty="0" err="1"/>
              <a:t>anglatadiki</a:t>
            </a:r>
            <a:r>
              <a:rPr lang="ru-RU" dirty="0"/>
              <a:t>, </a:t>
            </a:r>
            <a:r>
              <a:rPr lang="ru-RU" dirty="0" err="1"/>
              <a:t>jarayon</a:t>
            </a:r>
            <a:r>
              <a:rPr lang="ru-RU" dirty="0"/>
              <a:t> </a:t>
            </a:r>
            <a:r>
              <a:rPr lang="ru-RU" b="1" dirty="0" err="1"/>
              <a:t>Pi</a:t>
            </a:r>
            <a:r>
              <a:rPr lang="ru-RU" dirty="0"/>
              <a:t>, </a:t>
            </a:r>
            <a:r>
              <a:rPr lang="ru-RU" dirty="0" err="1"/>
              <a:t>jarayon</a:t>
            </a:r>
            <a:r>
              <a:rPr lang="ru-RU" dirty="0"/>
              <a:t> </a:t>
            </a:r>
            <a:r>
              <a:rPr lang="ru-RU" b="1" dirty="0" err="1"/>
              <a:t>Pj</a:t>
            </a:r>
            <a:r>
              <a:rPr lang="ru-RU" dirty="0"/>
              <a:t> </a:t>
            </a:r>
            <a:r>
              <a:rPr lang="ru-RU" dirty="0" err="1"/>
              <a:t>ushlab</a:t>
            </a:r>
            <a:r>
              <a:rPr lang="ru-RU" dirty="0"/>
              <a:t> </a:t>
            </a:r>
            <a:r>
              <a:rPr lang="ru-RU" dirty="0" err="1"/>
              <a:t>turgan</a:t>
            </a:r>
            <a:r>
              <a:rPr lang="ru-RU" dirty="0"/>
              <a:t> </a:t>
            </a:r>
            <a:r>
              <a:rPr lang="ru-RU" dirty="0" err="1"/>
              <a:t>resursni</a:t>
            </a:r>
            <a:r>
              <a:rPr lang="ru-RU" dirty="0"/>
              <a:t> </a:t>
            </a:r>
            <a:r>
              <a:rPr lang="ru-RU" dirty="0" err="1"/>
              <a:t>kutmoqda</a:t>
            </a:r>
            <a:r>
              <a:rPr lang="ru-RU" dirty="0"/>
              <a:t>.</a:t>
            </a:r>
          </a:p>
          <a:p>
            <a:r>
              <a:rPr lang="en-AU" b="1" dirty="0" err="1">
                <a:latin typeface="Bell MT" panose="02020503060305020303" pitchFamily="18" charset="0"/>
              </a:rPr>
              <a:t>Matematik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ifoda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bilan</a:t>
            </a:r>
            <a:r>
              <a:rPr lang="en-AU" b="1" dirty="0">
                <a:latin typeface="Bell MT" panose="02020503060305020303" pitchFamily="18" charset="0"/>
              </a:rPr>
              <a:t>:</a:t>
            </a:r>
            <a:r>
              <a:rPr lang="en-AU" dirty="0">
                <a:latin typeface="Bell MT" panose="02020503060305020303" pitchFamily="18" charset="0"/>
              </a:rPr>
              <a:t/>
            </a:r>
            <a:br>
              <a:rPr lang="en-AU" dirty="0">
                <a:latin typeface="Bell MT" panose="02020503060305020303" pitchFamily="18" charset="0"/>
              </a:rPr>
            </a:br>
            <a:r>
              <a:rPr lang="en-AU" dirty="0">
                <a:latin typeface="Bell MT" panose="02020503060305020303" pitchFamily="18" charset="0"/>
              </a:rPr>
              <a:t>Pi → </a:t>
            </a:r>
            <a:r>
              <a:rPr lang="en-AU" dirty="0" err="1">
                <a:latin typeface="Bell MT" panose="02020503060305020303" pitchFamily="18" charset="0"/>
              </a:rPr>
              <a:t>Pj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mavjud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bo‘ladi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faqat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quyidagi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holatda</a:t>
            </a:r>
            <a:r>
              <a:rPr lang="en-AU" dirty="0">
                <a:latin typeface="Bell MT" panose="02020503060305020303" pitchFamily="18" charset="0"/>
              </a:rPr>
              <a:t>:</a:t>
            </a:r>
            <a:endParaRPr lang="ru-RU" dirty="0"/>
          </a:p>
          <a:p>
            <a:pPr lvl="0"/>
            <a:r>
              <a:rPr lang="en-AU" dirty="0">
                <a:latin typeface="Bell MT" panose="02020503060305020303" pitchFamily="18" charset="0"/>
              </a:rPr>
              <a:t>Pi → </a:t>
            </a:r>
            <a:r>
              <a:rPr lang="en-AU" dirty="0" err="1">
                <a:latin typeface="Bell MT" panose="02020503060305020303" pitchFamily="18" charset="0"/>
              </a:rPr>
              <a:t>Rq</a:t>
            </a:r>
            <a:r>
              <a:rPr lang="en-AU" dirty="0">
                <a:latin typeface="Bell MT" panose="02020503060305020303" pitchFamily="18" charset="0"/>
              </a:rPr>
              <a:t> (Pi </a:t>
            </a:r>
            <a:r>
              <a:rPr lang="en-AU" dirty="0" err="1">
                <a:latin typeface="Bell MT" panose="02020503060305020303" pitchFamily="18" charset="0"/>
              </a:rPr>
              <a:t>resursni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so‘rayapti</a:t>
            </a:r>
            <a:r>
              <a:rPr lang="en-AU" dirty="0">
                <a:latin typeface="Bell MT" panose="02020503060305020303" pitchFamily="18" charset="0"/>
              </a:rPr>
              <a:t>)</a:t>
            </a:r>
            <a:endParaRPr lang="ru-RU" dirty="0"/>
          </a:p>
          <a:p>
            <a:pPr lvl="0"/>
            <a:r>
              <a:rPr lang="en-AU" dirty="0" err="1">
                <a:latin typeface="Bell MT" panose="02020503060305020303" pitchFamily="18" charset="0"/>
              </a:rPr>
              <a:t>Rq</a:t>
            </a:r>
            <a:r>
              <a:rPr lang="en-AU" dirty="0">
                <a:latin typeface="Bell MT" panose="02020503060305020303" pitchFamily="18" charset="0"/>
              </a:rPr>
              <a:t> → </a:t>
            </a:r>
            <a:r>
              <a:rPr lang="en-AU" dirty="0" err="1">
                <a:latin typeface="Bell MT" panose="02020503060305020303" pitchFamily="18" charset="0"/>
              </a:rPr>
              <a:t>Pj</a:t>
            </a:r>
            <a:r>
              <a:rPr lang="en-AU" dirty="0">
                <a:latin typeface="Bell MT" panose="02020503060305020303" pitchFamily="18" charset="0"/>
              </a:rPr>
              <a:t> (</a:t>
            </a:r>
            <a:r>
              <a:rPr lang="en-AU" dirty="0" err="1">
                <a:latin typeface="Bell MT" panose="02020503060305020303" pitchFamily="18" charset="0"/>
              </a:rPr>
              <a:t>resurs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Pj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ga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ajratilgan</a:t>
            </a:r>
            <a:r>
              <a:rPr lang="en-AU" dirty="0">
                <a:latin typeface="Bell MT" panose="02020503060305020303" pitchFamily="18" charset="0"/>
              </a:rPr>
              <a:t>)</a:t>
            </a:r>
            <a:endParaRPr lang="ru-RU" dirty="0"/>
          </a:p>
          <a:p>
            <a:pPr lvl="0"/>
            <a:r>
              <a:rPr lang="en-AU" dirty="0">
                <a:latin typeface="Bell MT" panose="02020503060305020303" pitchFamily="18" charset="0"/>
              </a:rPr>
              <a:t>Agar </a:t>
            </a:r>
            <a:r>
              <a:rPr lang="en-AU" b="1" dirty="0" err="1">
                <a:latin typeface="Bell MT" panose="02020503060305020303" pitchFamily="18" charset="0"/>
              </a:rPr>
              <a:t>kutish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grafigida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aylana</a:t>
            </a:r>
            <a:r>
              <a:rPr lang="en-AU" b="1" dirty="0">
                <a:latin typeface="Bell MT" panose="02020503060305020303" pitchFamily="18" charset="0"/>
              </a:rPr>
              <a:t> (cycle)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mavjud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bo‘lsa</a:t>
            </a:r>
            <a:r>
              <a:rPr lang="en-AU" dirty="0">
                <a:latin typeface="Bell MT" panose="02020503060305020303" pitchFamily="18" charset="0"/>
              </a:rPr>
              <a:t> → </a:t>
            </a:r>
            <a:r>
              <a:rPr lang="en-AU" dirty="0" err="1">
                <a:latin typeface="Bell MT" panose="02020503060305020303" pitchFamily="18" charset="0"/>
              </a:rPr>
              <a:t>tizimda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qulflanish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mavjud</a:t>
            </a:r>
            <a:r>
              <a:rPr lang="en-AU" dirty="0">
                <a:latin typeface="Bell MT" panose="02020503060305020303" pitchFamily="18" charset="0"/>
              </a:rPr>
              <a:t>.</a:t>
            </a:r>
            <a:endParaRPr lang="ru-RU" dirty="0"/>
          </a:p>
          <a:p>
            <a:pPr lvl="0"/>
            <a:r>
              <a:rPr lang="en-AU" dirty="0" err="1">
                <a:latin typeface="Bell MT" panose="02020503060305020303" pitchFamily="18" charset="0"/>
              </a:rPr>
              <a:t>Tizim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bu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grafikni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doimiy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ravishda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kuzatib</a:t>
            </a:r>
            <a:r>
              <a:rPr lang="en-AU" b="1" dirty="0">
                <a:latin typeface="Bell MT" panose="02020503060305020303" pitchFamily="18" charset="0"/>
              </a:rPr>
              <a:t> </a:t>
            </a:r>
            <a:r>
              <a:rPr lang="en-AU" b="1" dirty="0" err="1">
                <a:latin typeface="Bell MT" panose="02020503060305020303" pitchFamily="18" charset="0"/>
              </a:rPr>
              <a:t>borishi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va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vaqti-vaqti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bilan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unda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aylana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mavjudligini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tekshirish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algoritmini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ishga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tushirishi</a:t>
            </a:r>
            <a:r>
              <a:rPr lang="en-AU" dirty="0">
                <a:latin typeface="Bell MT" panose="02020503060305020303" pitchFamily="18" charset="0"/>
              </a:rPr>
              <a:t> </a:t>
            </a:r>
            <a:r>
              <a:rPr lang="en-AU" dirty="0" err="1">
                <a:latin typeface="Bell MT" panose="02020503060305020303" pitchFamily="18" charset="0"/>
              </a:rPr>
              <a:t>kerak</a:t>
            </a:r>
            <a:r>
              <a:rPr lang="en-AU" dirty="0">
                <a:latin typeface="Bell MT" panose="02020503060305020303" pitchFamily="18" charset="0"/>
              </a:rPr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660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886699" cy="150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Agar </a:t>
            </a:r>
            <a:r>
              <a:rPr lang="en-US" sz="2400" dirty="0" err="1">
                <a:latin typeface="Bell MT" panose="02020503060305020303" pitchFamily="18" charset="0"/>
              </a:rPr>
              <a:t>kutish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grafigi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tsiklni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o'z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ichiga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olgan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bo'lsa</a:t>
            </a:r>
            <a:r>
              <a:rPr lang="en-US" sz="2400" dirty="0">
                <a:latin typeface="Bell MT" panose="02020503060305020303" pitchFamily="18" charset="0"/>
              </a:rPr>
              <a:t>, </a:t>
            </a:r>
            <a:r>
              <a:rPr lang="en-US" sz="2400" dirty="0" err="1">
                <a:latin typeface="Bell MT" panose="02020503060305020303" pitchFamily="18" charset="0"/>
              </a:rPr>
              <a:t>tizimda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blokirovka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mavjud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bo'ladi</a:t>
            </a:r>
            <a:r>
              <a:rPr lang="en-US" sz="2400" dirty="0" smtClean="0">
                <a:latin typeface="Bell MT" panose="02020503060305020303" pitchFamily="18" charset="0"/>
              </a:rPr>
              <a:t>. </a:t>
            </a:r>
            <a:r>
              <a:rPr lang="en-US" sz="2400" dirty="0" err="1" smtClean="0">
                <a:latin typeface="Bell MT" panose="02020503060305020303" pitchFamily="18" charset="0"/>
              </a:rPr>
              <a:t>Deadlocklarni</a:t>
            </a:r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aniqlash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uchun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tizimga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kerak</a:t>
            </a:r>
            <a:r>
              <a:rPr lang="en-US" sz="2400" dirty="0">
                <a:latin typeface="Bell MT" panose="02020503060305020303" pitchFamily="18" charset="0"/>
              </a:rPr>
              <a:t>→ </a:t>
            </a:r>
            <a:r>
              <a:rPr lang="en-US" sz="2400" dirty="0" err="1">
                <a:latin typeface="Bell MT" panose="02020503060305020303" pitchFamily="18" charset="0"/>
              </a:rPr>
              <a:t>kutish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grafigini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saqlang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va</a:t>
            </a:r>
            <a:r>
              <a:rPr lang="en-US" sz="2400" dirty="0">
                <a:latin typeface="Bell MT" panose="02020503060305020303" pitchFamily="18" charset="0"/>
              </a:rPr>
              <a:t>→ </a:t>
            </a:r>
            <a:r>
              <a:rPr lang="en-US" sz="2400" dirty="0" err="1">
                <a:latin typeface="Bell MT" panose="02020503060305020303" pitchFamily="18" charset="0"/>
              </a:rPr>
              <a:t>davriy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ravishda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grafikdagi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 smtClean="0">
                <a:latin typeface="Bell MT" panose="02020503060305020303" pitchFamily="18" charset="0"/>
              </a:rPr>
              <a:t>siklni</a:t>
            </a:r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qidiradigan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algoritmni</a:t>
            </a:r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err="1">
                <a:latin typeface="Bell MT" panose="02020503060305020303" pitchFamily="18" charset="0"/>
              </a:rPr>
              <a:t>bajaring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9" y="2057399"/>
            <a:ext cx="3906225" cy="39062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" y="2098464"/>
            <a:ext cx="7727269" cy="3959796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7685104" cy="4489704"/>
          </a:xfrm>
        </p:spPr>
        <p:txBody>
          <a:bodyPr/>
          <a:lstStyle/>
          <a:p>
            <a:r>
              <a:rPr lang="en-US" dirty="0" smtClean="0"/>
              <a:t>      </a:t>
            </a:r>
            <a:r>
              <a:rPr lang="en-US" dirty="0" err="1" smtClean="0"/>
              <a:t>Resurslarni</a:t>
            </a:r>
            <a:r>
              <a:rPr lang="en-US" dirty="0" smtClean="0"/>
              <a:t> </a:t>
            </a:r>
            <a:r>
              <a:rPr lang="en-US" dirty="0" err="1" smtClean="0"/>
              <a:t>taqsimlash-grafigi</a:t>
            </a:r>
            <a:r>
              <a:rPr lang="en-US" dirty="0"/>
              <a:t>                                        </a:t>
            </a:r>
            <a:r>
              <a:rPr lang="en-US" dirty="0" smtClean="0"/>
              <a:t>                      </a:t>
            </a:r>
            <a:r>
              <a:rPr lang="en-US" dirty="0" err="1" smtClean="0"/>
              <a:t>Tegishli</a:t>
            </a:r>
            <a:r>
              <a:rPr lang="en-US" dirty="0" smtClean="0"/>
              <a:t> </a:t>
            </a:r>
            <a:r>
              <a:rPr lang="en-US" dirty="0" err="1"/>
              <a:t>kutish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8901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831407" cy="920496"/>
          </a:xfrm>
        </p:spPr>
        <p:txBody>
          <a:bodyPr>
            <a:normAutofit fontScale="90000"/>
          </a:bodyPr>
          <a:lstStyle/>
          <a:p>
            <a:r>
              <a:rPr lang="en-AU" b="1" dirty="0" err="1"/>
              <a:t>Har</a:t>
            </a:r>
            <a:r>
              <a:rPr lang="en-AU" b="1" dirty="0"/>
              <a:t> </a:t>
            </a:r>
            <a:r>
              <a:rPr lang="en-AU" b="1" dirty="0" err="1"/>
              <a:t>bir</a:t>
            </a:r>
            <a:r>
              <a:rPr lang="en-AU" b="1" dirty="0"/>
              <a:t> </a:t>
            </a:r>
            <a:r>
              <a:rPr lang="en-AU" b="1" dirty="0" err="1"/>
              <a:t>resurs</a:t>
            </a:r>
            <a:r>
              <a:rPr lang="en-AU" b="1" dirty="0"/>
              <a:t> </a:t>
            </a:r>
            <a:r>
              <a:rPr lang="en-AU" b="1" dirty="0" err="1"/>
              <a:t>turidan</a:t>
            </a:r>
            <a:r>
              <a:rPr lang="en-AU" b="1" dirty="0"/>
              <a:t> </a:t>
            </a:r>
            <a:r>
              <a:rPr lang="en-AU" b="1" dirty="0" err="1"/>
              <a:t>bir</a:t>
            </a:r>
            <a:r>
              <a:rPr lang="en-AU" b="1" dirty="0"/>
              <a:t> </a:t>
            </a:r>
            <a:r>
              <a:rPr lang="en-AU" b="1" dirty="0" err="1"/>
              <a:t>nechta</a:t>
            </a:r>
            <a:r>
              <a:rPr lang="en-AU" b="1" dirty="0"/>
              <a:t> </a:t>
            </a:r>
            <a:r>
              <a:rPr lang="en-AU" b="1" dirty="0" err="1"/>
              <a:t>nusxalar</a:t>
            </a:r>
            <a:r>
              <a:rPr lang="en-AU" b="1" dirty="0"/>
              <a:t> </a:t>
            </a:r>
            <a:r>
              <a:rPr lang="en-AU" b="1" dirty="0" err="1"/>
              <a:t>mavjud</a:t>
            </a:r>
            <a:r>
              <a:rPr lang="en-AU" b="1" dirty="0"/>
              <a:t> </a:t>
            </a:r>
            <a:r>
              <a:rPr lang="en-AU" b="1" dirty="0" err="1"/>
              <a:t>bo‘lganda</a:t>
            </a:r>
            <a:r>
              <a:rPr lang="en-AU" b="1" dirty="0"/>
              <a:t> (Several Instances of a Resource Type)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499616"/>
            <a:ext cx="7575376" cy="4369372"/>
          </a:xfrm>
        </p:spPr>
        <p:txBody>
          <a:bodyPr>
            <a:normAutofit lnSpcReduction="10000"/>
          </a:bodyPr>
          <a:lstStyle/>
          <a:p>
            <a:r>
              <a:rPr lang="en-AU" dirty="0"/>
              <a:t>Agar </a:t>
            </a:r>
            <a:r>
              <a:rPr lang="en-AU" dirty="0" err="1"/>
              <a:t>resurslarning</a:t>
            </a:r>
            <a:r>
              <a:rPr lang="en-AU" dirty="0"/>
              <a:t> </a:t>
            </a:r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nechta</a:t>
            </a:r>
            <a:r>
              <a:rPr lang="en-AU" dirty="0"/>
              <a:t> </a:t>
            </a:r>
            <a:r>
              <a:rPr lang="en-AU" dirty="0" err="1"/>
              <a:t>nusxalari</a:t>
            </a:r>
            <a:r>
              <a:rPr lang="en-AU" dirty="0"/>
              <a:t> </a:t>
            </a:r>
            <a:r>
              <a:rPr lang="en-AU" dirty="0" err="1"/>
              <a:t>mavjud</a:t>
            </a:r>
            <a:r>
              <a:rPr lang="en-AU" dirty="0"/>
              <a:t> </a:t>
            </a:r>
            <a:r>
              <a:rPr lang="en-AU" dirty="0" err="1"/>
              <a:t>bo‘lsa</a:t>
            </a:r>
            <a:r>
              <a:rPr lang="en-AU" dirty="0"/>
              <a:t>, </a:t>
            </a:r>
            <a:r>
              <a:rPr lang="en-AU" dirty="0" err="1"/>
              <a:t>kutish</a:t>
            </a:r>
            <a:r>
              <a:rPr lang="en-AU" dirty="0"/>
              <a:t> </a:t>
            </a:r>
            <a:r>
              <a:rPr lang="en-AU" dirty="0" err="1"/>
              <a:t>grafigi</a:t>
            </a:r>
            <a:r>
              <a:rPr lang="en-AU" dirty="0"/>
              <a:t> (</a:t>
            </a:r>
            <a:r>
              <a:rPr lang="en-AU" dirty="0" err="1"/>
              <a:t>WFG</a:t>
            </a:r>
            <a:r>
              <a:rPr lang="en-AU" dirty="0"/>
              <a:t>) </a:t>
            </a:r>
            <a:r>
              <a:rPr lang="en-AU" b="1" dirty="0" err="1"/>
              <a:t>ishlamaydi</a:t>
            </a:r>
            <a:r>
              <a:rPr lang="en-AU" dirty="0"/>
              <a:t>, </a:t>
            </a:r>
            <a:r>
              <a:rPr lang="en-AU" dirty="0" err="1"/>
              <a:t>chunki</a:t>
            </a:r>
            <a:r>
              <a:rPr lang="en-AU" dirty="0"/>
              <a:t> u </a:t>
            </a:r>
            <a:r>
              <a:rPr lang="en-AU" dirty="0" err="1"/>
              <a:t>faqat</a:t>
            </a:r>
            <a:r>
              <a:rPr lang="en-AU" dirty="0"/>
              <a:t> </a:t>
            </a:r>
            <a:r>
              <a:rPr lang="en-AU" dirty="0" err="1"/>
              <a:t>bitta</a:t>
            </a:r>
            <a:r>
              <a:rPr lang="en-AU" dirty="0"/>
              <a:t> </a:t>
            </a:r>
            <a:r>
              <a:rPr lang="en-AU" dirty="0" err="1"/>
              <a:t>nusxa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mo‘ljallangan</a:t>
            </a:r>
            <a:r>
              <a:rPr lang="en-AU" dirty="0"/>
              <a:t>.</a:t>
            </a:r>
            <a:br>
              <a:rPr lang="en-AU" dirty="0"/>
            </a:br>
            <a:r>
              <a:rPr lang="en-AU" dirty="0" err="1"/>
              <a:t>Shuning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, </a:t>
            </a:r>
            <a:r>
              <a:rPr lang="en-AU" dirty="0" err="1"/>
              <a:t>bu</a:t>
            </a:r>
            <a:r>
              <a:rPr lang="en-AU" dirty="0"/>
              <a:t> </a:t>
            </a:r>
            <a:r>
              <a:rPr lang="en-AU" dirty="0" err="1"/>
              <a:t>holatda</a:t>
            </a:r>
            <a:r>
              <a:rPr lang="en-AU" dirty="0"/>
              <a:t> </a:t>
            </a:r>
            <a:r>
              <a:rPr lang="en-AU" b="1" dirty="0" err="1"/>
              <a:t>maxsus</a:t>
            </a:r>
            <a:r>
              <a:rPr lang="en-AU" b="1" dirty="0"/>
              <a:t> </a:t>
            </a:r>
            <a:r>
              <a:rPr lang="en-AU" b="1" dirty="0" err="1"/>
              <a:t>aniqlash</a:t>
            </a:r>
            <a:r>
              <a:rPr lang="en-AU" b="1" dirty="0"/>
              <a:t> </a:t>
            </a:r>
            <a:r>
              <a:rPr lang="en-AU" b="1" dirty="0" err="1"/>
              <a:t>algoritmi</a:t>
            </a:r>
            <a:r>
              <a:rPr lang="en-AU" b="1" dirty="0"/>
              <a:t> (detection algorithm)</a:t>
            </a:r>
            <a:r>
              <a:rPr lang="en-AU" dirty="0"/>
              <a:t> </a:t>
            </a:r>
            <a:r>
              <a:rPr lang="en-AU" dirty="0" err="1"/>
              <a:t>qo‘llaniladi</a:t>
            </a:r>
            <a:r>
              <a:rPr lang="en-AU" dirty="0"/>
              <a:t>.</a:t>
            </a:r>
            <a:endParaRPr lang="ru-RU" dirty="0"/>
          </a:p>
          <a:p>
            <a:r>
              <a:rPr lang="ru-RU" b="1" dirty="0" err="1"/>
              <a:t>Asosiy</a:t>
            </a:r>
            <a:r>
              <a:rPr lang="ru-RU" b="1" dirty="0"/>
              <a:t> </a:t>
            </a:r>
            <a:r>
              <a:rPr lang="ru-RU" b="1" dirty="0" err="1"/>
              <a:t>belgilar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n — </a:t>
            </a:r>
            <a:r>
              <a:rPr lang="ru-RU" dirty="0" err="1"/>
              <a:t>tizimdagi</a:t>
            </a:r>
            <a:r>
              <a:rPr lang="ru-RU" dirty="0"/>
              <a:t> </a:t>
            </a:r>
            <a:r>
              <a:rPr lang="ru-RU" dirty="0" err="1"/>
              <a:t>jarayonlar</a:t>
            </a:r>
            <a:r>
              <a:rPr lang="ru-RU" dirty="0"/>
              <a:t> </a:t>
            </a:r>
            <a:r>
              <a:rPr lang="ru-RU" dirty="0" err="1"/>
              <a:t>soni</a:t>
            </a:r>
            <a:endParaRPr lang="ru-RU" dirty="0"/>
          </a:p>
          <a:p>
            <a:pPr lvl="0"/>
            <a:r>
              <a:rPr lang="ru-RU" dirty="0"/>
              <a:t>m — </a:t>
            </a:r>
            <a:r>
              <a:rPr lang="ru-RU" dirty="0" err="1"/>
              <a:t>resurs</a:t>
            </a:r>
            <a:r>
              <a:rPr lang="ru-RU" dirty="0"/>
              <a:t> </a:t>
            </a:r>
            <a:r>
              <a:rPr lang="ru-RU" dirty="0" err="1"/>
              <a:t>turlari</a:t>
            </a:r>
            <a:r>
              <a:rPr lang="ru-RU" dirty="0"/>
              <a:t> </a:t>
            </a:r>
            <a:r>
              <a:rPr lang="ru-RU" dirty="0" err="1"/>
              <a:t>soni</a:t>
            </a:r>
            <a:endParaRPr lang="ru-RU" dirty="0"/>
          </a:p>
          <a:p>
            <a:r>
              <a:rPr lang="ru-RU" b="1" dirty="0" err="1"/>
              <a:t>Foydalaniladigan</a:t>
            </a:r>
            <a:r>
              <a:rPr lang="ru-RU" b="1" dirty="0"/>
              <a:t> </a:t>
            </a:r>
            <a:r>
              <a:rPr lang="ru-RU" b="1" dirty="0" err="1"/>
              <a:t>ma’lumot</a:t>
            </a:r>
            <a:r>
              <a:rPr lang="ru-RU" b="1" dirty="0"/>
              <a:t> </a:t>
            </a:r>
            <a:r>
              <a:rPr lang="ru-RU" b="1" dirty="0" err="1"/>
              <a:t>tuzilmalari</a:t>
            </a:r>
            <a:r>
              <a:rPr lang="ru-RU" b="1" dirty="0"/>
              <a:t>:</a:t>
            </a:r>
            <a:endParaRPr lang="ru-RU" sz="1400" dirty="0"/>
          </a:p>
          <a:p>
            <a:pPr lvl="0"/>
            <a:r>
              <a:rPr lang="ru-RU" b="1" dirty="0" err="1"/>
              <a:t>Available</a:t>
            </a:r>
            <a:r>
              <a:rPr lang="ru-RU" b="1" dirty="0"/>
              <a:t>[m]</a:t>
            </a:r>
            <a:endParaRPr lang="ru-RU" sz="1400" dirty="0"/>
          </a:p>
          <a:p>
            <a:pPr lvl="1"/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resurs</a:t>
            </a:r>
            <a:r>
              <a:rPr lang="en-AU" dirty="0"/>
              <a:t> </a:t>
            </a:r>
            <a:r>
              <a:rPr lang="en-AU" dirty="0" err="1"/>
              <a:t>turidan</a:t>
            </a:r>
            <a:r>
              <a:rPr lang="en-AU" dirty="0"/>
              <a:t> </a:t>
            </a:r>
            <a:r>
              <a:rPr lang="en-AU" dirty="0" err="1"/>
              <a:t>nechta</a:t>
            </a:r>
            <a:r>
              <a:rPr lang="en-AU" dirty="0"/>
              <a:t> </a:t>
            </a:r>
            <a:r>
              <a:rPr lang="en-AU" dirty="0" err="1"/>
              <a:t>nusxa</a:t>
            </a:r>
            <a:r>
              <a:rPr lang="en-AU" dirty="0"/>
              <a:t> </a:t>
            </a:r>
            <a:r>
              <a:rPr lang="en-AU" dirty="0" err="1"/>
              <a:t>mavjudligini</a:t>
            </a:r>
            <a:r>
              <a:rPr lang="en-AU" dirty="0"/>
              <a:t> </a:t>
            </a:r>
            <a:r>
              <a:rPr lang="en-AU" dirty="0" err="1"/>
              <a:t>bildiradi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/>
              <a:t>Agar </a:t>
            </a:r>
            <a:r>
              <a:rPr lang="en-AU" sz="1050" dirty="0"/>
              <a:t>Available[j] = k</a:t>
            </a:r>
            <a:r>
              <a:rPr lang="en-AU" dirty="0"/>
              <a:t>, </a:t>
            </a:r>
            <a:r>
              <a:rPr lang="en-AU" dirty="0" err="1"/>
              <a:t>demak</a:t>
            </a:r>
            <a:r>
              <a:rPr lang="en-AU" dirty="0"/>
              <a:t> </a:t>
            </a:r>
            <a:r>
              <a:rPr lang="en-AU" b="1" dirty="0" err="1"/>
              <a:t>Rj</a:t>
            </a:r>
            <a:r>
              <a:rPr lang="en-AU" dirty="0"/>
              <a:t> </a:t>
            </a:r>
            <a:r>
              <a:rPr lang="en-AU" dirty="0" err="1"/>
              <a:t>turidagi</a:t>
            </a:r>
            <a:r>
              <a:rPr lang="en-AU" dirty="0"/>
              <a:t> </a:t>
            </a:r>
            <a:r>
              <a:rPr lang="en-AU" dirty="0" err="1"/>
              <a:t>resursdan</a:t>
            </a:r>
            <a:r>
              <a:rPr lang="en-AU" dirty="0"/>
              <a:t> </a:t>
            </a:r>
            <a:r>
              <a:rPr lang="en-AU" b="1" dirty="0"/>
              <a:t>k ta</a:t>
            </a:r>
            <a:r>
              <a:rPr lang="en-AU" dirty="0"/>
              <a:t> </a:t>
            </a:r>
            <a:r>
              <a:rPr lang="en-AU" dirty="0" err="1"/>
              <a:t>bo‘sh</a:t>
            </a:r>
            <a:r>
              <a:rPr lang="en-AU" dirty="0"/>
              <a:t> </a:t>
            </a:r>
            <a:r>
              <a:rPr lang="en-AU" dirty="0" err="1"/>
              <a:t>nusxa</a:t>
            </a:r>
            <a:r>
              <a:rPr lang="en-AU" dirty="0"/>
              <a:t> </a:t>
            </a:r>
            <a:r>
              <a:rPr lang="en-AU" dirty="0" err="1"/>
              <a:t>mavjud</a:t>
            </a:r>
            <a:r>
              <a:rPr lang="en-AU" dirty="0"/>
              <a:t>.</a:t>
            </a:r>
            <a:endParaRPr lang="ru-RU" sz="1200" dirty="0"/>
          </a:p>
          <a:p>
            <a:pPr lvl="0"/>
            <a:r>
              <a:rPr lang="ru-RU" b="1" dirty="0" err="1"/>
              <a:t>Allocation</a:t>
            </a:r>
            <a:r>
              <a:rPr lang="ru-RU" b="1" dirty="0"/>
              <a:t>[n][m]</a:t>
            </a:r>
            <a:endParaRPr lang="ru-RU" sz="1400" dirty="0"/>
          </a:p>
          <a:p>
            <a:pPr lvl="1"/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jarayonga</a:t>
            </a:r>
            <a:r>
              <a:rPr lang="en-AU" dirty="0"/>
              <a:t> </a:t>
            </a:r>
            <a:r>
              <a:rPr lang="en-AU" dirty="0" err="1"/>
              <a:t>hozirda</a:t>
            </a:r>
            <a:r>
              <a:rPr lang="en-AU" dirty="0"/>
              <a:t> </a:t>
            </a:r>
            <a:r>
              <a:rPr lang="en-AU" dirty="0" err="1"/>
              <a:t>ajratilgan</a:t>
            </a:r>
            <a:r>
              <a:rPr lang="en-AU" dirty="0"/>
              <a:t> </a:t>
            </a:r>
            <a:r>
              <a:rPr lang="en-AU" dirty="0" err="1"/>
              <a:t>resurslarni</a:t>
            </a:r>
            <a:r>
              <a:rPr lang="en-AU" dirty="0"/>
              <a:t> </a:t>
            </a:r>
            <a:r>
              <a:rPr lang="en-AU" dirty="0" err="1"/>
              <a:t>ko‘rsatadi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/>
              <a:t>Agar </a:t>
            </a:r>
            <a:r>
              <a:rPr lang="en-AU" sz="1050" dirty="0"/>
              <a:t>Allocation[</a:t>
            </a:r>
            <a:r>
              <a:rPr lang="en-AU" sz="1050" dirty="0" err="1"/>
              <a:t>i</a:t>
            </a:r>
            <a:r>
              <a:rPr lang="en-AU" sz="1050" dirty="0"/>
              <a:t>][j] = k</a:t>
            </a:r>
            <a:r>
              <a:rPr lang="en-AU" dirty="0"/>
              <a:t>, </a:t>
            </a:r>
            <a:r>
              <a:rPr lang="en-AU" dirty="0" err="1"/>
              <a:t>bu</a:t>
            </a:r>
            <a:r>
              <a:rPr lang="en-AU" dirty="0"/>
              <a:t> </a:t>
            </a:r>
            <a:r>
              <a:rPr lang="en-AU" b="1" dirty="0"/>
              <a:t>Pi </a:t>
            </a:r>
            <a:r>
              <a:rPr lang="en-AU" b="1" dirty="0" err="1"/>
              <a:t>jarayonga</a:t>
            </a:r>
            <a:r>
              <a:rPr lang="en-AU" b="1" dirty="0"/>
              <a:t> </a:t>
            </a:r>
            <a:r>
              <a:rPr lang="en-AU" b="1" dirty="0" err="1"/>
              <a:t>Rj</a:t>
            </a:r>
            <a:r>
              <a:rPr lang="en-AU" b="1" dirty="0"/>
              <a:t> </a:t>
            </a:r>
            <a:r>
              <a:rPr lang="en-AU" b="1" dirty="0" err="1"/>
              <a:t>turidan</a:t>
            </a:r>
            <a:r>
              <a:rPr lang="en-AU" b="1" dirty="0"/>
              <a:t> k ta </a:t>
            </a:r>
            <a:r>
              <a:rPr lang="en-AU" b="1" dirty="0" err="1"/>
              <a:t>resurs</a:t>
            </a:r>
            <a:r>
              <a:rPr lang="en-AU" b="1" dirty="0"/>
              <a:t> </a:t>
            </a:r>
            <a:r>
              <a:rPr lang="en-AU" b="1" dirty="0" err="1"/>
              <a:t>ajratilgan</a:t>
            </a:r>
            <a:r>
              <a:rPr lang="en-AU" dirty="0"/>
              <a:t> </a:t>
            </a:r>
            <a:r>
              <a:rPr lang="en-AU" dirty="0" err="1"/>
              <a:t>degani</a:t>
            </a:r>
            <a:r>
              <a:rPr lang="en-AU" dirty="0"/>
              <a:t>.</a:t>
            </a:r>
            <a:endParaRPr lang="ru-RU" sz="1200" dirty="0"/>
          </a:p>
          <a:p>
            <a:pPr lvl="0"/>
            <a:r>
              <a:rPr lang="ru-RU" b="1" dirty="0" err="1"/>
              <a:t>Request</a:t>
            </a:r>
            <a:r>
              <a:rPr lang="ru-RU" b="1" dirty="0"/>
              <a:t>[n][m]</a:t>
            </a:r>
            <a:endParaRPr lang="ru-RU" sz="1400" dirty="0"/>
          </a:p>
          <a:p>
            <a:pPr lvl="1"/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jarayonning</a:t>
            </a:r>
            <a:r>
              <a:rPr lang="en-AU" dirty="0"/>
              <a:t> </a:t>
            </a:r>
            <a:r>
              <a:rPr lang="en-AU" dirty="0" err="1"/>
              <a:t>hozirgi</a:t>
            </a:r>
            <a:r>
              <a:rPr lang="en-AU" dirty="0"/>
              <a:t> </a:t>
            </a:r>
            <a:r>
              <a:rPr lang="en-AU" dirty="0" err="1"/>
              <a:t>paytdagi</a:t>
            </a:r>
            <a:r>
              <a:rPr lang="en-AU" dirty="0"/>
              <a:t> </a:t>
            </a:r>
            <a:r>
              <a:rPr lang="en-AU" dirty="0" err="1"/>
              <a:t>so‘rovlarini</a:t>
            </a:r>
            <a:r>
              <a:rPr lang="en-AU" dirty="0"/>
              <a:t> </a:t>
            </a:r>
            <a:r>
              <a:rPr lang="en-AU" dirty="0" err="1"/>
              <a:t>bildiradi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/>
              <a:t>Agar </a:t>
            </a:r>
            <a:r>
              <a:rPr lang="en-AU" sz="1050" dirty="0"/>
              <a:t>Request[</a:t>
            </a:r>
            <a:r>
              <a:rPr lang="en-AU" sz="1050" dirty="0" err="1"/>
              <a:t>i</a:t>
            </a:r>
            <a:r>
              <a:rPr lang="en-AU" sz="1050" dirty="0"/>
              <a:t>][j] = k</a:t>
            </a:r>
            <a:r>
              <a:rPr lang="en-AU" dirty="0"/>
              <a:t>, </a:t>
            </a:r>
            <a:r>
              <a:rPr lang="en-AU" dirty="0" err="1"/>
              <a:t>bu</a:t>
            </a:r>
            <a:r>
              <a:rPr lang="en-AU" dirty="0"/>
              <a:t> </a:t>
            </a:r>
            <a:r>
              <a:rPr lang="en-AU" b="1" dirty="0"/>
              <a:t>Pi </a:t>
            </a:r>
            <a:r>
              <a:rPr lang="en-AU" b="1" dirty="0" err="1"/>
              <a:t>jarayon</a:t>
            </a:r>
            <a:r>
              <a:rPr lang="en-AU" b="1" dirty="0"/>
              <a:t> </a:t>
            </a:r>
            <a:r>
              <a:rPr lang="en-AU" b="1" dirty="0" err="1"/>
              <a:t>Rj</a:t>
            </a:r>
            <a:r>
              <a:rPr lang="en-AU" b="1" dirty="0"/>
              <a:t> </a:t>
            </a:r>
            <a:r>
              <a:rPr lang="en-AU" b="1" dirty="0" err="1"/>
              <a:t>turidan</a:t>
            </a:r>
            <a:r>
              <a:rPr lang="en-AU" b="1" dirty="0"/>
              <a:t> </a:t>
            </a:r>
            <a:r>
              <a:rPr lang="en-AU" b="1" dirty="0" err="1"/>
              <a:t>yana</a:t>
            </a:r>
            <a:r>
              <a:rPr lang="en-AU" b="1" dirty="0"/>
              <a:t> k ta </a:t>
            </a:r>
            <a:r>
              <a:rPr lang="en-AU" b="1" dirty="0" err="1"/>
              <a:t>resurs</a:t>
            </a:r>
            <a:r>
              <a:rPr lang="en-AU" b="1" dirty="0"/>
              <a:t> </a:t>
            </a:r>
            <a:r>
              <a:rPr lang="en-AU" b="1" dirty="0" err="1"/>
              <a:t>so‘ramoqda</a:t>
            </a:r>
            <a:r>
              <a:rPr lang="en-AU" dirty="0"/>
              <a:t> </a:t>
            </a:r>
            <a:r>
              <a:rPr lang="en-AU" dirty="0" err="1"/>
              <a:t>degani</a:t>
            </a:r>
            <a:r>
              <a:rPr lang="en-AU" dirty="0"/>
              <a:t>.</a:t>
            </a:r>
            <a:endParaRPr lang="ru-RU" sz="1200" dirty="0"/>
          </a:p>
          <a:p>
            <a:pPr lvl="0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662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8002095" cy="883920"/>
          </a:xfrm>
        </p:spPr>
        <p:txBody>
          <a:bodyPr>
            <a:normAutofit fontScale="90000"/>
          </a:bodyPr>
          <a:lstStyle/>
          <a:p>
            <a:r>
              <a:rPr lang="en-AU" b="1" dirty="0" err="1"/>
              <a:t>Qulflanishni</a:t>
            </a:r>
            <a:r>
              <a:rPr lang="en-AU" b="1" dirty="0"/>
              <a:t> </a:t>
            </a:r>
            <a:r>
              <a:rPr lang="en-AU" b="1" dirty="0" err="1"/>
              <a:t>aniqlash</a:t>
            </a:r>
            <a:r>
              <a:rPr lang="en-AU" b="1" dirty="0"/>
              <a:t> </a:t>
            </a:r>
            <a:r>
              <a:rPr lang="en-AU" b="1" dirty="0" err="1"/>
              <a:t>algoritmidan</a:t>
            </a:r>
            <a:r>
              <a:rPr lang="en-AU" b="1" dirty="0"/>
              <a:t> </a:t>
            </a:r>
            <a:r>
              <a:rPr lang="en-AU" b="1" dirty="0" err="1"/>
              <a:t>foydalanish</a:t>
            </a:r>
            <a:r>
              <a:rPr lang="en-AU" b="1" dirty="0"/>
              <a:t> (Detection Algorithm Usage)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341120"/>
            <a:ext cx="7819215" cy="4527868"/>
          </a:xfrm>
        </p:spPr>
        <p:txBody>
          <a:bodyPr>
            <a:normAutofit fontScale="92500" lnSpcReduction="10000"/>
          </a:bodyPr>
          <a:lstStyle/>
          <a:p>
            <a:r>
              <a:rPr lang="en-AU" dirty="0" err="1"/>
              <a:t>Qulflanishni</a:t>
            </a:r>
            <a:r>
              <a:rPr lang="en-AU" dirty="0"/>
              <a:t>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/>
              <a:t>algoritmini</a:t>
            </a:r>
            <a:r>
              <a:rPr lang="en-AU" dirty="0"/>
              <a:t> </a:t>
            </a:r>
            <a:r>
              <a:rPr lang="en-AU" b="1" dirty="0" err="1"/>
              <a:t>doimiy</a:t>
            </a:r>
            <a:r>
              <a:rPr lang="en-AU" b="1" dirty="0"/>
              <a:t> </a:t>
            </a:r>
            <a:r>
              <a:rPr lang="en-AU" b="1" dirty="0" err="1"/>
              <a:t>ishlatish</a:t>
            </a:r>
            <a:r>
              <a:rPr lang="en-AU" dirty="0"/>
              <a:t> </a:t>
            </a:r>
            <a:r>
              <a:rPr lang="en-AU" dirty="0" err="1"/>
              <a:t>zarur</a:t>
            </a:r>
            <a:r>
              <a:rPr lang="en-AU" dirty="0"/>
              <a:t> </a:t>
            </a:r>
            <a:r>
              <a:rPr lang="en-AU" dirty="0" err="1"/>
              <a:t>emas</a:t>
            </a:r>
            <a:r>
              <a:rPr lang="en-AU" dirty="0"/>
              <a:t> — </a:t>
            </a:r>
            <a:r>
              <a:rPr lang="en-AU" dirty="0" err="1"/>
              <a:t>uni</a:t>
            </a:r>
            <a:r>
              <a:rPr lang="en-AU" dirty="0"/>
              <a:t> </a:t>
            </a:r>
            <a:r>
              <a:rPr lang="en-AU" b="1" dirty="0" err="1"/>
              <a:t>muayyan</a:t>
            </a:r>
            <a:r>
              <a:rPr lang="en-AU" b="1" dirty="0"/>
              <a:t> </a:t>
            </a:r>
            <a:r>
              <a:rPr lang="en-AU" b="1" dirty="0" err="1"/>
              <a:t>sharoitlarda</a:t>
            </a:r>
            <a:r>
              <a:rPr lang="en-AU" dirty="0"/>
              <a:t> </a:t>
            </a:r>
            <a:r>
              <a:rPr lang="en-AU" dirty="0" err="1"/>
              <a:t>ishga</a:t>
            </a:r>
            <a:r>
              <a:rPr lang="en-AU" dirty="0"/>
              <a:t> </a:t>
            </a:r>
            <a:r>
              <a:rPr lang="en-AU" dirty="0" err="1"/>
              <a:t>tushirish</a:t>
            </a:r>
            <a:r>
              <a:rPr lang="en-AU" dirty="0"/>
              <a:t> </a:t>
            </a:r>
            <a:r>
              <a:rPr lang="en-AU" dirty="0" err="1"/>
              <a:t>kerak</a:t>
            </a:r>
            <a:r>
              <a:rPr lang="en-AU" dirty="0"/>
              <a:t>.</a:t>
            </a:r>
            <a:endParaRPr lang="ru-RU" sz="1400" dirty="0"/>
          </a:p>
          <a:p>
            <a:r>
              <a:rPr lang="en-AU" b="1" dirty="0" smtClean="0"/>
              <a:t> </a:t>
            </a:r>
            <a:r>
              <a:rPr lang="en-AU" b="1" dirty="0" err="1"/>
              <a:t>Algoritmni</a:t>
            </a:r>
            <a:r>
              <a:rPr lang="en-AU" b="1" dirty="0"/>
              <a:t> </a:t>
            </a:r>
            <a:r>
              <a:rPr lang="en-AU" b="1" dirty="0" err="1"/>
              <a:t>ishga</a:t>
            </a:r>
            <a:r>
              <a:rPr lang="en-AU" b="1" dirty="0"/>
              <a:t> </a:t>
            </a:r>
            <a:r>
              <a:rPr lang="en-AU" b="1" dirty="0" err="1"/>
              <a:t>tushirish</a:t>
            </a:r>
            <a:r>
              <a:rPr lang="en-AU" b="1" dirty="0"/>
              <a:t> </a:t>
            </a:r>
            <a:r>
              <a:rPr lang="en-AU" b="1" dirty="0" err="1"/>
              <a:t>chastotasi</a:t>
            </a:r>
            <a:r>
              <a:rPr lang="en-AU" b="1" dirty="0"/>
              <a:t> </a:t>
            </a:r>
            <a:r>
              <a:rPr lang="en-AU" b="1" dirty="0" err="1"/>
              <a:t>quyidagi</a:t>
            </a:r>
            <a:r>
              <a:rPr lang="en-AU" b="1" dirty="0"/>
              <a:t> </a:t>
            </a:r>
            <a:r>
              <a:rPr lang="en-AU" b="1" dirty="0" err="1"/>
              <a:t>omillarga</a:t>
            </a:r>
            <a:r>
              <a:rPr lang="en-AU" b="1" dirty="0"/>
              <a:t> </a:t>
            </a:r>
            <a:r>
              <a:rPr lang="en-AU" b="1" dirty="0" err="1"/>
              <a:t>bog‘liq</a:t>
            </a:r>
            <a:r>
              <a:rPr lang="en-AU" b="1" dirty="0"/>
              <a:t>:</a:t>
            </a:r>
            <a:endParaRPr lang="ru-RU" sz="1400" dirty="0"/>
          </a:p>
          <a:p>
            <a:pPr lvl="0"/>
            <a:r>
              <a:rPr lang="en-AU" b="1" dirty="0" err="1"/>
              <a:t>Qulflanishlarning</a:t>
            </a:r>
            <a:r>
              <a:rPr lang="en-AU" b="1" dirty="0"/>
              <a:t> </a:t>
            </a:r>
            <a:r>
              <a:rPr lang="en-AU" b="1" dirty="0" err="1"/>
              <a:t>chastotasi</a:t>
            </a:r>
            <a:r>
              <a:rPr lang="en-AU" dirty="0"/>
              <a:t> — agar </a:t>
            </a:r>
            <a:r>
              <a:rPr lang="en-AU" dirty="0" err="1"/>
              <a:t>tizimda</a:t>
            </a:r>
            <a:r>
              <a:rPr lang="en-AU" dirty="0"/>
              <a:t> </a:t>
            </a:r>
            <a:r>
              <a:rPr lang="en-AU" dirty="0" err="1"/>
              <a:t>ular</a:t>
            </a:r>
            <a:r>
              <a:rPr lang="en-AU" dirty="0"/>
              <a:t> </a:t>
            </a:r>
            <a:r>
              <a:rPr lang="en-AU" dirty="0" err="1"/>
              <a:t>tez-tez</a:t>
            </a:r>
            <a:r>
              <a:rPr lang="en-AU" dirty="0"/>
              <a:t> </a:t>
            </a:r>
            <a:r>
              <a:rPr lang="en-AU" dirty="0" err="1"/>
              <a:t>sodir</a:t>
            </a:r>
            <a:r>
              <a:rPr lang="en-AU" dirty="0"/>
              <a:t> </a:t>
            </a:r>
            <a:r>
              <a:rPr lang="en-AU" dirty="0" err="1"/>
              <a:t>bo‘lsa</a:t>
            </a:r>
            <a:r>
              <a:rPr lang="en-AU" dirty="0"/>
              <a:t>,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/>
              <a:t>algoritmi</a:t>
            </a:r>
            <a:r>
              <a:rPr lang="en-AU" dirty="0"/>
              <a:t> ham </a:t>
            </a:r>
            <a:r>
              <a:rPr lang="en-AU" dirty="0" err="1"/>
              <a:t>tez-tez</a:t>
            </a:r>
            <a:r>
              <a:rPr lang="en-AU" dirty="0"/>
              <a:t> </a:t>
            </a:r>
            <a:r>
              <a:rPr lang="en-AU" dirty="0" err="1"/>
              <a:t>bajarilishi</a:t>
            </a:r>
            <a:r>
              <a:rPr lang="en-AU" dirty="0"/>
              <a:t> </a:t>
            </a:r>
            <a:r>
              <a:rPr lang="en-AU" dirty="0" err="1"/>
              <a:t>kerak</a:t>
            </a:r>
            <a:r>
              <a:rPr lang="en-AU" dirty="0" smtClean="0"/>
              <a:t>.</a:t>
            </a:r>
            <a:r>
              <a:rPr lang="ru-RU" sz="1400" dirty="0" smtClean="0"/>
              <a:t> </a:t>
            </a:r>
            <a:r>
              <a:rPr lang="en-AU" sz="1400" dirty="0" err="1" smtClean="0"/>
              <a:t>Q</a:t>
            </a:r>
            <a:r>
              <a:rPr lang="en-AU" dirty="0" err="1" smtClean="0"/>
              <a:t>ulflanish</a:t>
            </a:r>
            <a:r>
              <a:rPr lang="en-AU" dirty="0" smtClean="0"/>
              <a:t> </a:t>
            </a:r>
            <a:r>
              <a:rPr lang="en-AU" dirty="0" err="1"/>
              <a:t>qancha</a:t>
            </a:r>
            <a:r>
              <a:rPr lang="en-AU" dirty="0"/>
              <a:t> </a:t>
            </a:r>
            <a:r>
              <a:rPr lang="en-AU" dirty="0" err="1"/>
              <a:t>jarayonga</a:t>
            </a:r>
            <a:r>
              <a:rPr lang="en-AU" dirty="0"/>
              <a:t> </a:t>
            </a:r>
            <a:r>
              <a:rPr lang="en-AU" dirty="0" err="1"/>
              <a:t>ta’sir</a:t>
            </a:r>
            <a:r>
              <a:rPr lang="en-AU" dirty="0"/>
              <a:t> </a:t>
            </a:r>
            <a:r>
              <a:rPr lang="en-AU" dirty="0" err="1"/>
              <a:t>qilayotganiga</a:t>
            </a:r>
            <a:r>
              <a:rPr lang="en-AU" dirty="0"/>
              <a:t> </a:t>
            </a:r>
            <a:r>
              <a:rPr lang="en-AU" dirty="0" err="1"/>
              <a:t>qarab</a:t>
            </a:r>
            <a:r>
              <a:rPr lang="en-AU" dirty="0"/>
              <a:t>,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/>
              <a:t>intervali</a:t>
            </a:r>
            <a:r>
              <a:rPr lang="en-AU" dirty="0"/>
              <a:t> </a:t>
            </a:r>
            <a:r>
              <a:rPr lang="en-AU" dirty="0" err="1"/>
              <a:t>belgilanadi</a:t>
            </a:r>
            <a:r>
              <a:rPr lang="en-AU" dirty="0"/>
              <a:t>.</a:t>
            </a:r>
            <a:endParaRPr lang="ru-RU" sz="1400" dirty="0"/>
          </a:p>
          <a:p>
            <a:r>
              <a:rPr lang="en-AU" b="1" dirty="0" smtClean="0"/>
              <a:t> </a:t>
            </a:r>
            <a:r>
              <a:rPr lang="en-AU" b="1" dirty="0" err="1" smtClean="0"/>
              <a:t>Muammo</a:t>
            </a:r>
            <a:r>
              <a:rPr lang="en-AU" b="1" dirty="0" smtClean="0"/>
              <a:t>: </a:t>
            </a:r>
            <a:r>
              <a:rPr lang="en-AU" dirty="0" err="1" smtClean="0"/>
              <a:t>Qulflanish</a:t>
            </a:r>
            <a:r>
              <a:rPr lang="en-AU" dirty="0" smtClean="0"/>
              <a:t> </a:t>
            </a:r>
            <a:r>
              <a:rPr lang="en-AU" b="1" dirty="0" err="1"/>
              <a:t>faqat</a:t>
            </a:r>
            <a:r>
              <a:rPr lang="en-AU" dirty="0"/>
              <a:t>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so‘rovini</a:t>
            </a:r>
            <a:r>
              <a:rPr lang="en-AU" dirty="0"/>
              <a:t>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dirty="0" err="1"/>
              <a:t>bajara</a:t>
            </a:r>
            <a:r>
              <a:rPr lang="en-AU" dirty="0"/>
              <a:t> </a:t>
            </a:r>
            <a:r>
              <a:rPr lang="en-AU" dirty="0" err="1"/>
              <a:t>olmaydigan</a:t>
            </a:r>
            <a:r>
              <a:rPr lang="en-AU" dirty="0"/>
              <a:t> </a:t>
            </a:r>
            <a:r>
              <a:rPr lang="en-AU" dirty="0" err="1"/>
              <a:t>holatda</a:t>
            </a:r>
            <a:r>
              <a:rPr lang="en-AU" dirty="0"/>
              <a:t> </a:t>
            </a:r>
            <a:r>
              <a:rPr lang="en-AU" dirty="0" err="1"/>
              <a:t>yuzaga</a:t>
            </a:r>
            <a:r>
              <a:rPr lang="en-AU" dirty="0"/>
              <a:t> </a:t>
            </a:r>
            <a:r>
              <a:rPr lang="en-AU" dirty="0" err="1"/>
              <a:t>keladi</a:t>
            </a:r>
            <a:r>
              <a:rPr lang="en-AU" dirty="0"/>
              <a:t>.</a:t>
            </a:r>
            <a:endParaRPr lang="ru-RU" sz="1400" dirty="0"/>
          </a:p>
          <a:p>
            <a:r>
              <a:rPr lang="en-AU" b="1" dirty="0" err="1" smtClean="0"/>
              <a:t>Yechim</a:t>
            </a:r>
            <a:r>
              <a:rPr lang="en-AU" b="1" dirty="0" smtClean="0"/>
              <a:t>:</a:t>
            </a:r>
            <a:endParaRPr lang="ru-RU" sz="1400" dirty="0"/>
          </a:p>
          <a:p>
            <a:r>
              <a:rPr lang="en-AU" b="1" dirty="0"/>
              <a:t>1. </a:t>
            </a:r>
            <a:r>
              <a:rPr lang="en-AU" b="1" dirty="0" err="1"/>
              <a:t>Dinamik</a:t>
            </a:r>
            <a:r>
              <a:rPr lang="en-AU" b="1" dirty="0"/>
              <a:t> </a:t>
            </a:r>
            <a:r>
              <a:rPr lang="en-AU" b="1" dirty="0" err="1"/>
              <a:t>aniqlash</a:t>
            </a:r>
            <a:r>
              <a:rPr lang="en-AU" b="1" dirty="0"/>
              <a:t> (On-demand detection):</a:t>
            </a:r>
            <a:endParaRPr lang="ru-RU" sz="1400" dirty="0"/>
          </a:p>
          <a:p>
            <a:pPr lvl="0"/>
            <a:r>
              <a:rPr lang="en-AU" dirty="0" err="1"/>
              <a:t>Algoritm</a:t>
            </a:r>
            <a:r>
              <a:rPr lang="en-AU" dirty="0"/>
              <a:t> </a:t>
            </a:r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safar</a:t>
            </a:r>
            <a:r>
              <a:rPr lang="en-AU" dirty="0"/>
              <a:t>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dirty="0" err="1"/>
              <a:t>yangi</a:t>
            </a:r>
            <a:r>
              <a:rPr lang="en-AU" dirty="0"/>
              <a:t> </a:t>
            </a:r>
            <a:r>
              <a:rPr lang="en-AU" dirty="0" err="1"/>
              <a:t>resurs</a:t>
            </a:r>
            <a:r>
              <a:rPr lang="en-AU" dirty="0"/>
              <a:t> </a:t>
            </a:r>
            <a:r>
              <a:rPr lang="en-AU" dirty="0" err="1"/>
              <a:t>so‘rovini</a:t>
            </a:r>
            <a:r>
              <a:rPr lang="en-AU" dirty="0"/>
              <a:t> </a:t>
            </a:r>
            <a:r>
              <a:rPr lang="en-AU" dirty="0" err="1"/>
              <a:t>bajara</a:t>
            </a:r>
            <a:r>
              <a:rPr lang="en-AU" dirty="0"/>
              <a:t> </a:t>
            </a:r>
            <a:r>
              <a:rPr lang="en-AU" dirty="0" err="1"/>
              <a:t>olmasa</a:t>
            </a:r>
            <a:r>
              <a:rPr lang="en-AU" dirty="0"/>
              <a:t> </a:t>
            </a:r>
            <a:r>
              <a:rPr lang="en-AU" dirty="0" err="1"/>
              <a:t>ishga</a:t>
            </a:r>
            <a:r>
              <a:rPr lang="en-AU" dirty="0"/>
              <a:t> </a:t>
            </a:r>
            <a:r>
              <a:rPr lang="en-AU" dirty="0" err="1"/>
              <a:t>tushadi</a:t>
            </a:r>
            <a:r>
              <a:rPr lang="en-AU" dirty="0"/>
              <a:t>.</a:t>
            </a:r>
            <a:endParaRPr lang="ru-RU" sz="1400" dirty="0"/>
          </a:p>
          <a:p>
            <a:pPr lvl="0"/>
            <a:r>
              <a:rPr lang="ru-RU" dirty="0" err="1"/>
              <a:t>Bu</a:t>
            </a:r>
            <a:r>
              <a:rPr lang="ru-RU" dirty="0"/>
              <a:t> </a:t>
            </a:r>
            <a:r>
              <a:rPr lang="ru-RU" dirty="0" err="1"/>
              <a:t>holda</a:t>
            </a:r>
            <a:r>
              <a:rPr lang="ru-RU" dirty="0"/>
              <a:t>:</a:t>
            </a:r>
            <a:endParaRPr lang="ru-RU" sz="1400" dirty="0"/>
          </a:p>
          <a:p>
            <a:pPr lvl="1"/>
            <a:r>
              <a:rPr lang="en-AU" dirty="0" err="1"/>
              <a:t>Qulflangan</a:t>
            </a:r>
            <a:r>
              <a:rPr lang="en-AU" dirty="0"/>
              <a:t> </a:t>
            </a:r>
            <a:r>
              <a:rPr lang="en-AU" dirty="0" err="1"/>
              <a:t>jarayonlar</a:t>
            </a:r>
            <a:r>
              <a:rPr lang="en-AU" dirty="0"/>
              <a:t> </a:t>
            </a:r>
            <a:r>
              <a:rPr lang="en-AU" dirty="0" err="1"/>
              <a:t>to‘plami</a:t>
            </a:r>
            <a:r>
              <a:rPr lang="en-AU" dirty="0"/>
              <a:t> </a:t>
            </a:r>
            <a:r>
              <a:rPr lang="en-AU" dirty="0" err="1"/>
              <a:t>aniqlanadi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 err="1"/>
              <a:t>Qulflanishni</a:t>
            </a:r>
            <a:r>
              <a:rPr lang="en-AU" dirty="0"/>
              <a:t> </a:t>
            </a:r>
            <a:r>
              <a:rPr lang="en-AU" dirty="0" err="1"/>
              <a:t>keltirib</a:t>
            </a:r>
            <a:r>
              <a:rPr lang="en-AU" dirty="0"/>
              <a:t> </a:t>
            </a:r>
            <a:r>
              <a:rPr lang="en-AU" dirty="0" err="1"/>
              <a:t>chiqargan</a:t>
            </a:r>
            <a:r>
              <a:rPr lang="en-AU" dirty="0"/>
              <a:t> </a:t>
            </a:r>
            <a:r>
              <a:rPr lang="en-AU" dirty="0" err="1"/>
              <a:t>aniq</a:t>
            </a:r>
            <a:r>
              <a:rPr lang="en-AU" dirty="0"/>
              <a:t> </a:t>
            </a:r>
            <a:r>
              <a:rPr lang="en-AU" dirty="0" err="1"/>
              <a:t>jarayon</a:t>
            </a:r>
            <a:r>
              <a:rPr lang="en-AU" dirty="0"/>
              <a:t> ham </a:t>
            </a:r>
            <a:r>
              <a:rPr lang="en-AU" dirty="0" err="1"/>
              <a:t>topiladi</a:t>
            </a:r>
            <a:r>
              <a:rPr lang="en-AU" dirty="0"/>
              <a:t>.</a:t>
            </a:r>
            <a:endParaRPr lang="ru-RU" sz="1200" dirty="0"/>
          </a:p>
          <a:p>
            <a:r>
              <a:rPr lang="ru-RU" b="1" dirty="0"/>
              <a:t>2. </a:t>
            </a:r>
            <a:r>
              <a:rPr lang="ru-RU" b="1" dirty="0" err="1"/>
              <a:t>Davriy</a:t>
            </a:r>
            <a:r>
              <a:rPr lang="ru-RU" b="1" dirty="0"/>
              <a:t> </a:t>
            </a:r>
            <a:r>
              <a:rPr lang="ru-RU" b="1" dirty="0" err="1"/>
              <a:t>aniqlash</a:t>
            </a:r>
            <a:r>
              <a:rPr lang="ru-RU" b="1" dirty="0"/>
              <a:t> (</a:t>
            </a:r>
            <a:r>
              <a:rPr lang="ru-RU" b="1" dirty="0" err="1"/>
              <a:t>Periodic</a:t>
            </a:r>
            <a:r>
              <a:rPr lang="ru-RU" b="1" dirty="0"/>
              <a:t> </a:t>
            </a:r>
            <a:r>
              <a:rPr lang="ru-RU" b="1" dirty="0" err="1"/>
              <a:t>detection</a:t>
            </a:r>
            <a:r>
              <a:rPr lang="ru-RU" b="1" dirty="0"/>
              <a:t>):</a:t>
            </a:r>
            <a:endParaRPr lang="ru-RU" sz="1400" dirty="0"/>
          </a:p>
          <a:p>
            <a:pPr lvl="0"/>
            <a:r>
              <a:rPr lang="en-AU" dirty="0" err="1"/>
              <a:t>Algoritm</a:t>
            </a:r>
            <a:r>
              <a:rPr lang="en-AU" dirty="0"/>
              <a:t> </a:t>
            </a:r>
            <a:r>
              <a:rPr lang="en-AU" b="1" dirty="0" err="1"/>
              <a:t>muayyan</a:t>
            </a:r>
            <a:r>
              <a:rPr lang="en-AU" b="1" dirty="0"/>
              <a:t> </a:t>
            </a:r>
            <a:r>
              <a:rPr lang="en-AU" b="1" dirty="0" err="1"/>
              <a:t>vaqt</a:t>
            </a:r>
            <a:r>
              <a:rPr lang="en-AU" b="1" dirty="0"/>
              <a:t> </a:t>
            </a:r>
            <a:r>
              <a:rPr lang="en-AU" b="1" dirty="0" err="1"/>
              <a:t>oralig‘ida</a:t>
            </a:r>
            <a:r>
              <a:rPr lang="en-AU" dirty="0"/>
              <a:t> </a:t>
            </a:r>
            <a:r>
              <a:rPr lang="en-AU" dirty="0" err="1"/>
              <a:t>ishga</a:t>
            </a:r>
            <a:r>
              <a:rPr lang="en-AU" dirty="0"/>
              <a:t> </a:t>
            </a:r>
            <a:r>
              <a:rPr lang="en-AU" dirty="0" err="1"/>
              <a:t>tushiriladi</a:t>
            </a:r>
            <a:r>
              <a:rPr lang="en-AU" dirty="0"/>
              <a:t>, </a:t>
            </a:r>
            <a:r>
              <a:rPr lang="en-AU" dirty="0" err="1"/>
              <a:t>masalan</a:t>
            </a:r>
            <a:r>
              <a:rPr lang="en-AU" dirty="0"/>
              <a:t>:</a:t>
            </a:r>
            <a:endParaRPr lang="ru-RU" sz="1400" dirty="0"/>
          </a:p>
          <a:p>
            <a:pPr lvl="1"/>
            <a:r>
              <a:rPr lang="ru-RU" dirty="0" err="1"/>
              <a:t>har</a:t>
            </a:r>
            <a:r>
              <a:rPr lang="ru-RU" dirty="0"/>
              <a:t> </a:t>
            </a:r>
            <a:r>
              <a:rPr lang="ru-RU" dirty="0" err="1"/>
              <a:t>soatda</a:t>
            </a:r>
            <a:r>
              <a:rPr lang="ru-RU" dirty="0"/>
              <a:t> </a:t>
            </a:r>
            <a:r>
              <a:rPr lang="ru-RU" dirty="0" err="1"/>
              <a:t>bir</a:t>
            </a:r>
            <a:r>
              <a:rPr lang="ru-RU" dirty="0"/>
              <a:t> </a:t>
            </a:r>
            <a:r>
              <a:rPr lang="ru-RU" dirty="0" err="1"/>
              <a:t>marta</a:t>
            </a:r>
            <a:r>
              <a:rPr lang="ru-RU" dirty="0"/>
              <a:t>,</a:t>
            </a:r>
            <a:endParaRPr lang="ru-RU" sz="1200" dirty="0"/>
          </a:p>
          <a:p>
            <a:pPr lvl="1"/>
            <a:r>
              <a:rPr lang="en-AU" dirty="0" err="1"/>
              <a:t>yoki</a:t>
            </a:r>
            <a:r>
              <a:rPr lang="en-AU" dirty="0"/>
              <a:t> CPU </a:t>
            </a:r>
            <a:r>
              <a:rPr lang="en-AU" dirty="0" err="1"/>
              <a:t>yuklamasi</a:t>
            </a:r>
            <a:r>
              <a:rPr lang="en-AU" dirty="0"/>
              <a:t> </a:t>
            </a:r>
            <a:r>
              <a:rPr lang="en-AU" dirty="0" err="1"/>
              <a:t>ma’lum</a:t>
            </a:r>
            <a:r>
              <a:rPr lang="en-AU" dirty="0"/>
              <a:t> </a:t>
            </a:r>
            <a:r>
              <a:rPr lang="en-AU" dirty="0" err="1"/>
              <a:t>foizdan</a:t>
            </a:r>
            <a:r>
              <a:rPr lang="en-AU" dirty="0"/>
              <a:t> </a:t>
            </a:r>
            <a:r>
              <a:rPr lang="en-AU" dirty="0" err="1"/>
              <a:t>pastga</a:t>
            </a:r>
            <a:r>
              <a:rPr lang="en-AU" dirty="0"/>
              <a:t> </a:t>
            </a:r>
            <a:r>
              <a:rPr lang="en-AU" dirty="0" err="1"/>
              <a:t>tushganda</a:t>
            </a:r>
            <a:r>
              <a:rPr lang="en-AU" dirty="0"/>
              <a:t>.</a:t>
            </a:r>
            <a:endParaRPr lang="ru-RU" sz="1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294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928943" cy="1213104"/>
          </a:xfrm>
        </p:spPr>
        <p:txBody>
          <a:bodyPr>
            <a:normAutofit fontScale="90000"/>
          </a:bodyPr>
          <a:lstStyle/>
          <a:p>
            <a:r>
              <a:rPr lang="en-AU" b="1" dirty="0" err="1"/>
              <a:t>Qulflanishni</a:t>
            </a:r>
            <a:r>
              <a:rPr lang="en-AU" b="1" dirty="0"/>
              <a:t> </a:t>
            </a:r>
            <a:r>
              <a:rPr lang="en-AU" b="1" dirty="0" err="1"/>
              <a:t>aniqlash</a:t>
            </a:r>
            <a:r>
              <a:rPr lang="en-AU" b="1" dirty="0"/>
              <a:t> </a:t>
            </a:r>
            <a:r>
              <a:rPr lang="en-AU" b="1" dirty="0" err="1"/>
              <a:t>algoritmi</a:t>
            </a:r>
            <a:r>
              <a:rPr lang="en-AU" b="1" dirty="0"/>
              <a:t> (Detection Algorithm)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584960"/>
            <a:ext cx="7782639" cy="4754880"/>
          </a:xfrm>
        </p:spPr>
        <p:txBody>
          <a:bodyPr>
            <a:normAutofit/>
          </a:bodyPr>
          <a:lstStyle/>
          <a:p>
            <a:r>
              <a:rPr lang="en-AU" dirty="0" err="1"/>
              <a:t>Quyidagi</a:t>
            </a:r>
            <a:r>
              <a:rPr lang="en-AU" dirty="0"/>
              <a:t> </a:t>
            </a:r>
            <a:r>
              <a:rPr lang="en-AU" b="1" dirty="0"/>
              <a:t>Banker </a:t>
            </a:r>
            <a:r>
              <a:rPr lang="en-AU" b="1" dirty="0" err="1"/>
              <a:t>algoritmiga</a:t>
            </a:r>
            <a:r>
              <a:rPr lang="en-AU" b="1" dirty="0"/>
              <a:t> </a:t>
            </a:r>
            <a:r>
              <a:rPr lang="en-AU" b="1" dirty="0" err="1"/>
              <a:t>o‘xshash</a:t>
            </a:r>
            <a:r>
              <a:rPr lang="en-AU" dirty="0"/>
              <a:t> </a:t>
            </a:r>
            <a:r>
              <a:rPr lang="en-AU" dirty="0" err="1"/>
              <a:t>yondashuvdan</a:t>
            </a:r>
            <a:r>
              <a:rPr lang="en-AU" dirty="0"/>
              <a:t> </a:t>
            </a:r>
            <a:r>
              <a:rPr lang="en-AU" dirty="0" err="1"/>
              <a:t>foydalaniladi</a:t>
            </a:r>
            <a:r>
              <a:rPr lang="en-AU" dirty="0"/>
              <a:t>:</a:t>
            </a:r>
            <a:endParaRPr lang="ru-RU" sz="1400" dirty="0"/>
          </a:p>
          <a:p>
            <a:r>
              <a:rPr lang="ru-RU" b="1" dirty="0" err="1"/>
              <a:t>Bosqichlar</a:t>
            </a:r>
            <a:r>
              <a:rPr lang="ru-RU" b="1" dirty="0"/>
              <a:t>:</a:t>
            </a:r>
            <a:endParaRPr lang="ru-RU" sz="1400" dirty="0"/>
          </a:p>
          <a:p>
            <a:pPr lvl="0"/>
            <a:r>
              <a:rPr lang="en-AU" sz="1100" dirty="0"/>
              <a:t>Work</a:t>
            </a:r>
            <a:r>
              <a:rPr lang="en-AU" dirty="0"/>
              <a:t> </a:t>
            </a:r>
            <a:r>
              <a:rPr lang="en-AU" dirty="0" err="1"/>
              <a:t>va</a:t>
            </a:r>
            <a:r>
              <a:rPr lang="en-AU" dirty="0"/>
              <a:t> </a:t>
            </a:r>
            <a:r>
              <a:rPr lang="en-AU" sz="1100" dirty="0"/>
              <a:t>Finish</a:t>
            </a:r>
            <a:r>
              <a:rPr lang="en-AU" dirty="0"/>
              <a:t> </a:t>
            </a:r>
            <a:r>
              <a:rPr lang="en-AU" dirty="0" err="1"/>
              <a:t>vektorlarini</a:t>
            </a:r>
            <a:r>
              <a:rPr lang="en-AU" dirty="0"/>
              <a:t> </a:t>
            </a:r>
            <a:r>
              <a:rPr lang="en-AU" dirty="0" err="1"/>
              <a:t>e’lon</a:t>
            </a:r>
            <a:r>
              <a:rPr lang="en-AU" dirty="0"/>
              <a:t> </a:t>
            </a:r>
            <a:r>
              <a:rPr lang="en-AU" dirty="0" err="1"/>
              <a:t>qiling</a:t>
            </a:r>
            <a:r>
              <a:rPr lang="en-AU" dirty="0"/>
              <a:t>:</a:t>
            </a:r>
            <a:endParaRPr lang="ru-RU" sz="1400" dirty="0"/>
          </a:p>
          <a:p>
            <a:pPr lvl="1"/>
            <a:r>
              <a:rPr lang="ru-RU" dirty="0" err="1"/>
              <a:t>Work</a:t>
            </a:r>
            <a:r>
              <a:rPr lang="ru-RU" dirty="0"/>
              <a:t> = </a:t>
            </a:r>
            <a:r>
              <a:rPr lang="ru-RU" dirty="0" err="1"/>
              <a:t>Available</a:t>
            </a:r>
            <a:endParaRPr lang="ru-RU" sz="1800" dirty="0"/>
          </a:p>
          <a:p>
            <a:pPr lvl="1"/>
            <a:r>
              <a:rPr lang="en-AU" sz="2000" dirty="0"/>
              <a:t>Agar </a:t>
            </a:r>
            <a:r>
              <a:rPr lang="en-AU" dirty="0"/>
              <a:t>Allocation(</a:t>
            </a:r>
            <a:r>
              <a:rPr lang="en-AU" dirty="0" err="1"/>
              <a:t>i</a:t>
            </a:r>
            <a:r>
              <a:rPr lang="en-AU" dirty="0"/>
              <a:t>) ≠ 0</a:t>
            </a:r>
            <a:r>
              <a:rPr lang="en-AU" sz="2000" dirty="0"/>
              <a:t> </a:t>
            </a:r>
            <a:r>
              <a:rPr lang="en-AU" sz="2000" dirty="0" err="1"/>
              <a:t>bo‘lsa</a:t>
            </a:r>
            <a:r>
              <a:rPr lang="en-AU" sz="2000" dirty="0"/>
              <a:t> → </a:t>
            </a:r>
            <a:r>
              <a:rPr lang="en-AU" dirty="0"/>
              <a:t>Finish[</a:t>
            </a:r>
            <a:r>
              <a:rPr lang="en-AU" dirty="0" err="1"/>
              <a:t>i</a:t>
            </a:r>
            <a:r>
              <a:rPr lang="en-AU" dirty="0"/>
              <a:t>] = false</a:t>
            </a:r>
            <a:r>
              <a:rPr lang="en-AU" sz="2000" dirty="0"/>
              <a:t/>
            </a:r>
            <a:br>
              <a:rPr lang="en-AU" sz="2000" dirty="0"/>
            </a:br>
            <a:r>
              <a:rPr lang="en-AU" sz="2000" dirty="0" err="1"/>
              <a:t>Aks</a:t>
            </a:r>
            <a:r>
              <a:rPr lang="en-AU" sz="2000" dirty="0"/>
              <a:t> </a:t>
            </a:r>
            <a:r>
              <a:rPr lang="en-AU" sz="2000" dirty="0" err="1"/>
              <a:t>holda</a:t>
            </a:r>
            <a:r>
              <a:rPr lang="en-AU" sz="2000" dirty="0"/>
              <a:t> → </a:t>
            </a:r>
            <a:r>
              <a:rPr lang="en-AU" dirty="0"/>
              <a:t>Finish[</a:t>
            </a:r>
            <a:r>
              <a:rPr lang="en-AU" dirty="0" err="1"/>
              <a:t>i</a:t>
            </a:r>
            <a:r>
              <a:rPr lang="en-AU" dirty="0"/>
              <a:t>] = true</a:t>
            </a:r>
            <a:endParaRPr lang="ru-RU" sz="1800" dirty="0"/>
          </a:p>
          <a:p>
            <a:pPr lvl="0"/>
            <a:r>
              <a:rPr lang="en-AU" dirty="0" err="1"/>
              <a:t>Quyidagi</a:t>
            </a:r>
            <a:r>
              <a:rPr lang="en-AU" dirty="0"/>
              <a:t> </a:t>
            </a:r>
            <a:r>
              <a:rPr lang="en-AU" dirty="0" err="1"/>
              <a:t>shartni</a:t>
            </a:r>
            <a:r>
              <a:rPr lang="en-AU" dirty="0"/>
              <a:t> </a:t>
            </a:r>
            <a:r>
              <a:rPr lang="en-AU" dirty="0" err="1"/>
              <a:t>qanoatlantiradigan</a:t>
            </a:r>
            <a:r>
              <a:rPr lang="en-AU" dirty="0"/>
              <a:t> </a:t>
            </a:r>
            <a:r>
              <a:rPr lang="en-AU" sz="1100" dirty="0" err="1"/>
              <a:t>i</a:t>
            </a:r>
            <a:r>
              <a:rPr lang="en-AU" dirty="0"/>
              <a:t> </a:t>
            </a:r>
            <a:r>
              <a:rPr lang="en-AU" dirty="0" err="1"/>
              <a:t>indeksni</a:t>
            </a:r>
            <a:r>
              <a:rPr lang="en-AU" dirty="0"/>
              <a:t> toping:</a:t>
            </a:r>
            <a:endParaRPr lang="ru-RU" sz="1400" dirty="0"/>
          </a:p>
          <a:p>
            <a:pPr lvl="1"/>
            <a:r>
              <a:rPr lang="ru-RU" dirty="0" err="1"/>
              <a:t>Finish</a:t>
            </a:r>
            <a:r>
              <a:rPr lang="ru-RU" dirty="0"/>
              <a:t>[i] = </a:t>
            </a:r>
            <a:r>
              <a:rPr lang="ru-RU" dirty="0" err="1"/>
              <a:t>false</a:t>
            </a:r>
            <a:endParaRPr lang="ru-RU" sz="1800" dirty="0"/>
          </a:p>
          <a:p>
            <a:pPr lvl="1"/>
            <a:r>
              <a:rPr lang="en-AU" sz="1050" dirty="0"/>
              <a:t>Request(</a:t>
            </a:r>
            <a:r>
              <a:rPr lang="en-AU" sz="1050" dirty="0" err="1"/>
              <a:t>i</a:t>
            </a:r>
            <a:r>
              <a:rPr lang="en-AU" sz="1050" dirty="0"/>
              <a:t>) &lt;= Work</a:t>
            </a:r>
            <a:r>
              <a:rPr lang="en-AU" dirty="0"/>
              <a:t/>
            </a:r>
            <a:br>
              <a:rPr lang="en-AU" dirty="0"/>
            </a:br>
            <a:r>
              <a:rPr lang="en-AU" dirty="0"/>
              <a:t>Agar </a:t>
            </a:r>
            <a:r>
              <a:rPr lang="en-AU" dirty="0" err="1"/>
              <a:t>bunday</a:t>
            </a:r>
            <a:r>
              <a:rPr lang="en-AU" dirty="0"/>
              <a:t> </a:t>
            </a:r>
            <a:r>
              <a:rPr lang="en-AU" sz="1050" dirty="0" err="1"/>
              <a:t>i</a:t>
            </a:r>
            <a:r>
              <a:rPr lang="en-AU" dirty="0"/>
              <a:t> </a:t>
            </a:r>
            <a:r>
              <a:rPr lang="en-AU" dirty="0" err="1"/>
              <a:t>topilmasa</a:t>
            </a:r>
            <a:r>
              <a:rPr lang="en-AU" dirty="0"/>
              <a:t> → 4-</a:t>
            </a:r>
            <a:r>
              <a:rPr lang="en-AU" dirty="0" err="1"/>
              <a:t>bosqichga</a:t>
            </a:r>
            <a:r>
              <a:rPr lang="en-AU" dirty="0"/>
              <a:t> </a:t>
            </a:r>
            <a:r>
              <a:rPr lang="en-AU" dirty="0" err="1"/>
              <a:t>o‘ting</a:t>
            </a:r>
            <a:r>
              <a:rPr lang="en-AU" dirty="0"/>
              <a:t>.</a:t>
            </a:r>
            <a:endParaRPr lang="ru-RU" sz="1200" dirty="0"/>
          </a:p>
          <a:p>
            <a:pPr lvl="0"/>
            <a:r>
              <a:rPr lang="ru-RU" dirty="0" err="1"/>
              <a:t>Quyidagi</a:t>
            </a:r>
            <a:r>
              <a:rPr lang="ru-RU" dirty="0"/>
              <a:t> </a:t>
            </a:r>
            <a:r>
              <a:rPr lang="ru-RU" dirty="0" err="1"/>
              <a:t>yangilanishni</a:t>
            </a:r>
            <a:r>
              <a:rPr lang="ru-RU" dirty="0"/>
              <a:t> </a:t>
            </a:r>
            <a:r>
              <a:rPr lang="ru-RU" dirty="0" err="1"/>
              <a:t>bajaring</a:t>
            </a:r>
            <a:r>
              <a:rPr lang="ru-RU" dirty="0"/>
              <a:t>:</a:t>
            </a:r>
            <a:endParaRPr lang="ru-RU" sz="1400" dirty="0"/>
          </a:p>
          <a:p>
            <a:pPr lvl="0"/>
            <a:r>
              <a:rPr lang="ru-RU" dirty="0" err="1"/>
              <a:t>Work</a:t>
            </a:r>
            <a:r>
              <a:rPr lang="ru-RU" dirty="0"/>
              <a:t> = </a:t>
            </a:r>
            <a:r>
              <a:rPr lang="ru-RU" dirty="0" err="1"/>
              <a:t>Work</a:t>
            </a:r>
            <a:r>
              <a:rPr lang="ru-RU" dirty="0"/>
              <a:t> + </a:t>
            </a:r>
            <a:r>
              <a:rPr lang="ru-RU" dirty="0" err="1"/>
              <a:t>Allocation</a:t>
            </a:r>
            <a:r>
              <a:rPr lang="ru-RU" dirty="0"/>
              <a:t>(i)</a:t>
            </a:r>
            <a:endParaRPr lang="ru-RU" sz="2000" dirty="0"/>
          </a:p>
          <a:p>
            <a:pPr lvl="0"/>
            <a:r>
              <a:rPr lang="ru-RU" dirty="0" err="1"/>
              <a:t>Finish</a:t>
            </a:r>
            <a:r>
              <a:rPr lang="ru-RU" dirty="0"/>
              <a:t>[i] = </a:t>
            </a:r>
            <a:r>
              <a:rPr lang="ru-RU" dirty="0" err="1"/>
              <a:t>true</a:t>
            </a:r>
            <a:endParaRPr lang="ru-RU" sz="2000" dirty="0"/>
          </a:p>
          <a:p>
            <a:r>
              <a:rPr lang="ru-RU" dirty="0" err="1"/>
              <a:t>So‘ng</a:t>
            </a:r>
            <a:r>
              <a:rPr lang="ru-RU" dirty="0"/>
              <a:t> 2-</a:t>
            </a:r>
            <a:r>
              <a:rPr lang="ru-RU" dirty="0" err="1"/>
              <a:t>bosqichga</a:t>
            </a:r>
            <a:r>
              <a:rPr lang="ru-RU" dirty="0"/>
              <a:t> </a:t>
            </a:r>
            <a:r>
              <a:rPr lang="ru-RU" dirty="0" err="1"/>
              <a:t>qayting</a:t>
            </a:r>
            <a:r>
              <a:rPr lang="ru-RU" dirty="0"/>
              <a:t>.</a:t>
            </a:r>
            <a:endParaRPr lang="ru-RU" sz="1400" dirty="0"/>
          </a:p>
          <a:p>
            <a:pPr lvl="0"/>
            <a:r>
              <a:rPr lang="en-AU" dirty="0"/>
              <a:t>Agar </a:t>
            </a:r>
            <a:r>
              <a:rPr lang="en-AU" b="1" dirty="0" err="1"/>
              <a:t>ba’zi</a:t>
            </a:r>
            <a:r>
              <a:rPr lang="en-AU" b="1" dirty="0"/>
              <a:t> </a:t>
            </a:r>
            <a:r>
              <a:rPr lang="en-AU" b="1" dirty="0" err="1"/>
              <a:t>i</a:t>
            </a:r>
            <a:r>
              <a:rPr lang="en-AU" b="1" dirty="0"/>
              <a:t> </a:t>
            </a:r>
            <a:r>
              <a:rPr lang="en-AU" b="1" dirty="0" err="1"/>
              <a:t>uchun</a:t>
            </a:r>
            <a:r>
              <a:rPr lang="en-AU" b="1" dirty="0"/>
              <a:t> </a:t>
            </a:r>
            <a:r>
              <a:rPr lang="en-AU" sz="1100" b="1" dirty="0"/>
              <a:t>Finish[</a:t>
            </a:r>
            <a:r>
              <a:rPr lang="en-AU" sz="1100" b="1" dirty="0" err="1"/>
              <a:t>i</a:t>
            </a:r>
            <a:r>
              <a:rPr lang="en-AU" sz="1100" b="1" dirty="0"/>
              <a:t>] = false</a:t>
            </a:r>
            <a:r>
              <a:rPr lang="en-AU" dirty="0"/>
              <a:t> </a:t>
            </a:r>
            <a:r>
              <a:rPr lang="en-AU" dirty="0" err="1"/>
              <a:t>bo‘lsa</a:t>
            </a:r>
            <a:r>
              <a:rPr lang="en-AU" dirty="0"/>
              <a:t> →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b="1" dirty="0" err="1"/>
              <a:t>qulflanish</a:t>
            </a:r>
            <a:r>
              <a:rPr lang="en-AU" b="1" dirty="0"/>
              <a:t> </a:t>
            </a:r>
            <a:r>
              <a:rPr lang="en-AU" b="1" dirty="0" err="1"/>
              <a:t>holatidadir</a:t>
            </a:r>
            <a:r>
              <a:rPr lang="en-AU" dirty="0"/>
              <a:t>.</a:t>
            </a:r>
            <a:endParaRPr lang="ru-RU" sz="1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284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685103" cy="822960"/>
          </a:xfrm>
        </p:spPr>
        <p:txBody>
          <a:bodyPr>
            <a:normAutofit fontScale="90000"/>
          </a:bodyPr>
          <a:lstStyle/>
          <a:p>
            <a:pPr algn="ctr"/>
            <a:r>
              <a:rPr lang="en-AU" b="1" dirty="0" err="1"/>
              <a:t>Qulflanishdan</a:t>
            </a:r>
            <a:r>
              <a:rPr lang="en-AU" b="1" dirty="0"/>
              <a:t> </a:t>
            </a:r>
            <a:r>
              <a:rPr lang="en-AU" b="1" dirty="0" err="1"/>
              <a:t>tiklanish</a:t>
            </a:r>
            <a:r>
              <a:rPr lang="en-AU" b="1" dirty="0"/>
              <a:t> (Recovery from Deadlock)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995600" y="1496568"/>
            <a:ext cx="7197423" cy="4440936"/>
          </a:xfrm>
        </p:spPr>
        <p:txBody>
          <a:bodyPr/>
          <a:lstStyle/>
          <a:p>
            <a:r>
              <a:rPr lang="en-AU" sz="2000" dirty="0" err="1">
                <a:latin typeface="Bell MT" panose="02020503060305020303" pitchFamily="18" charset="0"/>
              </a:rPr>
              <a:t>Qulflanish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sodir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bo‘lganidan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keyin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tizimni</a:t>
            </a:r>
            <a:r>
              <a:rPr lang="en-AU" sz="2000" dirty="0">
                <a:latin typeface="Bell MT" panose="02020503060305020303" pitchFamily="18" charset="0"/>
              </a:rPr>
              <a:t> normal </a:t>
            </a:r>
            <a:r>
              <a:rPr lang="en-AU" sz="2000" dirty="0" err="1">
                <a:latin typeface="Bell MT" panose="02020503060305020303" pitchFamily="18" charset="0"/>
              </a:rPr>
              <a:t>holatga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qaytarish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uchun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uchta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asosiy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yondashuv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mavjud</a:t>
            </a:r>
            <a:r>
              <a:rPr lang="en-AU" sz="2000" dirty="0">
                <a:latin typeface="Bell MT" panose="02020503060305020303" pitchFamily="18" charset="0"/>
              </a:rPr>
              <a:t>:</a:t>
            </a:r>
            <a:endParaRPr lang="ru-RU" sz="2000" dirty="0"/>
          </a:p>
          <a:p>
            <a:pPr lvl="0"/>
            <a:r>
              <a:rPr lang="en-AU" sz="2000" b="1" dirty="0" err="1">
                <a:latin typeface="Bell MT" panose="02020503060305020303" pitchFamily="18" charset="0"/>
              </a:rPr>
              <a:t>Tizim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operatorini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xabardor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qilish</a:t>
            </a:r>
            <a:r>
              <a:rPr lang="en-AU" sz="2000" b="1" dirty="0">
                <a:latin typeface="Bell MT" panose="02020503060305020303" pitchFamily="18" charset="0"/>
              </a:rPr>
              <a:t> (manual intervention):</a:t>
            </a:r>
            <a:r>
              <a:rPr lang="en-AU" sz="2000" dirty="0">
                <a:latin typeface="Bell MT" panose="02020503060305020303" pitchFamily="18" charset="0"/>
              </a:rPr>
              <a:t/>
            </a:r>
            <a:br>
              <a:rPr lang="en-AU" sz="2000" dirty="0">
                <a:latin typeface="Bell MT" panose="02020503060305020303" pitchFamily="18" charset="0"/>
              </a:rPr>
            </a:br>
            <a:r>
              <a:rPr lang="en-AU" sz="2000" dirty="0" err="1">
                <a:latin typeface="Bell MT" panose="02020503060305020303" pitchFamily="18" charset="0"/>
              </a:rPr>
              <a:t>Operatorga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qo‘lda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aralashish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imkoniyati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beriladi</a:t>
            </a:r>
            <a:r>
              <a:rPr lang="en-AU" sz="2000" dirty="0">
                <a:latin typeface="Bell MT" panose="02020503060305020303" pitchFamily="18" charset="0"/>
              </a:rPr>
              <a:t>, </a:t>
            </a:r>
            <a:r>
              <a:rPr lang="en-AU" sz="2000" dirty="0" err="1">
                <a:latin typeface="Bell MT" panose="02020503060305020303" pitchFamily="18" charset="0"/>
              </a:rPr>
              <a:t>masalan</a:t>
            </a:r>
            <a:r>
              <a:rPr lang="en-AU" sz="2000" dirty="0">
                <a:latin typeface="Bell MT" panose="02020503060305020303" pitchFamily="18" charset="0"/>
              </a:rPr>
              <a:t>, </a:t>
            </a:r>
            <a:r>
              <a:rPr lang="en-AU" sz="2000" dirty="0" err="1">
                <a:latin typeface="Bell MT" panose="02020503060305020303" pitchFamily="18" charset="0"/>
              </a:rPr>
              <a:t>qulflangan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jarayonni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majburan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to‘xtatish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yoki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resursni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qo‘lda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bo‘shatish</a:t>
            </a:r>
            <a:r>
              <a:rPr lang="en-AU" sz="2000" dirty="0">
                <a:latin typeface="Bell MT" panose="02020503060305020303" pitchFamily="18" charset="0"/>
              </a:rPr>
              <a:t>.</a:t>
            </a:r>
            <a:endParaRPr lang="ru-RU" sz="2000" dirty="0"/>
          </a:p>
          <a:p>
            <a:pPr lvl="0"/>
            <a:r>
              <a:rPr lang="en-AU" sz="2000" b="1" dirty="0" err="1">
                <a:latin typeface="Bell MT" panose="02020503060305020303" pitchFamily="18" charset="0"/>
              </a:rPr>
              <a:t>Jarayonlarni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tugatish</a:t>
            </a:r>
            <a:r>
              <a:rPr lang="en-AU" sz="2000" b="1" dirty="0">
                <a:latin typeface="Bell MT" panose="02020503060305020303" pitchFamily="18" charset="0"/>
              </a:rPr>
              <a:t> (process termination):</a:t>
            </a:r>
            <a:r>
              <a:rPr lang="en-AU" sz="2000" dirty="0">
                <a:latin typeface="Bell MT" panose="02020503060305020303" pitchFamily="18" charset="0"/>
              </a:rPr>
              <a:t/>
            </a:r>
            <a:br>
              <a:rPr lang="en-AU" sz="2000" dirty="0">
                <a:latin typeface="Bell MT" panose="02020503060305020303" pitchFamily="18" charset="0"/>
              </a:rPr>
            </a:br>
            <a:r>
              <a:rPr lang="en-AU" sz="2000" dirty="0" err="1">
                <a:latin typeface="Bell MT" panose="02020503060305020303" pitchFamily="18" charset="0"/>
              </a:rPr>
              <a:t>Qulflanishda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ishtirok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etayotgan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bir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yoki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bir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nechta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jarayonlar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to‘xtatiladi</a:t>
            </a:r>
            <a:r>
              <a:rPr lang="en-AU" sz="2000" dirty="0">
                <a:latin typeface="Bell MT" panose="02020503060305020303" pitchFamily="18" charset="0"/>
              </a:rPr>
              <a:t>.</a:t>
            </a:r>
            <a:endParaRPr lang="ru-RU" sz="2000" dirty="0"/>
          </a:p>
          <a:p>
            <a:pPr lvl="0"/>
            <a:r>
              <a:rPr lang="en-AU" sz="2000" b="1" dirty="0" err="1">
                <a:latin typeface="Bell MT" panose="02020503060305020303" pitchFamily="18" charset="0"/>
              </a:rPr>
              <a:t>Resurslarni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majburan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olish</a:t>
            </a:r>
            <a:r>
              <a:rPr lang="en-AU" sz="2000" b="1" dirty="0">
                <a:latin typeface="Bell MT" panose="02020503060305020303" pitchFamily="18" charset="0"/>
              </a:rPr>
              <a:t> (resource </a:t>
            </a:r>
            <a:r>
              <a:rPr lang="en-AU" sz="2000" b="1" dirty="0" err="1">
                <a:latin typeface="Bell MT" panose="02020503060305020303" pitchFamily="18" charset="0"/>
              </a:rPr>
              <a:t>preemption</a:t>
            </a:r>
            <a:r>
              <a:rPr lang="en-AU" sz="2000" b="1" dirty="0">
                <a:latin typeface="Bell MT" panose="02020503060305020303" pitchFamily="18" charset="0"/>
              </a:rPr>
              <a:t> </a:t>
            </a:r>
            <a:r>
              <a:rPr lang="en-AU" sz="2000" b="1" dirty="0" err="1">
                <a:latin typeface="Bell MT" panose="02020503060305020303" pitchFamily="18" charset="0"/>
              </a:rPr>
              <a:t>yoki</a:t>
            </a:r>
            <a:r>
              <a:rPr lang="en-AU" sz="2000" b="1" dirty="0">
                <a:latin typeface="Bell MT" panose="02020503060305020303" pitchFamily="18" charset="0"/>
              </a:rPr>
              <a:t> blocking):</a:t>
            </a:r>
            <a:r>
              <a:rPr lang="en-AU" sz="2000" dirty="0">
                <a:latin typeface="Bell MT" panose="02020503060305020303" pitchFamily="18" charset="0"/>
              </a:rPr>
              <a:t/>
            </a:r>
            <a:br>
              <a:rPr lang="en-AU" sz="2000" dirty="0">
                <a:latin typeface="Bell MT" panose="02020503060305020303" pitchFamily="18" charset="0"/>
              </a:rPr>
            </a:br>
            <a:r>
              <a:rPr lang="en-AU" sz="2000" dirty="0" err="1">
                <a:latin typeface="Bell MT" panose="02020503060305020303" pitchFamily="18" charset="0"/>
              </a:rPr>
              <a:t>Ba’zi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jarayonlardan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resurslar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tortib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olinadi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yoki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vaqtincha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bloklanadi</a:t>
            </a:r>
            <a:r>
              <a:rPr lang="en-AU" sz="2000" dirty="0">
                <a:latin typeface="Bell MT" panose="02020503060305020303" pitchFamily="18" charset="0"/>
              </a:rPr>
              <a:t>, </a:t>
            </a:r>
            <a:r>
              <a:rPr lang="en-AU" sz="2000" dirty="0" err="1">
                <a:latin typeface="Bell MT" panose="02020503060305020303" pitchFamily="18" charset="0"/>
              </a:rPr>
              <a:t>toki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qulflanish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halqasi</a:t>
            </a:r>
            <a:r>
              <a:rPr lang="en-AU" sz="2000" dirty="0">
                <a:latin typeface="Bell MT" panose="02020503060305020303" pitchFamily="18" charset="0"/>
              </a:rPr>
              <a:t> </a:t>
            </a:r>
            <a:r>
              <a:rPr lang="en-AU" sz="2000" dirty="0" err="1">
                <a:latin typeface="Bell MT" panose="02020503060305020303" pitchFamily="18" charset="0"/>
              </a:rPr>
              <a:t>buzilmaguncha</a:t>
            </a:r>
            <a:r>
              <a:rPr lang="en-AU" sz="2000" dirty="0">
                <a:latin typeface="Bell MT" panose="02020503060305020303" pitchFamily="18" charset="0"/>
              </a:rPr>
              <a:t>.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1625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563183" cy="518160"/>
          </a:xfrm>
        </p:spPr>
        <p:txBody>
          <a:bodyPr>
            <a:normAutofit fontScale="90000"/>
          </a:bodyPr>
          <a:lstStyle/>
          <a:p>
            <a:r>
              <a:rPr lang="en-AU" b="1"/>
              <a:t>Jarayonni tugatish (Process Termination)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194816"/>
            <a:ext cx="7563183" cy="4674172"/>
          </a:xfrm>
        </p:spPr>
        <p:txBody>
          <a:bodyPr/>
          <a:lstStyle/>
          <a:p>
            <a:r>
              <a:rPr lang="en-AU" dirty="0" err="1"/>
              <a:t>Qulflanishni</a:t>
            </a:r>
            <a:r>
              <a:rPr lang="en-AU" dirty="0"/>
              <a:t> </a:t>
            </a:r>
            <a:r>
              <a:rPr lang="en-AU" dirty="0" err="1"/>
              <a:t>yo‘qotish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ikki</a:t>
            </a:r>
            <a:r>
              <a:rPr lang="en-AU" dirty="0"/>
              <a:t> </a:t>
            </a:r>
            <a:r>
              <a:rPr lang="en-AU" dirty="0" err="1"/>
              <a:t>xil</a:t>
            </a:r>
            <a:r>
              <a:rPr lang="en-AU" dirty="0"/>
              <a:t> </a:t>
            </a:r>
            <a:r>
              <a:rPr lang="en-AU" dirty="0" err="1"/>
              <a:t>yondashuv</a:t>
            </a:r>
            <a:r>
              <a:rPr lang="en-AU" dirty="0"/>
              <a:t> </a:t>
            </a:r>
            <a:r>
              <a:rPr lang="en-AU" dirty="0" err="1"/>
              <a:t>mavjud</a:t>
            </a:r>
            <a:r>
              <a:rPr lang="en-AU" dirty="0"/>
              <a:t>:</a:t>
            </a:r>
            <a:endParaRPr lang="ru-RU" sz="1400" dirty="0"/>
          </a:p>
          <a:p>
            <a:r>
              <a:rPr lang="en-AU" b="1" dirty="0"/>
              <a:t>B</a:t>
            </a:r>
            <a:r>
              <a:rPr lang="ru-RU" b="1" dirty="0" err="1" smtClean="0"/>
              <a:t>archa</a:t>
            </a:r>
            <a:r>
              <a:rPr lang="ru-RU" b="1" dirty="0" smtClean="0"/>
              <a:t> </a:t>
            </a:r>
            <a:r>
              <a:rPr lang="ru-RU" b="1" dirty="0" err="1"/>
              <a:t>qulflangan</a:t>
            </a:r>
            <a:r>
              <a:rPr lang="ru-RU" b="1" dirty="0"/>
              <a:t> </a:t>
            </a:r>
            <a:r>
              <a:rPr lang="ru-RU" b="1" dirty="0" err="1"/>
              <a:t>jarayonlarni</a:t>
            </a:r>
            <a:r>
              <a:rPr lang="ru-RU" b="1" dirty="0"/>
              <a:t> </a:t>
            </a:r>
            <a:r>
              <a:rPr lang="ru-RU" b="1" dirty="0" err="1"/>
              <a:t>tugatish</a:t>
            </a:r>
            <a:endParaRPr lang="ru-RU" sz="1400" dirty="0"/>
          </a:p>
          <a:p>
            <a:pPr lvl="0"/>
            <a:r>
              <a:rPr lang="en-AU" dirty="0"/>
              <a:t>Bu </a:t>
            </a:r>
            <a:r>
              <a:rPr lang="en-AU" dirty="0" err="1"/>
              <a:t>usul</a:t>
            </a:r>
            <a:r>
              <a:rPr lang="en-AU" dirty="0"/>
              <a:t> </a:t>
            </a:r>
            <a:r>
              <a:rPr lang="en-AU" dirty="0" err="1"/>
              <a:t>qulflanish</a:t>
            </a:r>
            <a:r>
              <a:rPr lang="en-AU" dirty="0"/>
              <a:t> </a:t>
            </a:r>
            <a:r>
              <a:rPr lang="en-AU" dirty="0" err="1"/>
              <a:t>halqasini</a:t>
            </a:r>
            <a:r>
              <a:rPr lang="en-AU" dirty="0"/>
              <a:t> </a:t>
            </a:r>
            <a:r>
              <a:rPr lang="en-AU" b="1" dirty="0" err="1"/>
              <a:t>aniq</a:t>
            </a:r>
            <a:r>
              <a:rPr lang="en-AU" dirty="0"/>
              <a:t> </a:t>
            </a:r>
            <a:r>
              <a:rPr lang="en-AU" dirty="0" err="1"/>
              <a:t>buzadi</a:t>
            </a:r>
            <a:r>
              <a:rPr lang="en-AU" dirty="0"/>
              <a:t>.</a:t>
            </a:r>
            <a:endParaRPr lang="ru-RU" sz="1400" dirty="0"/>
          </a:p>
          <a:p>
            <a:pPr lvl="0"/>
            <a:r>
              <a:rPr lang="en-AU" dirty="0"/>
              <a:t>Ammo </a:t>
            </a:r>
            <a:r>
              <a:rPr lang="en-AU" dirty="0" err="1"/>
              <a:t>bu</a:t>
            </a:r>
            <a:r>
              <a:rPr lang="en-AU" dirty="0"/>
              <a:t> </a:t>
            </a:r>
            <a:r>
              <a:rPr lang="en-AU" b="1" dirty="0" err="1"/>
              <a:t>katta</a:t>
            </a:r>
            <a:r>
              <a:rPr lang="en-AU" b="1" dirty="0"/>
              <a:t> </a:t>
            </a:r>
            <a:r>
              <a:rPr lang="en-AU" b="1" dirty="0" err="1"/>
              <a:t>yo‘qotishlarga</a:t>
            </a:r>
            <a:r>
              <a:rPr lang="en-AU" dirty="0"/>
              <a:t> </a:t>
            </a:r>
            <a:r>
              <a:rPr lang="en-AU" dirty="0" err="1"/>
              <a:t>olib</a:t>
            </a:r>
            <a:r>
              <a:rPr lang="en-AU" dirty="0"/>
              <a:t> </a:t>
            </a:r>
            <a:r>
              <a:rPr lang="en-AU" dirty="0" err="1"/>
              <a:t>keladi</a:t>
            </a:r>
            <a:r>
              <a:rPr lang="en-AU" dirty="0"/>
              <a:t>, </a:t>
            </a:r>
            <a:r>
              <a:rPr lang="en-AU" dirty="0" err="1"/>
              <a:t>chunki</a:t>
            </a:r>
            <a:r>
              <a:rPr lang="en-AU" dirty="0"/>
              <a:t>:</a:t>
            </a:r>
            <a:endParaRPr lang="ru-RU" sz="1400" dirty="0"/>
          </a:p>
          <a:p>
            <a:pPr lvl="1"/>
            <a:r>
              <a:rPr lang="en-AU" dirty="0" smtClean="0"/>
              <a:t>-</a:t>
            </a:r>
            <a:r>
              <a:rPr lang="en-AU" dirty="0" err="1" smtClean="0"/>
              <a:t>Qulflangan</a:t>
            </a:r>
            <a:r>
              <a:rPr lang="en-AU" dirty="0" smtClean="0"/>
              <a:t> </a:t>
            </a:r>
            <a:r>
              <a:rPr lang="en-AU" dirty="0" err="1"/>
              <a:t>jarayonlar</a:t>
            </a:r>
            <a:r>
              <a:rPr lang="en-AU" dirty="0"/>
              <a:t> </a:t>
            </a:r>
            <a:r>
              <a:rPr lang="en-AU" dirty="0" err="1"/>
              <a:t>uzoq</a:t>
            </a:r>
            <a:r>
              <a:rPr lang="en-AU" dirty="0"/>
              <a:t> </a:t>
            </a:r>
            <a:r>
              <a:rPr lang="en-AU" dirty="0" err="1"/>
              <a:t>vaqt</a:t>
            </a:r>
            <a:r>
              <a:rPr lang="en-AU" dirty="0"/>
              <a:t> </a:t>
            </a:r>
            <a:r>
              <a:rPr lang="en-AU" dirty="0" err="1"/>
              <a:t>davomida</a:t>
            </a:r>
            <a:r>
              <a:rPr lang="en-AU" dirty="0"/>
              <a:t> </a:t>
            </a:r>
            <a:r>
              <a:rPr lang="en-AU" dirty="0" err="1"/>
              <a:t>hisoblash</a:t>
            </a:r>
            <a:r>
              <a:rPr lang="en-AU" dirty="0"/>
              <a:t> (processing) </a:t>
            </a:r>
            <a:r>
              <a:rPr lang="en-AU" dirty="0" err="1"/>
              <a:t>bajargan</a:t>
            </a:r>
            <a:r>
              <a:rPr lang="en-AU" dirty="0"/>
              <a:t> </a:t>
            </a:r>
            <a:r>
              <a:rPr lang="en-AU" dirty="0" err="1"/>
              <a:t>bo‘lishi</a:t>
            </a:r>
            <a:r>
              <a:rPr lang="en-AU" dirty="0"/>
              <a:t> </a:t>
            </a:r>
            <a:r>
              <a:rPr lang="en-AU" dirty="0" err="1"/>
              <a:t>mumkin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 smtClean="0"/>
              <a:t>-</a:t>
            </a:r>
            <a:r>
              <a:rPr lang="en-AU" dirty="0" err="1" smtClean="0"/>
              <a:t>Ularning</a:t>
            </a:r>
            <a:r>
              <a:rPr lang="en-AU" dirty="0" smtClean="0"/>
              <a:t> </a:t>
            </a:r>
            <a:r>
              <a:rPr lang="en-AU" dirty="0" err="1"/>
              <a:t>qisman</a:t>
            </a:r>
            <a:r>
              <a:rPr lang="en-AU" dirty="0"/>
              <a:t> </a:t>
            </a:r>
            <a:r>
              <a:rPr lang="en-AU" dirty="0" err="1"/>
              <a:t>bajarilgan</a:t>
            </a:r>
            <a:r>
              <a:rPr lang="en-AU" dirty="0"/>
              <a:t> </a:t>
            </a:r>
            <a:r>
              <a:rPr lang="en-AU" dirty="0" err="1"/>
              <a:t>natijalari</a:t>
            </a:r>
            <a:r>
              <a:rPr lang="en-AU" dirty="0"/>
              <a:t> </a:t>
            </a:r>
            <a:r>
              <a:rPr lang="en-AU" b="1" dirty="0" err="1"/>
              <a:t>bekor</a:t>
            </a:r>
            <a:r>
              <a:rPr lang="en-AU" b="1" dirty="0"/>
              <a:t> </a:t>
            </a:r>
            <a:r>
              <a:rPr lang="en-AU" b="1" dirty="0" err="1"/>
              <a:t>qilinadi</a:t>
            </a:r>
            <a:r>
              <a:rPr lang="en-AU" dirty="0"/>
              <a:t>.</a:t>
            </a:r>
            <a:endParaRPr lang="ru-RU" sz="1200" dirty="0"/>
          </a:p>
          <a:p>
            <a:pPr lvl="1"/>
            <a:r>
              <a:rPr lang="en-AU" dirty="0" smtClean="0"/>
              <a:t>-</a:t>
            </a:r>
            <a:r>
              <a:rPr lang="en-AU" dirty="0" err="1" smtClean="0"/>
              <a:t>Natijada</a:t>
            </a:r>
            <a:r>
              <a:rPr lang="en-AU" dirty="0"/>
              <a:t>, </a:t>
            </a:r>
            <a:r>
              <a:rPr lang="en-AU" dirty="0" err="1"/>
              <a:t>bu</a:t>
            </a:r>
            <a:r>
              <a:rPr lang="en-AU" dirty="0"/>
              <a:t> </a:t>
            </a:r>
            <a:r>
              <a:rPr lang="en-AU" dirty="0" err="1"/>
              <a:t>hisoblashlarni</a:t>
            </a:r>
            <a:r>
              <a:rPr lang="en-AU" dirty="0"/>
              <a:t> </a:t>
            </a:r>
            <a:r>
              <a:rPr lang="en-AU" b="1" dirty="0" err="1"/>
              <a:t>qayta</a:t>
            </a:r>
            <a:r>
              <a:rPr lang="en-AU" b="1" dirty="0"/>
              <a:t> </a:t>
            </a:r>
            <a:r>
              <a:rPr lang="en-AU" b="1" dirty="0" err="1"/>
              <a:t>bajarish</a:t>
            </a:r>
            <a:r>
              <a:rPr lang="en-AU" dirty="0"/>
              <a:t> </a:t>
            </a:r>
            <a:r>
              <a:rPr lang="en-AU" dirty="0" err="1"/>
              <a:t>talab</a:t>
            </a:r>
            <a:r>
              <a:rPr lang="en-AU" dirty="0"/>
              <a:t> </a:t>
            </a:r>
            <a:r>
              <a:rPr lang="en-AU" dirty="0" err="1"/>
              <a:t>etiladi</a:t>
            </a:r>
            <a:r>
              <a:rPr lang="en-AU" dirty="0"/>
              <a:t>.</a:t>
            </a:r>
            <a:endParaRPr lang="ru-RU" sz="1200" dirty="0"/>
          </a:p>
          <a:p>
            <a:r>
              <a:rPr lang="ru-RU" b="1" dirty="0" err="1" smtClean="0"/>
              <a:t>Jarayonlarni</a:t>
            </a:r>
            <a:r>
              <a:rPr lang="ru-RU" b="1" dirty="0" smtClean="0"/>
              <a:t> </a:t>
            </a:r>
            <a:r>
              <a:rPr lang="ru-RU" b="1" dirty="0" err="1"/>
              <a:t>birma-bir</a:t>
            </a:r>
            <a:r>
              <a:rPr lang="ru-RU" b="1" dirty="0"/>
              <a:t> </a:t>
            </a:r>
            <a:r>
              <a:rPr lang="ru-RU" b="1" dirty="0" err="1"/>
              <a:t>tugatish</a:t>
            </a:r>
            <a:endParaRPr lang="ru-RU" sz="1400" dirty="0"/>
          </a:p>
          <a:p>
            <a:pPr lvl="0"/>
            <a:r>
              <a:rPr lang="en-AU" dirty="0" err="1"/>
              <a:t>Jarayonlar</a:t>
            </a:r>
            <a:r>
              <a:rPr lang="en-AU" dirty="0"/>
              <a:t> </a:t>
            </a:r>
            <a:r>
              <a:rPr lang="en-AU" b="1" dirty="0" err="1"/>
              <a:t>bittadan</a:t>
            </a:r>
            <a:r>
              <a:rPr lang="en-AU" b="1" dirty="0"/>
              <a:t> </a:t>
            </a:r>
            <a:r>
              <a:rPr lang="en-AU" b="1" dirty="0" err="1"/>
              <a:t>to‘xtatilib</a:t>
            </a:r>
            <a:r>
              <a:rPr lang="en-AU" dirty="0"/>
              <a:t>, </a:t>
            </a:r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safar</a:t>
            </a:r>
            <a:r>
              <a:rPr lang="en-AU" dirty="0"/>
              <a:t> </a:t>
            </a:r>
            <a:r>
              <a:rPr lang="en-AU" dirty="0" err="1"/>
              <a:t>qulflanish</a:t>
            </a:r>
            <a:r>
              <a:rPr lang="en-AU" dirty="0"/>
              <a:t>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/>
              <a:t>algoritmi</a:t>
            </a:r>
            <a:r>
              <a:rPr lang="en-AU" dirty="0"/>
              <a:t> </a:t>
            </a:r>
            <a:r>
              <a:rPr lang="en-AU" dirty="0" err="1"/>
              <a:t>qayta</a:t>
            </a:r>
            <a:r>
              <a:rPr lang="en-AU" dirty="0"/>
              <a:t> </a:t>
            </a:r>
            <a:r>
              <a:rPr lang="en-AU" dirty="0" err="1"/>
              <a:t>bajariladi</a:t>
            </a:r>
            <a:r>
              <a:rPr lang="en-AU" dirty="0"/>
              <a:t>.</a:t>
            </a:r>
            <a:endParaRPr lang="ru-RU" sz="1400" dirty="0"/>
          </a:p>
          <a:p>
            <a:pPr lvl="0"/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safar</a:t>
            </a:r>
            <a:r>
              <a:rPr lang="en-AU" dirty="0"/>
              <a:t> </a:t>
            </a:r>
            <a:r>
              <a:rPr lang="en-AU" dirty="0" err="1"/>
              <a:t>bitta</a:t>
            </a:r>
            <a:r>
              <a:rPr lang="en-AU" dirty="0"/>
              <a:t>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to‘xtatilgandan</a:t>
            </a:r>
            <a:r>
              <a:rPr lang="en-AU" dirty="0"/>
              <a:t> </a:t>
            </a:r>
            <a:r>
              <a:rPr lang="en-AU" dirty="0" err="1"/>
              <a:t>so‘ng</a:t>
            </a:r>
            <a:r>
              <a:rPr lang="en-AU" dirty="0"/>
              <a:t>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b="1" dirty="0" err="1"/>
              <a:t>yana</a:t>
            </a:r>
            <a:r>
              <a:rPr lang="en-AU" b="1" dirty="0"/>
              <a:t> </a:t>
            </a:r>
            <a:r>
              <a:rPr lang="en-AU" b="1" dirty="0" err="1"/>
              <a:t>tekshiriladi</a:t>
            </a:r>
            <a:r>
              <a:rPr lang="en-AU" dirty="0"/>
              <a:t> — </a:t>
            </a:r>
            <a:r>
              <a:rPr lang="en-AU" dirty="0" err="1"/>
              <a:t>qolgan</a:t>
            </a:r>
            <a:r>
              <a:rPr lang="en-AU" dirty="0"/>
              <a:t> </a:t>
            </a:r>
            <a:r>
              <a:rPr lang="en-AU" dirty="0" err="1"/>
              <a:t>jarayonlar</a:t>
            </a:r>
            <a:r>
              <a:rPr lang="en-AU" dirty="0"/>
              <a:t> </a:t>
            </a:r>
            <a:r>
              <a:rPr lang="en-AU" dirty="0" err="1"/>
              <a:t>hanuz</a:t>
            </a:r>
            <a:r>
              <a:rPr lang="en-AU" dirty="0"/>
              <a:t> </a:t>
            </a:r>
            <a:r>
              <a:rPr lang="en-AU" dirty="0" err="1"/>
              <a:t>qulflanganmi</a:t>
            </a:r>
            <a:r>
              <a:rPr lang="en-AU" dirty="0"/>
              <a:t> </a:t>
            </a:r>
            <a:r>
              <a:rPr lang="en-AU" dirty="0" err="1"/>
              <a:t>yoki</a:t>
            </a:r>
            <a:r>
              <a:rPr lang="en-AU" dirty="0"/>
              <a:t> </a:t>
            </a:r>
            <a:r>
              <a:rPr lang="en-AU" dirty="0" err="1"/>
              <a:t>yo‘q</a:t>
            </a:r>
            <a:r>
              <a:rPr lang="en-AU" dirty="0"/>
              <a:t>.</a:t>
            </a:r>
            <a:endParaRPr lang="ru-RU" sz="1400" dirty="0"/>
          </a:p>
          <a:p>
            <a:r>
              <a:rPr lang="en-AU" dirty="0" smtClean="0"/>
              <a:t>  </a:t>
            </a:r>
            <a:r>
              <a:rPr lang="en-AU" dirty="0"/>
              <a:t>Bu </a:t>
            </a:r>
            <a:r>
              <a:rPr lang="en-AU" dirty="0" err="1"/>
              <a:t>usulning</a:t>
            </a:r>
            <a:r>
              <a:rPr lang="en-AU" dirty="0"/>
              <a:t> </a:t>
            </a:r>
            <a:r>
              <a:rPr lang="en-AU" dirty="0" err="1"/>
              <a:t>kamchiligi</a:t>
            </a:r>
            <a:r>
              <a:rPr lang="en-AU" dirty="0"/>
              <a:t> — </a:t>
            </a:r>
            <a:r>
              <a:rPr lang="en-AU" b="1" dirty="0" err="1"/>
              <a:t>katta</a:t>
            </a:r>
            <a:r>
              <a:rPr lang="en-AU" b="1" dirty="0"/>
              <a:t> </a:t>
            </a:r>
            <a:r>
              <a:rPr lang="en-AU" b="1" dirty="0" err="1"/>
              <a:t>hisoblash</a:t>
            </a:r>
            <a:r>
              <a:rPr lang="en-AU" b="1" dirty="0"/>
              <a:t> </a:t>
            </a:r>
            <a:r>
              <a:rPr lang="en-AU" b="1" dirty="0" err="1"/>
              <a:t>xarajatlari</a:t>
            </a:r>
            <a:r>
              <a:rPr lang="en-AU" b="1" dirty="0"/>
              <a:t> (overhead)</a:t>
            </a:r>
            <a:r>
              <a:rPr lang="en-AU" dirty="0"/>
              <a:t>. </a:t>
            </a:r>
            <a:r>
              <a:rPr lang="ru-RU" dirty="0" err="1"/>
              <a:t>Chunki</a:t>
            </a:r>
            <a:r>
              <a:rPr lang="ru-RU" dirty="0"/>
              <a:t>:</a:t>
            </a:r>
            <a:endParaRPr lang="ru-RU" sz="1400" dirty="0"/>
          </a:p>
          <a:p>
            <a:pPr lvl="0"/>
            <a:r>
              <a:rPr lang="en-AU" dirty="0" err="1"/>
              <a:t>Har</a:t>
            </a:r>
            <a:r>
              <a:rPr lang="en-AU" dirty="0"/>
              <a:t> </a:t>
            </a:r>
            <a:r>
              <a:rPr lang="en-AU" dirty="0" err="1"/>
              <a:t>safar</a:t>
            </a:r>
            <a:r>
              <a:rPr lang="en-AU" dirty="0"/>
              <a:t>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to‘xtatilgach</a:t>
            </a:r>
            <a:r>
              <a:rPr lang="en-AU" dirty="0"/>
              <a:t>,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/>
              <a:t>algoritmini</a:t>
            </a:r>
            <a:r>
              <a:rPr lang="en-AU" dirty="0"/>
              <a:t> </a:t>
            </a:r>
            <a:r>
              <a:rPr lang="en-AU" dirty="0" err="1"/>
              <a:t>qayta</a:t>
            </a:r>
            <a:r>
              <a:rPr lang="en-AU" dirty="0"/>
              <a:t> </a:t>
            </a:r>
            <a:r>
              <a:rPr lang="en-AU" dirty="0" err="1"/>
              <a:t>ishlatish</a:t>
            </a:r>
            <a:r>
              <a:rPr lang="en-AU" dirty="0"/>
              <a:t> </a:t>
            </a:r>
            <a:r>
              <a:rPr lang="en-AU" dirty="0" err="1"/>
              <a:t>kerak</a:t>
            </a:r>
            <a:r>
              <a:rPr lang="en-AU" dirty="0"/>
              <a:t> </a:t>
            </a:r>
            <a:r>
              <a:rPr lang="en-AU" dirty="0" err="1"/>
              <a:t>bo‘ladi</a:t>
            </a:r>
            <a:r>
              <a:rPr lang="en-AU" dirty="0"/>
              <a:t>.</a:t>
            </a:r>
            <a:endParaRPr lang="ru-RU" sz="1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4240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575375" cy="798576"/>
          </a:xfrm>
        </p:spPr>
        <p:txBody>
          <a:bodyPr>
            <a:normAutofit fontScale="90000"/>
          </a:bodyPr>
          <a:lstStyle/>
          <a:p>
            <a:r>
              <a:rPr lang="en-AU" b="1" dirty="0" err="1"/>
              <a:t>Resurslarni</a:t>
            </a:r>
            <a:r>
              <a:rPr lang="en-AU" b="1" dirty="0"/>
              <a:t> </a:t>
            </a:r>
            <a:r>
              <a:rPr lang="en-AU" b="1" dirty="0" err="1"/>
              <a:t>majburlab</a:t>
            </a:r>
            <a:r>
              <a:rPr lang="en-AU" b="1" dirty="0"/>
              <a:t> </a:t>
            </a:r>
            <a:r>
              <a:rPr lang="en-AU" b="1" dirty="0" err="1"/>
              <a:t>olish</a:t>
            </a:r>
            <a:r>
              <a:rPr lang="en-AU" b="1" dirty="0"/>
              <a:t> (Resource </a:t>
            </a:r>
            <a:r>
              <a:rPr lang="en-AU" b="1" dirty="0" err="1"/>
              <a:t>Preemption</a:t>
            </a:r>
            <a:r>
              <a:rPr lang="en-AU" b="1" dirty="0"/>
              <a:t>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255776"/>
            <a:ext cx="7746063" cy="4613212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Bu </a:t>
            </a:r>
            <a:r>
              <a:rPr lang="en-AU" dirty="0" err="1"/>
              <a:t>usulda</a:t>
            </a:r>
            <a:r>
              <a:rPr lang="en-AU" dirty="0"/>
              <a:t> </a:t>
            </a:r>
            <a:r>
              <a:rPr lang="en-AU" dirty="0" err="1"/>
              <a:t>ba’zi</a:t>
            </a:r>
            <a:r>
              <a:rPr lang="en-AU" dirty="0"/>
              <a:t> </a:t>
            </a:r>
            <a:r>
              <a:rPr lang="en-AU" dirty="0" err="1"/>
              <a:t>resurslar</a:t>
            </a:r>
            <a:r>
              <a:rPr lang="en-AU" dirty="0"/>
              <a:t> </a:t>
            </a:r>
            <a:r>
              <a:rPr lang="en-AU" b="1" dirty="0" err="1"/>
              <a:t>qulflangan</a:t>
            </a:r>
            <a:r>
              <a:rPr lang="en-AU" b="1" dirty="0"/>
              <a:t> </a:t>
            </a:r>
            <a:r>
              <a:rPr lang="en-AU" b="1" dirty="0" err="1"/>
              <a:t>jarayonlardan</a:t>
            </a:r>
            <a:r>
              <a:rPr lang="en-AU" b="1" dirty="0"/>
              <a:t> </a:t>
            </a:r>
            <a:r>
              <a:rPr lang="en-AU" b="1" dirty="0" err="1"/>
              <a:t>vaqtincha</a:t>
            </a:r>
            <a:r>
              <a:rPr lang="en-AU" b="1" dirty="0"/>
              <a:t> </a:t>
            </a:r>
            <a:r>
              <a:rPr lang="en-AU" b="1" dirty="0" err="1"/>
              <a:t>olib</a:t>
            </a:r>
            <a:r>
              <a:rPr lang="en-AU" b="1" dirty="0"/>
              <a:t> </a:t>
            </a:r>
            <a:r>
              <a:rPr lang="en-AU" b="1" dirty="0" err="1"/>
              <a:t>qo‘yiladi</a:t>
            </a:r>
            <a:r>
              <a:rPr lang="en-AU" dirty="0"/>
              <a:t> </a:t>
            </a:r>
            <a:r>
              <a:rPr lang="en-AU" dirty="0" err="1"/>
              <a:t>va</a:t>
            </a:r>
            <a:r>
              <a:rPr lang="en-AU" dirty="0"/>
              <a:t> </a:t>
            </a:r>
            <a:r>
              <a:rPr lang="en-AU" dirty="0" err="1"/>
              <a:t>ular</a:t>
            </a:r>
            <a:r>
              <a:rPr lang="en-AU" dirty="0"/>
              <a:t> </a:t>
            </a:r>
            <a:r>
              <a:rPr lang="en-AU" b="1" dirty="0" err="1"/>
              <a:t>boshqa</a:t>
            </a:r>
            <a:r>
              <a:rPr lang="en-AU" b="1" dirty="0"/>
              <a:t> </a:t>
            </a:r>
            <a:r>
              <a:rPr lang="en-AU" b="1" dirty="0" err="1"/>
              <a:t>jarayonlarga</a:t>
            </a:r>
            <a:r>
              <a:rPr lang="en-AU" b="1" dirty="0"/>
              <a:t> </a:t>
            </a:r>
            <a:r>
              <a:rPr lang="en-AU" b="1" dirty="0" err="1"/>
              <a:t>beriladi</a:t>
            </a:r>
            <a:r>
              <a:rPr lang="en-AU" dirty="0"/>
              <a:t>, </a:t>
            </a:r>
            <a:r>
              <a:rPr lang="en-AU" dirty="0" err="1"/>
              <a:t>toki</a:t>
            </a:r>
            <a:r>
              <a:rPr lang="en-AU" dirty="0"/>
              <a:t> </a:t>
            </a:r>
            <a:r>
              <a:rPr lang="en-AU" dirty="0" err="1"/>
              <a:t>qulflanish</a:t>
            </a:r>
            <a:r>
              <a:rPr lang="en-AU" dirty="0"/>
              <a:t> </a:t>
            </a:r>
            <a:r>
              <a:rPr lang="en-AU" dirty="0" err="1"/>
              <a:t>halqasi</a:t>
            </a:r>
            <a:r>
              <a:rPr lang="en-AU" dirty="0"/>
              <a:t> </a:t>
            </a:r>
            <a:r>
              <a:rPr lang="en-AU" dirty="0" err="1" smtClean="0"/>
              <a:t>buzilmaguncha</a:t>
            </a:r>
            <a:r>
              <a:rPr lang="en-AU" dirty="0" smtClean="0"/>
              <a:t>. Bu </a:t>
            </a:r>
            <a:r>
              <a:rPr lang="en-AU" dirty="0" err="1"/>
              <a:t>jarayonda</a:t>
            </a:r>
            <a:r>
              <a:rPr lang="en-AU" dirty="0"/>
              <a:t> </a:t>
            </a:r>
            <a:r>
              <a:rPr lang="en-AU" dirty="0" err="1"/>
              <a:t>uchta</a:t>
            </a:r>
            <a:r>
              <a:rPr lang="en-AU" dirty="0"/>
              <a:t> </a:t>
            </a:r>
            <a:r>
              <a:rPr lang="en-AU" dirty="0" err="1"/>
              <a:t>asosiy</a:t>
            </a:r>
            <a:r>
              <a:rPr lang="en-AU" dirty="0"/>
              <a:t> </a:t>
            </a:r>
            <a:r>
              <a:rPr lang="en-AU" dirty="0" err="1"/>
              <a:t>masalani</a:t>
            </a:r>
            <a:r>
              <a:rPr lang="en-AU" dirty="0"/>
              <a:t> </a:t>
            </a:r>
            <a:r>
              <a:rPr lang="en-AU" dirty="0" err="1"/>
              <a:t>hal</a:t>
            </a:r>
            <a:r>
              <a:rPr lang="en-AU" dirty="0"/>
              <a:t> </a:t>
            </a:r>
            <a:r>
              <a:rPr lang="en-AU" dirty="0" err="1"/>
              <a:t>qilish</a:t>
            </a:r>
            <a:r>
              <a:rPr lang="en-AU" dirty="0"/>
              <a:t> </a:t>
            </a:r>
            <a:r>
              <a:rPr lang="en-AU" dirty="0" err="1"/>
              <a:t>zarur</a:t>
            </a:r>
            <a:r>
              <a:rPr lang="en-AU" dirty="0"/>
              <a:t>:</a:t>
            </a:r>
            <a:endParaRPr lang="ru-RU" dirty="0"/>
          </a:p>
          <a:p>
            <a:r>
              <a:rPr lang="en-AU" b="1" dirty="0" smtClean="0"/>
              <a:t> </a:t>
            </a:r>
            <a:r>
              <a:rPr lang="en-AU" b="1" dirty="0" err="1"/>
              <a:t>Qurbonni</a:t>
            </a:r>
            <a:r>
              <a:rPr lang="en-AU" b="1" dirty="0"/>
              <a:t> </a:t>
            </a:r>
            <a:r>
              <a:rPr lang="en-AU" b="1" dirty="0" err="1"/>
              <a:t>tanlash</a:t>
            </a:r>
            <a:r>
              <a:rPr lang="en-AU" b="1" dirty="0"/>
              <a:t> (Selecting a victim)</a:t>
            </a:r>
            <a:endParaRPr lang="ru-RU" dirty="0"/>
          </a:p>
          <a:p>
            <a:pPr lvl="0"/>
            <a:r>
              <a:rPr lang="en-AU" dirty="0" err="1"/>
              <a:t>Qaysi</a:t>
            </a:r>
            <a:r>
              <a:rPr lang="en-AU" dirty="0"/>
              <a:t>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yoki</a:t>
            </a:r>
            <a:r>
              <a:rPr lang="en-AU" dirty="0"/>
              <a:t> </a:t>
            </a:r>
            <a:r>
              <a:rPr lang="en-AU" dirty="0" err="1"/>
              <a:t>resurs</a:t>
            </a:r>
            <a:r>
              <a:rPr lang="en-AU" dirty="0"/>
              <a:t> </a:t>
            </a:r>
            <a:r>
              <a:rPr lang="en-AU" b="1" dirty="0" err="1"/>
              <a:t>bloklanadi</a:t>
            </a:r>
            <a:r>
              <a:rPr lang="en-AU" b="1" dirty="0"/>
              <a:t> </a:t>
            </a:r>
            <a:r>
              <a:rPr lang="en-AU" b="1" dirty="0" err="1"/>
              <a:t>yoki</a:t>
            </a:r>
            <a:r>
              <a:rPr lang="en-AU" b="1" dirty="0"/>
              <a:t> </a:t>
            </a:r>
            <a:r>
              <a:rPr lang="en-AU" b="1" dirty="0" err="1"/>
              <a:t>tortib</a:t>
            </a:r>
            <a:r>
              <a:rPr lang="en-AU" b="1" dirty="0"/>
              <a:t> </a:t>
            </a:r>
            <a:r>
              <a:rPr lang="en-AU" b="1" dirty="0" err="1"/>
              <a:t>olinadi</a:t>
            </a:r>
            <a:r>
              <a:rPr lang="en-AU" dirty="0"/>
              <a:t> — </a:t>
            </a:r>
            <a:r>
              <a:rPr lang="en-AU" dirty="0" err="1"/>
              <a:t>shuni</a:t>
            </a:r>
            <a:r>
              <a:rPr lang="en-AU" dirty="0"/>
              <a:t> </a:t>
            </a:r>
            <a:r>
              <a:rPr lang="en-AU" dirty="0" err="1"/>
              <a:t>aniqlash</a:t>
            </a:r>
            <a:r>
              <a:rPr lang="en-AU" dirty="0"/>
              <a:t> </a:t>
            </a:r>
            <a:r>
              <a:rPr lang="en-AU" dirty="0" err="1" smtClean="0"/>
              <a:t>kerak</a:t>
            </a:r>
            <a:r>
              <a:rPr lang="en-AU" dirty="0" smtClean="0"/>
              <a:t>. </a:t>
            </a:r>
            <a:r>
              <a:rPr lang="en-AU" dirty="0" err="1" smtClean="0"/>
              <a:t>Preemtsiya</a:t>
            </a:r>
            <a:r>
              <a:rPr lang="en-AU" dirty="0" smtClean="0"/>
              <a:t> </a:t>
            </a:r>
            <a:r>
              <a:rPr lang="en-AU" dirty="0" err="1"/>
              <a:t>tartibi</a:t>
            </a:r>
            <a:r>
              <a:rPr lang="en-AU" dirty="0"/>
              <a:t> </a:t>
            </a:r>
            <a:r>
              <a:rPr lang="en-AU" b="1" dirty="0" err="1"/>
              <a:t>xarajatlarni</a:t>
            </a:r>
            <a:r>
              <a:rPr lang="en-AU" b="1" dirty="0"/>
              <a:t> </a:t>
            </a:r>
            <a:r>
              <a:rPr lang="en-AU" b="1" dirty="0" err="1"/>
              <a:t>minimallashtirish</a:t>
            </a:r>
            <a:r>
              <a:rPr lang="en-AU" dirty="0"/>
              <a:t> </a:t>
            </a:r>
            <a:r>
              <a:rPr lang="en-AU" dirty="0" err="1"/>
              <a:t>asosida</a:t>
            </a:r>
            <a:r>
              <a:rPr lang="en-AU" dirty="0"/>
              <a:t> </a:t>
            </a:r>
            <a:r>
              <a:rPr lang="en-AU" dirty="0" err="1"/>
              <a:t>belgilanadi</a:t>
            </a:r>
            <a:r>
              <a:rPr lang="en-AU" dirty="0"/>
              <a:t>.</a:t>
            </a:r>
            <a:endParaRPr lang="ru-RU" dirty="0"/>
          </a:p>
          <a:p>
            <a:r>
              <a:rPr lang="ru-RU" b="1" dirty="0" err="1"/>
              <a:t>Xarajat</a:t>
            </a:r>
            <a:r>
              <a:rPr lang="ru-RU" b="1" dirty="0"/>
              <a:t> </a:t>
            </a:r>
            <a:r>
              <a:rPr lang="ru-RU" b="1" dirty="0" err="1"/>
              <a:t>omillari</a:t>
            </a:r>
            <a:r>
              <a:rPr lang="ru-RU" b="1" dirty="0"/>
              <a:t> </a:t>
            </a:r>
            <a:r>
              <a:rPr lang="ru-RU" b="1" dirty="0" err="1"/>
              <a:t>quyidagilardan</a:t>
            </a:r>
            <a:r>
              <a:rPr lang="ru-RU" b="1" dirty="0"/>
              <a:t> </a:t>
            </a:r>
            <a:r>
              <a:rPr lang="ru-RU" b="1" dirty="0" err="1"/>
              <a:t>iborat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en-AU" dirty="0" err="1"/>
              <a:t>Qulflangan</a:t>
            </a:r>
            <a:r>
              <a:rPr lang="en-AU" dirty="0"/>
              <a:t> </a:t>
            </a:r>
            <a:r>
              <a:rPr lang="en-AU" dirty="0" err="1"/>
              <a:t>jarayonning</a:t>
            </a:r>
            <a:r>
              <a:rPr lang="en-AU" dirty="0"/>
              <a:t> </a:t>
            </a:r>
            <a:r>
              <a:rPr lang="en-AU" dirty="0" err="1"/>
              <a:t>hisoblash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sarflagan</a:t>
            </a:r>
            <a:r>
              <a:rPr lang="en-AU" dirty="0"/>
              <a:t> </a:t>
            </a:r>
            <a:r>
              <a:rPr lang="en-AU" dirty="0" err="1" smtClean="0"/>
              <a:t>vaqti</a:t>
            </a:r>
            <a:r>
              <a:rPr lang="en-AU" dirty="0" smtClean="0"/>
              <a:t>. </a:t>
            </a:r>
            <a:r>
              <a:rPr lang="en-AU" dirty="0" err="1" smtClean="0"/>
              <a:t>Ushbu</a:t>
            </a:r>
            <a:r>
              <a:rPr lang="en-AU" dirty="0" smtClean="0"/>
              <a:t>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foydalanayotgan</a:t>
            </a:r>
            <a:r>
              <a:rPr lang="en-AU" dirty="0"/>
              <a:t> </a:t>
            </a:r>
            <a:r>
              <a:rPr lang="en-AU" dirty="0" err="1"/>
              <a:t>resurslar</a:t>
            </a:r>
            <a:r>
              <a:rPr lang="en-AU" dirty="0"/>
              <a:t> </a:t>
            </a:r>
            <a:r>
              <a:rPr lang="en-AU" dirty="0" err="1" smtClean="0"/>
              <a:t>soni</a:t>
            </a:r>
            <a:r>
              <a:rPr lang="en-AU" dirty="0" smtClean="0"/>
              <a:t>. </a:t>
            </a:r>
            <a:r>
              <a:rPr lang="en-AU" dirty="0" err="1" smtClean="0"/>
              <a:t>Resursni</a:t>
            </a:r>
            <a:r>
              <a:rPr lang="en-AU" dirty="0" smtClean="0"/>
              <a:t> </a:t>
            </a:r>
            <a:r>
              <a:rPr lang="en-AU" dirty="0" err="1"/>
              <a:t>qayta</a:t>
            </a:r>
            <a:r>
              <a:rPr lang="en-AU" dirty="0"/>
              <a:t> </a:t>
            </a:r>
            <a:r>
              <a:rPr lang="en-AU" dirty="0" err="1"/>
              <a:t>taqsimlash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kerak</a:t>
            </a:r>
            <a:r>
              <a:rPr lang="en-AU" dirty="0"/>
              <a:t> </a:t>
            </a:r>
            <a:r>
              <a:rPr lang="en-AU" dirty="0" err="1"/>
              <a:t>bo‘ladigan</a:t>
            </a:r>
            <a:r>
              <a:rPr lang="en-AU" dirty="0"/>
              <a:t> </a:t>
            </a:r>
            <a:r>
              <a:rPr lang="en-AU" dirty="0" err="1" smtClean="0"/>
              <a:t>vaqt</a:t>
            </a:r>
            <a:r>
              <a:rPr lang="en-AU" dirty="0" smtClean="0"/>
              <a:t>. </a:t>
            </a:r>
            <a:r>
              <a:rPr lang="en-AU" dirty="0" err="1" smtClean="0"/>
              <a:t>Jarayonni</a:t>
            </a:r>
            <a:r>
              <a:rPr lang="en-AU" dirty="0" smtClean="0"/>
              <a:t> </a:t>
            </a:r>
            <a:r>
              <a:rPr lang="en-AU" dirty="0" err="1"/>
              <a:t>qayta</a:t>
            </a:r>
            <a:r>
              <a:rPr lang="en-AU" dirty="0"/>
              <a:t> </a:t>
            </a:r>
            <a:r>
              <a:rPr lang="en-AU" dirty="0" err="1"/>
              <a:t>ishga</a:t>
            </a:r>
            <a:r>
              <a:rPr lang="en-AU" dirty="0"/>
              <a:t> </a:t>
            </a:r>
            <a:r>
              <a:rPr lang="en-AU" dirty="0" err="1"/>
              <a:t>tushirishdan</a:t>
            </a:r>
            <a:r>
              <a:rPr lang="en-AU" dirty="0"/>
              <a:t> </a:t>
            </a:r>
            <a:r>
              <a:rPr lang="en-AU" dirty="0" err="1"/>
              <a:t>keyingi</a:t>
            </a:r>
            <a:r>
              <a:rPr lang="en-AU" dirty="0"/>
              <a:t> </a:t>
            </a:r>
            <a:r>
              <a:rPr lang="en-AU" dirty="0" err="1"/>
              <a:t>tiklanish</a:t>
            </a:r>
            <a:r>
              <a:rPr lang="en-AU" dirty="0"/>
              <a:t> </a:t>
            </a:r>
            <a:r>
              <a:rPr lang="en-AU" dirty="0" err="1"/>
              <a:t>xarajatlari</a:t>
            </a:r>
            <a:r>
              <a:rPr lang="en-AU" dirty="0"/>
              <a:t>.</a:t>
            </a:r>
            <a:endParaRPr lang="ru-RU" dirty="0"/>
          </a:p>
          <a:p>
            <a:r>
              <a:rPr lang="ru-RU" b="1" dirty="0" err="1" smtClean="0"/>
              <a:t>Davomiylikni</a:t>
            </a:r>
            <a:r>
              <a:rPr lang="ru-RU" b="1" dirty="0" smtClean="0"/>
              <a:t> </a:t>
            </a:r>
            <a:r>
              <a:rPr lang="ru-RU" b="1" dirty="0" err="1"/>
              <a:t>saqlash</a:t>
            </a:r>
            <a:r>
              <a:rPr lang="ru-RU" b="1" dirty="0"/>
              <a:t> (</a:t>
            </a:r>
            <a:r>
              <a:rPr lang="ru-RU" b="1" dirty="0" err="1"/>
              <a:t>Rollback</a:t>
            </a:r>
            <a:r>
              <a:rPr lang="ru-RU" b="1" dirty="0"/>
              <a:t>)</a:t>
            </a:r>
            <a:endParaRPr lang="ru-RU" dirty="0"/>
          </a:p>
          <a:p>
            <a:pPr lvl="0"/>
            <a:r>
              <a:rPr lang="en-AU" dirty="0"/>
              <a:t>Agar </a:t>
            </a:r>
            <a:r>
              <a:rPr lang="en-AU" dirty="0" err="1"/>
              <a:t>jarayon</a:t>
            </a:r>
            <a:r>
              <a:rPr lang="en-AU" dirty="0"/>
              <a:t> </a:t>
            </a:r>
            <a:r>
              <a:rPr lang="en-AU" dirty="0" err="1"/>
              <a:t>resursdan</a:t>
            </a:r>
            <a:r>
              <a:rPr lang="en-AU" dirty="0"/>
              <a:t> </a:t>
            </a:r>
            <a:r>
              <a:rPr lang="en-AU" dirty="0" err="1"/>
              <a:t>mahrum</a:t>
            </a:r>
            <a:r>
              <a:rPr lang="en-AU" dirty="0"/>
              <a:t> </a:t>
            </a:r>
            <a:r>
              <a:rPr lang="en-AU" dirty="0" err="1"/>
              <a:t>qilinsa</a:t>
            </a:r>
            <a:r>
              <a:rPr lang="en-AU" dirty="0"/>
              <a:t>, u </a:t>
            </a:r>
            <a:r>
              <a:rPr lang="en-AU" b="1" dirty="0" err="1"/>
              <a:t>oldingi</a:t>
            </a:r>
            <a:r>
              <a:rPr lang="en-AU" b="1" dirty="0"/>
              <a:t> </a:t>
            </a:r>
            <a:r>
              <a:rPr lang="en-AU" b="1" dirty="0" err="1"/>
              <a:t>xavfsiz</a:t>
            </a:r>
            <a:r>
              <a:rPr lang="en-AU" b="1" dirty="0"/>
              <a:t> </a:t>
            </a:r>
            <a:r>
              <a:rPr lang="en-AU" b="1" dirty="0" err="1"/>
              <a:t>holatga</a:t>
            </a:r>
            <a:r>
              <a:rPr lang="en-AU" b="1" dirty="0"/>
              <a:t> (checkpoint)</a:t>
            </a:r>
            <a:r>
              <a:rPr lang="en-AU" dirty="0"/>
              <a:t> </a:t>
            </a:r>
            <a:r>
              <a:rPr lang="en-AU" dirty="0" err="1"/>
              <a:t>qaytarilishi</a:t>
            </a:r>
            <a:r>
              <a:rPr lang="en-AU" dirty="0"/>
              <a:t> </a:t>
            </a:r>
            <a:r>
              <a:rPr lang="en-AU" dirty="0" err="1"/>
              <a:t>kerak</a:t>
            </a:r>
            <a:r>
              <a:rPr lang="en-AU" dirty="0"/>
              <a:t>.</a:t>
            </a:r>
            <a:endParaRPr lang="ru-RU" dirty="0"/>
          </a:p>
          <a:p>
            <a:pPr lvl="0"/>
            <a:r>
              <a:rPr lang="en-AU" dirty="0" err="1"/>
              <a:t>Buning</a:t>
            </a:r>
            <a:r>
              <a:rPr lang="en-AU" dirty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dirty="0" err="1"/>
              <a:t>jarayonning</a:t>
            </a:r>
            <a:r>
              <a:rPr lang="en-AU" dirty="0"/>
              <a:t> </a:t>
            </a:r>
            <a:r>
              <a:rPr lang="en-AU" b="1" dirty="0"/>
              <a:t>checkpoint</a:t>
            </a:r>
            <a:r>
              <a:rPr lang="en-AU" dirty="0"/>
              <a:t> </a:t>
            </a:r>
            <a:r>
              <a:rPr lang="en-AU" dirty="0" err="1"/>
              <a:t>ma’lumotlarini</a:t>
            </a:r>
            <a:r>
              <a:rPr lang="en-AU" dirty="0"/>
              <a:t> </a:t>
            </a:r>
            <a:r>
              <a:rPr lang="en-AU" dirty="0" err="1"/>
              <a:t>saqlab</a:t>
            </a:r>
            <a:r>
              <a:rPr lang="en-AU" dirty="0"/>
              <a:t> </a:t>
            </a:r>
            <a:r>
              <a:rPr lang="en-AU" dirty="0" err="1"/>
              <a:t>turadi</a:t>
            </a:r>
            <a:r>
              <a:rPr lang="en-AU" dirty="0"/>
              <a:t>.</a:t>
            </a:r>
            <a:endParaRPr lang="ru-RU" dirty="0"/>
          </a:p>
          <a:p>
            <a:r>
              <a:rPr lang="ru-RU" b="1" dirty="0" err="1" smtClean="0"/>
              <a:t>Och</a:t>
            </a:r>
            <a:r>
              <a:rPr lang="ru-RU" b="1" dirty="0" smtClean="0"/>
              <a:t> </a:t>
            </a:r>
            <a:r>
              <a:rPr lang="ru-RU" b="1" dirty="0" err="1"/>
              <a:t>qolishning</a:t>
            </a:r>
            <a:r>
              <a:rPr lang="ru-RU" b="1" dirty="0"/>
              <a:t> (</a:t>
            </a:r>
            <a:r>
              <a:rPr lang="ru-RU" b="1" dirty="0" err="1"/>
              <a:t>Starvation</a:t>
            </a:r>
            <a:r>
              <a:rPr lang="ru-RU" b="1" dirty="0"/>
              <a:t>) </a:t>
            </a:r>
            <a:r>
              <a:rPr lang="ru-RU" b="1" dirty="0" err="1"/>
              <a:t>oldini</a:t>
            </a:r>
            <a:r>
              <a:rPr lang="ru-RU" b="1" dirty="0"/>
              <a:t> </a:t>
            </a:r>
            <a:r>
              <a:rPr lang="ru-RU" b="1" dirty="0" err="1"/>
              <a:t>olish</a:t>
            </a:r>
            <a:endParaRPr lang="ru-RU" dirty="0"/>
          </a:p>
          <a:p>
            <a:pPr lvl="0"/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xil</a:t>
            </a:r>
            <a:r>
              <a:rPr lang="en-AU" dirty="0"/>
              <a:t> </a:t>
            </a:r>
            <a:r>
              <a:rPr lang="en-AU" dirty="0" err="1"/>
              <a:t>jarayonlar</a:t>
            </a:r>
            <a:r>
              <a:rPr lang="en-AU" dirty="0"/>
              <a:t> </a:t>
            </a:r>
            <a:r>
              <a:rPr lang="en-AU" dirty="0" err="1"/>
              <a:t>doimo</a:t>
            </a:r>
            <a:r>
              <a:rPr lang="en-AU" dirty="0"/>
              <a:t> </a:t>
            </a:r>
            <a:r>
              <a:rPr lang="en-AU" dirty="0" err="1"/>
              <a:t>qurbon</a:t>
            </a:r>
            <a:r>
              <a:rPr lang="en-AU" dirty="0"/>
              <a:t> </a:t>
            </a:r>
            <a:r>
              <a:rPr lang="en-AU" dirty="0" err="1"/>
              <a:t>bo‘lishi</a:t>
            </a:r>
            <a:r>
              <a:rPr lang="en-AU" dirty="0"/>
              <a:t> </a:t>
            </a:r>
            <a:r>
              <a:rPr lang="en-AU" dirty="0" err="1" smtClean="0"/>
              <a:t>mumkin.Shuning</a:t>
            </a:r>
            <a:r>
              <a:rPr lang="en-AU" dirty="0" smtClean="0"/>
              <a:t> </a:t>
            </a:r>
            <a:r>
              <a:rPr lang="en-AU" dirty="0" err="1"/>
              <a:t>uchun</a:t>
            </a:r>
            <a:r>
              <a:rPr lang="en-AU" dirty="0"/>
              <a:t> </a:t>
            </a:r>
            <a:r>
              <a:rPr lang="en-AU" dirty="0" err="1"/>
              <a:t>tizim</a:t>
            </a:r>
            <a:r>
              <a:rPr lang="en-AU" dirty="0"/>
              <a:t> </a:t>
            </a:r>
            <a:r>
              <a:rPr lang="en-AU" dirty="0" err="1"/>
              <a:t>preemtsiya</a:t>
            </a:r>
            <a:r>
              <a:rPr lang="en-AU" dirty="0"/>
              <a:t> </a:t>
            </a:r>
            <a:r>
              <a:rPr lang="en-AU" dirty="0" err="1"/>
              <a:t>sonini</a:t>
            </a:r>
            <a:r>
              <a:rPr lang="en-AU" dirty="0"/>
              <a:t> </a:t>
            </a:r>
            <a:r>
              <a:rPr lang="en-AU" dirty="0" err="1"/>
              <a:t>kuzatadi</a:t>
            </a:r>
            <a:r>
              <a:rPr lang="en-AU" dirty="0"/>
              <a:t> </a:t>
            </a:r>
            <a:r>
              <a:rPr lang="en-AU" dirty="0" err="1"/>
              <a:t>va</a:t>
            </a:r>
            <a:r>
              <a:rPr lang="en-AU" dirty="0"/>
              <a:t> </a:t>
            </a:r>
            <a:r>
              <a:rPr lang="en-AU" b="1" dirty="0" err="1"/>
              <a:t>adolatli</a:t>
            </a:r>
            <a:r>
              <a:rPr lang="en-AU" b="1" dirty="0"/>
              <a:t> </a:t>
            </a:r>
            <a:r>
              <a:rPr lang="en-AU" b="1" dirty="0" err="1"/>
              <a:t>navbat</a:t>
            </a:r>
            <a:r>
              <a:rPr lang="en-AU" dirty="0"/>
              <a:t> </a:t>
            </a:r>
            <a:r>
              <a:rPr lang="en-AU" dirty="0" err="1"/>
              <a:t>mexanizmini</a:t>
            </a:r>
            <a:r>
              <a:rPr lang="en-AU" dirty="0"/>
              <a:t> </a:t>
            </a:r>
            <a:r>
              <a:rPr lang="en-AU" dirty="0" err="1"/>
              <a:t>qo‘llaydi</a:t>
            </a:r>
            <a:r>
              <a:rPr lang="en-AU" dirty="0"/>
              <a:t>, </a:t>
            </a:r>
            <a:r>
              <a:rPr lang="en-AU" dirty="0" err="1"/>
              <a:t>shunda</a:t>
            </a:r>
            <a:r>
              <a:rPr lang="en-AU" dirty="0"/>
              <a:t> </a:t>
            </a:r>
            <a:r>
              <a:rPr lang="en-AU" dirty="0" err="1"/>
              <a:t>bir</a:t>
            </a:r>
            <a:r>
              <a:rPr lang="en-AU" dirty="0"/>
              <a:t> </a:t>
            </a:r>
            <a:r>
              <a:rPr lang="en-AU" dirty="0" err="1"/>
              <a:t>jarayonni</a:t>
            </a:r>
            <a:r>
              <a:rPr lang="en-AU" dirty="0"/>
              <a:t> </a:t>
            </a:r>
            <a:r>
              <a:rPr lang="en-AU" dirty="0" err="1"/>
              <a:t>ko‘p</a:t>
            </a:r>
            <a:r>
              <a:rPr lang="en-AU" dirty="0"/>
              <a:t> </a:t>
            </a:r>
            <a:r>
              <a:rPr lang="en-AU" dirty="0" err="1"/>
              <a:t>marta</a:t>
            </a:r>
            <a:r>
              <a:rPr lang="en-AU" dirty="0"/>
              <a:t> </a:t>
            </a:r>
            <a:r>
              <a:rPr lang="en-AU" dirty="0" err="1"/>
              <a:t>qurbon</a:t>
            </a:r>
            <a:r>
              <a:rPr lang="en-AU" dirty="0"/>
              <a:t> </a:t>
            </a:r>
            <a:r>
              <a:rPr lang="en-AU" dirty="0" err="1"/>
              <a:t>qilishga</a:t>
            </a:r>
            <a:r>
              <a:rPr lang="en-AU" dirty="0"/>
              <a:t> </a:t>
            </a:r>
            <a:r>
              <a:rPr lang="en-AU" dirty="0" err="1"/>
              <a:t>yo‘l</a:t>
            </a:r>
            <a:r>
              <a:rPr lang="en-AU" dirty="0"/>
              <a:t> </a:t>
            </a:r>
            <a:r>
              <a:rPr lang="en-AU" dirty="0" err="1"/>
              <a:t>qo‘yilmaydi</a:t>
            </a:r>
            <a:r>
              <a:rPr lang="en-AU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8249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7002351" cy="847344"/>
          </a:xfrm>
        </p:spPr>
        <p:txBody>
          <a:bodyPr/>
          <a:lstStyle/>
          <a:p>
            <a:r>
              <a:rPr lang="en-AU" dirty="0" err="1" smtClean="0"/>
              <a:t>Xulosa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0" y="1426464"/>
            <a:ext cx="6673167" cy="4442524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1261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6E875C-93B5-7C8E-DE0C-599E2281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0F132AFD-0A00-53E7-B6DA-0948933048F3}"/>
              </a:ext>
            </a:extLst>
          </p:cNvPr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6B6F0747-8875-3733-D184-4E59B3EBC1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60">
            <a:extLst>
              <a:ext uri="{FF2B5EF4-FFF2-40B4-BE49-F238E27FC236}">
                <a16:creationId xmlns="" xmlns:a16="http://schemas.microsoft.com/office/drawing/2014/main" id="{33FD8F4A-EF04-8202-2C49-7D92ED635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7" y="56580"/>
            <a:ext cx="1687159" cy="168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>
            <a:extLst>
              <a:ext uri="{FF2B5EF4-FFF2-40B4-BE49-F238E27FC236}">
                <a16:creationId xmlns="" xmlns:a16="http://schemas.microsoft.com/office/drawing/2014/main" id="{FC80317F-45F2-E64D-A27C-9897039B4333}"/>
              </a:ext>
            </a:extLst>
          </p:cNvPr>
          <p:cNvSpPr txBox="1"/>
          <p:nvPr/>
        </p:nvSpPr>
        <p:spPr>
          <a:xfrm>
            <a:off x="1861335" y="342900"/>
            <a:ext cx="710848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1" spc="179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2000" b="1" spc="179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="" xmlns:a16="http://schemas.microsoft.com/office/drawing/2014/main" id="{C46FBF78-A64F-0DB4-9098-2B4BB978AFAA}"/>
              </a:ext>
            </a:extLst>
          </p:cNvPr>
          <p:cNvCxnSpPr>
            <a:cxnSpLocks/>
          </p:cNvCxnSpPr>
          <p:nvPr/>
        </p:nvCxnSpPr>
        <p:spPr>
          <a:xfrm>
            <a:off x="1861335" y="1086313"/>
            <a:ext cx="728266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0" name="Рисунок 13" descr="Преподаватель">
            <a:extLst>
              <a:ext uri="{FF2B5EF4-FFF2-40B4-BE49-F238E27FC236}">
                <a16:creationId xmlns="" xmlns:a16="http://schemas.microsoft.com/office/drawing/2014/main" id="{B9A91F9D-EC38-3FFC-C421-4C400B0A33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715131"/>
            <a:ext cx="660029" cy="66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="" xmlns:a16="http://schemas.microsoft.com/office/drawing/2014/main" id="{C0C1909B-9A1C-FC2A-943E-2AD7373357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523" y="5604273"/>
            <a:ext cx="533479" cy="53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="" xmlns:a16="http://schemas.microsoft.com/office/drawing/2014/main" id="{BB59BAD0-0F4E-A542-2E05-340B46E0F524}"/>
              </a:ext>
            </a:extLst>
          </p:cNvPr>
          <p:cNvCxnSpPr>
            <a:cxnSpLocks/>
          </p:cNvCxnSpPr>
          <p:nvPr/>
        </p:nvCxnSpPr>
        <p:spPr>
          <a:xfrm>
            <a:off x="4808166" y="4730835"/>
            <a:ext cx="1" cy="16739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56A20F08-969A-4C06-BC2E-54C53606C1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51" r="13851"/>
          <a:stretch>
            <a:fillRect/>
          </a:stretch>
        </p:blipFill>
        <p:spPr>
          <a:xfrm>
            <a:off x="-762001" y="1743739"/>
            <a:ext cx="5487664" cy="5544842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5" name="TextBox 6">
            <a:extLst>
              <a:ext uri="{FF2B5EF4-FFF2-40B4-BE49-F238E27FC236}">
                <a16:creationId xmlns="" xmlns:a16="http://schemas.microsoft.com/office/drawing/2014/main" id="{7A2878DC-039A-8437-9963-92D4709FF15A}"/>
              </a:ext>
            </a:extLst>
          </p:cNvPr>
          <p:cNvSpPr txBox="1"/>
          <p:nvPr/>
        </p:nvSpPr>
        <p:spPr>
          <a:xfrm>
            <a:off x="2845462" y="1925566"/>
            <a:ext cx="564159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ru-RU" sz="4000" b="1" spc="61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E’TIBORINGIZ UCHUN RAXMAT!</a:t>
            </a:r>
            <a:endParaRPr lang="en-US" sz="4000" b="1" spc="61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91702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2474</TotalTime>
  <Words>1547</Words>
  <Application>Microsoft Office PowerPoint</Application>
  <PresentationFormat>Экран (4:3)</PresentationFormat>
  <Paragraphs>232</Paragraphs>
  <Slides>29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43" baseType="lpstr">
      <vt:lpstr>Arial Unicode MS</vt:lpstr>
      <vt:lpstr>Montserrat Medium</vt:lpstr>
      <vt:lpstr>Open Sans</vt:lpstr>
      <vt:lpstr>Poppins Bold</vt:lpstr>
      <vt:lpstr>SimSun</vt:lpstr>
      <vt:lpstr>Arial</vt:lpstr>
      <vt:lpstr>Bell MT</vt:lpstr>
      <vt:lpstr>Calibri</vt:lpstr>
      <vt:lpstr>Cambria</vt:lpstr>
      <vt:lpstr>Cambria Math</vt:lpstr>
      <vt:lpstr>Courier New</vt:lpstr>
      <vt:lpstr>Symbol</vt:lpstr>
      <vt:lpstr>Times New Roman</vt:lpstr>
      <vt:lpstr>Office Theme</vt:lpstr>
      <vt:lpstr>Презентация PowerPoint</vt:lpstr>
      <vt:lpstr>REJA</vt:lpstr>
      <vt:lpstr>Презентация PowerPoint</vt:lpstr>
      <vt:lpstr> Tizim modeli (System Model) </vt:lpstr>
      <vt:lpstr>Qulflanishni tavsiflash (Deadlock Characterization) </vt:lpstr>
      <vt:lpstr>Resurs taqsimlash grafigi (Resource Allocation Graph)</vt:lpstr>
      <vt:lpstr>Resurslarni taqsimlash grafiklari</vt:lpstr>
      <vt:lpstr>Qulflanishlarni boshqarish usullari (Methods for Handling Deadlocks)</vt:lpstr>
      <vt:lpstr>Qulflanishning oldini olish (Deadlock Prevention)</vt:lpstr>
      <vt:lpstr>Презентация PowerPoint</vt:lpstr>
      <vt:lpstr>Qulflanishni chetlab o‘tish (Deadlock Avoidance)</vt:lpstr>
      <vt:lpstr>Xavfsiz holat (Safe State)</vt:lpstr>
      <vt:lpstr>Презентация PowerPoint</vt:lpstr>
      <vt:lpstr>Презентация PowerPoint</vt:lpstr>
      <vt:lpstr>Презентация PowerPoint</vt:lpstr>
      <vt:lpstr>Banker algoritmi (Banker’s Algorithm)</vt:lpstr>
      <vt:lpstr>Презентация PowerPoint</vt:lpstr>
      <vt:lpstr>Презентация PowerPoint</vt:lpstr>
      <vt:lpstr>Qulflanishni aniqlash (Deadlock Detection)</vt:lpstr>
      <vt:lpstr>Har bir resurs turi uchun bitta nusxa (Single Instance of Each Resource Type)</vt:lpstr>
      <vt:lpstr>Agar kutish grafigi tsiklni o'z ichiga olgan bo'lsa, tizimda blokirovka mavjud bo'ladi. Deadlocklarni aniqlash uchun tizimga kerak→ kutish grafigini saqlang va→ davriy ravishda grafikdagi siklni qidiradigan algoritmni bajaring.</vt:lpstr>
      <vt:lpstr>Har bir resurs turidan bir nechta nusxalar mavjud bo‘lganda (Several Instances of a Resource Type)</vt:lpstr>
      <vt:lpstr>Qulflanishni aniqlash algoritmidan foydalanish (Detection Algorithm Usage)</vt:lpstr>
      <vt:lpstr>Qulflanishni aniqlash algoritmi (Detection Algorithm) </vt:lpstr>
      <vt:lpstr>Qulflanishdan tiklanish (Recovery from Deadlock)</vt:lpstr>
      <vt:lpstr>Jarayonni tugatish (Process Termination)</vt:lpstr>
      <vt:lpstr>Resurslarni majburlab olish (Resource Preemption)</vt:lpstr>
      <vt:lpstr>Xulosa</vt:lpstr>
      <vt:lpstr>Презентация PowerPoint</vt:lpstr>
    </vt:vector>
  </TitlesOfParts>
  <Company>PJSC "New Engineering Technologies"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Markasian, Pavel (KIEVH)</dc:creator>
  <cp:lastModifiedBy>Microsoft</cp:lastModifiedBy>
  <cp:revision>197</cp:revision>
  <dcterms:created xsi:type="dcterms:W3CDTF">2016-11-18T14:12:19Z</dcterms:created>
  <dcterms:modified xsi:type="dcterms:W3CDTF">2025-10-31T11:23:44Z</dcterms:modified>
</cp:coreProperties>
</file>