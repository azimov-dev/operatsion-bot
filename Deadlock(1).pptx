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58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A7D5-0C02-498E-8383-EA994391EA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C94E93B-4273-4B86-AFEC-B01F95FEE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556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A7D5-0C02-498E-8383-EA994391EA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4E93B-4273-4B86-AFEC-B01F95FEE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7106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C75A7D5-0C02-498E-8383-EA994391EA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C94E93B-4273-4B86-AFEC-B01F95FEE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910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A7D5-0C02-498E-8383-EA994391EA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4E93B-4273-4B86-AFEC-B01F95FEE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910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A7D5-0C02-498E-8383-EA994391EA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4E93B-4273-4B86-AFEC-B01F95FEE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520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A7D5-0C02-498E-8383-EA994391EA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4E93B-4273-4B86-AFEC-B01F95FEE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1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A7D5-0C02-498E-8383-EA994391EA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4E93B-4273-4B86-AFEC-B01F95FEE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255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A7D5-0C02-498E-8383-EA994391EA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4E93B-4273-4B86-AFEC-B01F95FEE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39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A7D5-0C02-498E-8383-EA994391EA93}" type="datetimeFigureOut">
              <a:rPr lang="ru-RU" smtClean="0"/>
              <a:t>30.10.2025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4E93B-4273-4B86-AFEC-B01F95FEE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727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A7D5-0C02-498E-8383-EA994391EA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4E93B-4273-4B86-AFEC-B01F95FEE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152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A7D5-0C02-498E-8383-EA994391EA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4E93B-4273-4B86-AFEC-B01F95FEE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751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DC75A7D5-0C02-498E-8383-EA994391EA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C94E93B-4273-4B86-AFEC-B01F95FEE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98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270609" cy="2956897"/>
          </a:xfrm>
        </p:spPr>
        <p:txBody>
          <a:bodyPr/>
          <a:lstStyle/>
          <a:p>
            <a:r>
              <a:rPr lang="en-US" sz="6600" dirty="0">
                <a:solidFill>
                  <a:srgbClr val="C00000"/>
                </a:solidFill>
              </a:rPr>
              <a:t>MAVZU: </a:t>
            </a:r>
            <a:r>
              <a:rPr lang="sv-SE" sz="6600" dirty="0"/>
              <a:t>Tupiklar (Deadlock) va ularni oldini olish</a:t>
            </a:r>
            <a:endParaRPr lang="ru-RU" sz="6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51560" y="4897315"/>
            <a:ext cx="7909560" cy="561652"/>
          </a:xfrm>
        </p:spPr>
        <p:txBody>
          <a:bodyPr/>
          <a:lstStyle/>
          <a:p>
            <a:r>
              <a:rPr lang="en-US" i="1" dirty="0"/>
              <a:t> Create by Nurullayev </a:t>
            </a:r>
            <a:r>
              <a:rPr lang="en-US" i="1" dirty="0" err="1"/>
              <a:t>Sardor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177150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/>
              <a:t>Reja</a:t>
            </a:r>
            <a:r>
              <a:rPr lang="en-US" sz="4800" dirty="0"/>
              <a:t>:</a:t>
            </a:r>
            <a:endParaRPr lang="ru-RU" sz="4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Tupik</a:t>
            </a:r>
            <a:r>
              <a:rPr lang="en-US" sz="2400" dirty="0"/>
              <a:t> (Deadlock) </a:t>
            </a:r>
            <a:r>
              <a:rPr lang="en-US" sz="2400" dirty="0" err="1"/>
              <a:t>tushunchasi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Deadlockning</a:t>
            </a:r>
            <a:r>
              <a:rPr lang="en-US" sz="2400" dirty="0"/>
              <a:t> </a:t>
            </a:r>
            <a:r>
              <a:rPr lang="en-US" sz="2400" dirty="0" err="1"/>
              <a:t>to‘rtta</a:t>
            </a:r>
            <a:r>
              <a:rPr lang="en-US" sz="2400" dirty="0"/>
              <a:t> </a:t>
            </a:r>
            <a:r>
              <a:rPr lang="en-US" sz="2400" dirty="0" err="1"/>
              <a:t>zaruriy</a:t>
            </a:r>
            <a:r>
              <a:rPr lang="en-US" sz="2400" dirty="0"/>
              <a:t> </a:t>
            </a:r>
            <a:r>
              <a:rPr lang="en-US" sz="2400" dirty="0" err="1"/>
              <a:t>sharti</a:t>
            </a:r>
            <a:r>
              <a:rPr lang="en-US" sz="2400" dirty="0"/>
              <a:t> (Coffman conditions)</a:t>
            </a:r>
          </a:p>
          <a:p>
            <a:r>
              <a:rPr lang="it-IT" sz="2400" dirty="0"/>
              <a:t>Deadlock turlari va aniqlash modellari</a:t>
            </a:r>
          </a:p>
          <a:p>
            <a:r>
              <a:rPr lang="en-US" sz="2400" dirty="0" err="1"/>
              <a:t>Deadlockni</a:t>
            </a:r>
            <a:r>
              <a:rPr lang="en-US" sz="2400" dirty="0"/>
              <a:t> </a:t>
            </a:r>
            <a:r>
              <a:rPr lang="en-US" sz="2400" dirty="0" err="1"/>
              <a:t>oldini</a:t>
            </a:r>
            <a:r>
              <a:rPr lang="en-US" sz="2400" dirty="0"/>
              <a:t> </a:t>
            </a:r>
            <a:r>
              <a:rPr lang="en-US" sz="2400" dirty="0" err="1"/>
              <a:t>olish</a:t>
            </a:r>
            <a:r>
              <a:rPr lang="en-US" sz="2400" dirty="0"/>
              <a:t> </a:t>
            </a:r>
            <a:r>
              <a:rPr lang="en-US" sz="2400" dirty="0" err="1"/>
              <a:t>usullari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Deadlockni</a:t>
            </a:r>
            <a:r>
              <a:rPr lang="en-US" sz="2400" dirty="0"/>
              <a:t> </a:t>
            </a:r>
            <a:r>
              <a:rPr lang="en-US" sz="2400" dirty="0" err="1"/>
              <a:t>aniqlash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undan</a:t>
            </a:r>
            <a:r>
              <a:rPr lang="en-US" sz="2400" dirty="0"/>
              <a:t> </a:t>
            </a:r>
            <a:r>
              <a:rPr lang="en-US" sz="2400" dirty="0" err="1"/>
              <a:t>chiqish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Hayotiy</a:t>
            </a:r>
            <a:r>
              <a:rPr lang="en-US" sz="2400" dirty="0"/>
              <a:t> </a:t>
            </a:r>
            <a:r>
              <a:rPr lang="en-US" sz="2400" dirty="0" err="1"/>
              <a:t>misollar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xulosa</a:t>
            </a:r>
            <a:r>
              <a:rPr lang="en-US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15163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90199" y="812624"/>
            <a:ext cx="4817695" cy="618610"/>
          </a:xfrm>
        </p:spPr>
        <p:txBody>
          <a:bodyPr>
            <a:noAutofit/>
          </a:bodyPr>
          <a:lstStyle/>
          <a:p>
            <a:r>
              <a:rPr lang="en-US" sz="3200" dirty="0" err="1"/>
              <a:t>Tupik</a:t>
            </a:r>
            <a:r>
              <a:rPr lang="en-US" sz="3200" dirty="0"/>
              <a:t> (Deadlock) </a:t>
            </a:r>
            <a:r>
              <a:rPr lang="en-US" sz="3200" dirty="0" err="1"/>
              <a:t>tushunchasi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7" y="1779104"/>
            <a:ext cx="10058400" cy="427382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/>
              <a:t>   </a:t>
            </a:r>
            <a:r>
              <a:rPr lang="en-US" b="1" dirty="0" err="1"/>
              <a:t>Tupik</a:t>
            </a:r>
            <a:r>
              <a:rPr lang="en-US" b="1" dirty="0"/>
              <a:t> (Deadlock)</a:t>
            </a:r>
            <a:r>
              <a:rPr lang="en-US" dirty="0"/>
              <a:t> —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operatsion</a:t>
            </a:r>
            <a:r>
              <a:rPr lang="en-US" dirty="0"/>
              <a:t> </a:t>
            </a:r>
            <a:r>
              <a:rPr lang="en-US" dirty="0" err="1"/>
              <a:t>tizimda</a:t>
            </a:r>
            <a:r>
              <a:rPr lang="en-US" dirty="0"/>
              <a:t> </a:t>
            </a:r>
            <a:r>
              <a:rPr lang="en-US" dirty="0" err="1"/>
              <a:t>ikki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undan</a:t>
            </a:r>
            <a:r>
              <a:rPr lang="en-US" dirty="0"/>
              <a:t> </a:t>
            </a:r>
            <a:r>
              <a:rPr lang="en-US" dirty="0" err="1"/>
              <a:t>ortiq</a:t>
            </a:r>
            <a:r>
              <a:rPr lang="en-US" dirty="0"/>
              <a:t> </a:t>
            </a:r>
            <a:r>
              <a:rPr lang="en-US" dirty="0" err="1"/>
              <a:t>jarayonlar</a:t>
            </a:r>
            <a:r>
              <a:rPr lang="en-US" dirty="0"/>
              <a:t> (</a:t>
            </a:r>
            <a:r>
              <a:rPr lang="en-US" dirty="0" err="1"/>
              <a:t>processlar</a:t>
            </a:r>
            <a:r>
              <a:rPr lang="en-US" dirty="0"/>
              <a:t>) </a:t>
            </a:r>
            <a:r>
              <a:rPr lang="en-US" b="1" dirty="0" err="1"/>
              <a:t>bir-biridan</a:t>
            </a:r>
            <a:r>
              <a:rPr lang="en-US" b="1" dirty="0"/>
              <a:t> </a:t>
            </a:r>
            <a:r>
              <a:rPr lang="en-US" b="1" dirty="0" err="1"/>
              <a:t>resurs</a:t>
            </a:r>
            <a:r>
              <a:rPr lang="en-US" b="1" dirty="0"/>
              <a:t> </a:t>
            </a:r>
            <a:r>
              <a:rPr lang="en-US" b="1" dirty="0" err="1"/>
              <a:t>kutib</a:t>
            </a:r>
            <a:r>
              <a:rPr lang="en-US" b="1" dirty="0"/>
              <a:t> </a:t>
            </a:r>
            <a:r>
              <a:rPr lang="en-US" b="1" dirty="0" err="1"/>
              <a:t>qolib</a:t>
            </a:r>
            <a:r>
              <a:rPr lang="en-US" dirty="0"/>
              <a:t>, </a:t>
            </a:r>
            <a:r>
              <a:rPr lang="en-US" b="1" dirty="0" err="1"/>
              <a:t>hech</a:t>
            </a:r>
            <a:r>
              <a:rPr lang="en-US" b="1" dirty="0"/>
              <a:t> </a:t>
            </a:r>
            <a:r>
              <a:rPr lang="en-US" b="1" dirty="0" err="1"/>
              <a:t>biri</a:t>
            </a:r>
            <a:r>
              <a:rPr lang="en-US" b="1" dirty="0"/>
              <a:t> </a:t>
            </a:r>
            <a:r>
              <a:rPr lang="en-US" b="1" dirty="0" err="1"/>
              <a:t>davom</a:t>
            </a:r>
            <a:r>
              <a:rPr lang="en-US" b="1" dirty="0"/>
              <a:t> eta </a:t>
            </a:r>
            <a:r>
              <a:rPr lang="en-US" b="1" dirty="0" err="1"/>
              <a:t>olmaydigan</a:t>
            </a:r>
            <a:r>
              <a:rPr lang="en-US" dirty="0"/>
              <a:t> </a:t>
            </a:r>
            <a:r>
              <a:rPr lang="en-US" dirty="0" err="1"/>
              <a:t>holatdir</a:t>
            </a:r>
            <a:r>
              <a:rPr lang="en-US" dirty="0"/>
              <a:t>.  </a:t>
            </a:r>
            <a:r>
              <a:rPr lang="en-US" dirty="0" err="1"/>
              <a:t>Ya‘ni</a:t>
            </a:r>
            <a:r>
              <a:rPr lang="en-US" dirty="0"/>
              <a:t> </a:t>
            </a:r>
            <a:r>
              <a:rPr lang="en-US" dirty="0" err="1"/>
              <a:t>tizim</a:t>
            </a:r>
            <a:r>
              <a:rPr lang="en-US" dirty="0"/>
              <a:t> “</a:t>
            </a:r>
            <a:r>
              <a:rPr lang="en-US" dirty="0" err="1"/>
              <a:t>qotib</a:t>
            </a:r>
            <a:r>
              <a:rPr lang="en-US" dirty="0"/>
              <a:t> </a:t>
            </a:r>
            <a:r>
              <a:rPr lang="en-US" dirty="0" err="1"/>
              <a:t>qoladi</a:t>
            </a:r>
            <a:r>
              <a:rPr lang="en-US" dirty="0"/>
              <a:t>”,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dirty="0" err="1"/>
              <a:t>jarayonlar</a:t>
            </a:r>
            <a:r>
              <a:rPr lang="en-US" dirty="0"/>
              <a:t> </a:t>
            </a:r>
            <a:r>
              <a:rPr lang="en-US" dirty="0" err="1"/>
              <a:t>faol</a:t>
            </a:r>
            <a:r>
              <a:rPr lang="en-US" dirty="0"/>
              <a:t> </a:t>
            </a:r>
            <a:r>
              <a:rPr lang="en-US" dirty="0" err="1"/>
              <a:t>bo‘lib</a:t>
            </a:r>
            <a:r>
              <a:rPr lang="en-US" dirty="0"/>
              <a:t>, </a:t>
            </a:r>
            <a:r>
              <a:rPr lang="en-US" dirty="0" err="1"/>
              <a:t>resursni</a:t>
            </a:r>
            <a:r>
              <a:rPr lang="en-US" dirty="0"/>
              <a:t> </a:t>
            </a:r>
            <a:r>
              <a:rPr lang="en-US" dirty="0" err="1"/>
              <a:t>kutishadi</a:t>
            </a:r>
            <a:r>
              <a:rPr lang="en-US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Deadlock </a:t>
            </a:r>
            <a:r>
              <a:rPr lang="en-US" dirty="0" err="1"/>
              <a:t>odatda</a:t>
            </a:r>
            <a:r>
              <a:rPr lang="en-US" dirty="0"/>
              <a:t> </a:t>
            </a:r>
            <a:r>
              <a:rPr lang="en-US" dirty="0" err="1"/>
              <a:t>quyidagi</a:t>
            </a:r>
            <a:r>
              <a:rPr lang="en-US" dirty="0"/>
              <a:t> </a:t>
            </a:r>
            <a:r>
              <a:rPr lang="en-US" dirty="0" err="1"/>
              <a:t>holatlarda</a:t>
            </a:r>
            <a:r>
              <a:rPr lang="en-US" dirty="0"/>
              <a:t> </a:t>
            </a:r>
            <a:r>
              <a:rPr lang="en-US" dirty="0" err="1"/>
              <a:t>paydo</a:t>
            </a:r>
            <a:r>
              <a:rPr lang="en-US" dirty="0"/>
              <a:t> </a:t>
            </a:r>
            <a:r>
              <a:rPr lang="en-US" dirty="0" err="1"/>
              <a:t>bo‘ladi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Resurslar</a:t>
            </a:r>
            <a:r>
              <a:rPr lang="en-US" dirty="0"/>
              <a:t> </a:t>
            </a:r>
            <a:r>
              <a:rPr lang="en-US" dirty="0" err="1"/>
              <a:t>cheklangan</a:t>
            </a:r>
            <a:r>
              <a:rPr lang="en-US" dirty="0"/>
              <a:t> (</a:t>
            </a:r>
            <a:r>
              <a:rPr lang="en-US" dirty="0" err="1"/>
              <a:t>masalan</a:t>
            </a:r>
            <a:r>
              <a:rPr lang="en-US" dirty="0"/>
              <a:t>: printer, </a:t>
            </a:r>
            <a:r>
              <a:rPr lang="en-US" dirty="0" err="1"/>
              <a:t>fayl</a:t>
            </a:r>
            <a:r>
              <a:rPr lang="en-US" dirty="0"/>
              <a:t>, </a:t>
            </a:r>
            <a:r>
              <a:rPr lang="en-US" dirty="0" err="1"/>
              <a:t>xotira</a:t>
            </a:r>
            <a:r>
              <a:rPr lang="en-US" dirty="0"/>
              <a:t> </a:t>
            </a:r>
            <a:r>
              <a:rPr lang="en-US" dirty="0" err="1"/>
              <a:t>bloklari</a:t>
            </a:r>
            <a:r>
              <a:rPr lang="en-US" dirty="0"/>
              <a:t>).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Jarayonlar</a:t>
            </a:r>
            <a:r>
              <a:rPr lang="en-US" dirty="0"/>
              <a:t> </a:t>
            </a:r>
            <a:r>
              <a:rPr lang="en-US" dirty="0" err="1"/>
              <a:t>resurslarni</a:t>
            </a:r>
            <a:r>
              <a:rPr lang="en-US" dirty="0"/>
              <a:t> </a:t>
            </a:r>
            <a:r>
              <a:rPr lang="en-US" b="1" dirty="0" err="1"/>
              <a:t>bo‘lib</a:t>
            </a:r>
            <a:r>
              <a:rPr lang="en-US" b="1" dirty="0"/>
              <a:t> </a:t>
            </a:r>
            <a:r>
              <a:rPr lang="en-US" b="1" dirty="0" err="1"/>
              <a:t>olishadi</a:t>
            </a:r>
            <a:r>
              <a:rPr lang="en-US" dirty="0"/>
              <a:t>, </a:t>
            </a:r>
            <a:r>
              <a:rPr lang="en-US" dirty="0" err="1"/>
              <a:t>keyin</a:t>
            </a:r>
            <a:r>
              <a:rPr lang="en-US" dirty="0"/>
              <a:t> </a:t>
            </a:r>
            <a:r>
              <a:rPr lang="en-US" b="1" dirty="0" err="1"/>
              <a:t>yana</a:t>
            </a:r>
            <a:r>
              <a:rPr lang="en-US" b="1" dirty="0"/>
              <a:t> </a:t>
            </a:r>
            <a:r>
              <a:rPr lang="en-US" b="1" dirty="0" err="1"/>
              <a:t>qo‘shimcha</a:t>
            </a:r>
            <a:r>
              <a:rPr lang="en-US" b="1" dirty="0"/>
              <a:t> </a:t>
            </a:r>
            <a:r>
              <a:rPr lang="en-US" b="1" dirty="0" err="1"/>
              <a:t>resurs</a:t>
            </a:r>
            <a:r>
              <a:rPr lang="en-US" dirty="0"/>
              <a:t> </a:t>
            </a:r>
            <a:r>
              <a:rPr lang="en-US" dirty="0" err="1"/>
              <a:t>so‘rashadi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Operatsion</a:t>
            </a:r>
            <a:r>
              <a:rPr lang="en-US" dirty="0"/>
              <a:t> </a:t>
            </a:r>
            <a:r>
              <a:rPr lang="en-US" dirty="0" err="1"/>
              <a:t>tizim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holatni</a:t>
            </a:r>
            <a:r>
              <a:rPr lang="en-US" dirty="0"/>
              <a:t> </a:t>
            </a:r>
            <a:r>
              <a:rPr lang="en-US" dirty="0" err="1"/>
              <a:t>nazorat</a:t>
            </a:r>
            <a:r>
              <a:rPr lang="en-US" dirty="0"/>
              <a:t> </a:t>
            </a:r>
            <a:r>
              <a:rPr lang="en-US" dirty="0" err="1"/>
              <a:t>qilmaydi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786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00511" y="584022"/>
            <a:ext cx="7597074" cy="737881"/>
          </a:xfrm>
        </p:spPr>
        <p:txBody>
          <a:bodyPr>
            <a:normAutofit/>
          </a:bodyPr>
          <a:lstStyle/>
          <a:p>
            <a:r>
              <a:rPr lang="en-US" sz="3200" dirty="0" err="1"/>
              <a:t>Deadlockning</a:t>
            </a:r>
            <a:r>
              <a:rPr lang="en-US" sz="3200" dirty="0"/>
              <a:t> 4 ta </a:t>
            </a:r>
            <a:r>
              <a:rPr lang="en-US" sz="3200" dirty="0" err="1"/>
              <a:t>sharti</a:t>
            </a:r>
            <a:r>
              <a:rPr lang="en-US" sz="3200" dirty="0"/>
              <a:t> (Coffman conditions)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5010" y="1361661"/>
            <a:ext cx="10376451" cy="491987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      </a:t>
            </a:r>
            <a:r>
              <a:rPr lang="en-US" sz="2400" dirty="0"/>
              <a:t>Deadlock </a:t>
            </a:r>
            <a:r>
              <a:rPr lang="en-US" sz="2400" dirty="0" err="1"/>
              <a:t>paydo</a:t>
            </a:r>
            <a:r>
              <a:rPr lang="en-US" sz="2400" dirty="0"/>
              <a:t> </a:t>
            </a:r>
            <a:r>
              <a:rPr lang="en-US" sz="2400" dirty="0" err="1"/>
              <a:t>bo‘lishi</a:t>
            </a:r>
            <a:r>
              <a:rPr lang="en-US" sz="2400" dirty="0"/>
              <a:t> </a:t>
            </a:r>
            <a:r>
              <a:rPr lang="en-US" sz="2400" dirty="0" err="1"/>
              <a:t>uchun</a:t>
            </a:r>
            <a:r>
              <a:rPr lang="en-US" sz="2400" dirty="0"/>
              <a:t> </a:t>
            </a:r>
            <a:r>
              <a:rPr lang="en-US" sz="2400" b="1" dirty="0" err="1"/>
              <a:t>quyidagi</a:t>
            </a:r>
            <a:r>
              <a:rPr lang="en-US" sz="2400" b="1" dirty="0"/>
              <a:t> 4 </a:t>
            </a:r>
            <a:r>
              <a:rPr lang="en-US" sz="2400" b="1" dirty="0" err="1"/>
              <a:t>shart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vaqtda</a:t>
            </a:r>
            <a:r>
              <a:rPr lang="en-US" sz="2400" dirty="0"/>
              <a:t> </a:t>
            </a:r>
            <a:r>
              <a:rPr lang="en-US" sz="2400" dirty="0" err="1"/>
              <a:t>bajarilishi</a:t>
            </a:r>
            <a:r>
              <a:rPr lang="en-US" sz="2400" dirty="0"/>
              <a:t> </a:t>
            </a:r>
            <a:r>
              <a:rPr lang="en-US" sz="2400" dirty="0" err="1"/>
              <a:t>kerak</a:t>
            </a:r>
            <a:r>
              <a:rPr lang="en-US" sz="2400" dirty="0"/>
              <a:t>:</a:t>
            </a:r>
          </a:p>
          <a:p>
            <a:r>
              <a:rPr lang="en-US" sz="2400" b="1" dirty="0"/>
              <a:t>Mutual Exclusion (</a:t>
            </a:r>
            <a:r>
              <a:rPr lang="en-US" sz="2400" b="1" dirty="0" err="1"/>
              <a:t>O‘zaro</a:t>
            </a:r>
            <a:r>
              <a:rPr lang="en-US" sz="2400" b="1" dirty="0"/>
              <a:t> </a:t>
            </a:r>
            <a:r>
              <a:rPr lang="en-US" sz="2400" b="1" dirty="0" err="1"/>
              <a:t>istisno</a:t>
            </a:r>
            <a:r>
              <a:rPr lang="en-US" sz="2400" b="1" dirty="0"/>
              <a:t>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Resurs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paytda</a:t>
            </a:r>
            <a:r>
              <a:rPr lang="en-US" sz="2400" dirty="0"/>
              <a:t> </a:t>
            </a:r>
            <a:r>
              <a:rPr lang="en-US" sz="2400" dirty="0" err="1"/>
              <a:t>faqat</a:t>
            </a:r>
            <a:r>
              <a:rPr lang="en-US" sz="2400" dirty="0"/>
              <a:t> </a:t>
            </a:r>
            <a:r>
              <a:rPr lang="en-US" sz="2400" b="1" dirty="0" err="1"/>
              <a:t>bitta</a:t>
            </a:r>
            <a:r>
              <a:rPr lang="en-US" sz="2400" b="1" dirty="0"/>
              <a:t> </a:t>
            </a:r>
            <a:r>
              <a:rPr lang="en-US" sz="2400" b="1" dirty="0" err="1"/>
              <a:t>jarayon</a:t>
            </a:r>
            <a:r>
              <a:rPr lang="en-US" sz="2400" dirty="0"/>
              <a:t> </a:t>
            </a:r>
            <a:r>
              <a:rPr lang="en-US" sz="2400" dirty="0" err="1"/>
              <a:t>tomonidan</a:t>
            </a:r>
            <a:r>
              <a:rPr lang="en-US" sz="2400" dirty="0"/>
              <a:t> </a:t>
            </a:r>
            <a:r>
              <a:rPr lang="en-US" sz="2400" dirty="0" err="1"/>
              <a:t>ishlatiladi</a:t>
            </a:r>
            <a:r>
              <a:rPr lang="en-US" sz="2400" dirty="0"/>
              <a:t>. </a:t>
            </a:r>
            <a:r>
              <a:rPr lang="en-US" sz="2400" dirty="0" err="1"/>
              <a:t>Masalan</a:t>
            </a:r>
            <a:r>
              <a:rPr lang="en-US" sz="2400" dirty="0"/>
              <a:t>: </a:t>
            </a:r>
            <a:r>
              <a:rPr lang="en-US" sz="2400" dirty="0" err="1"/>
              <a:t>bitta</a:t>
            </a:r>
            <a:r>
              <a:rPr lang="en-US" sz="2400" dirty="0"/>
              <a:t> printer-      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ni</a:t>
            </a:r>
            <a:r>
              <a:rPr lang="en-US" sz="2400" dirty="0"/>
              <a:t> </a:t>
            </a:r>
            <a:r>
              <a:rPr lang="en-US" sz="2400" dirty="0" err="1"/>
              <a:t>ikki</a:t>
            </a:r>
            <a:r>
              <a:rPr lang="en-US" sz="2400" dirty="0"/>
              <a:t> </a:t>
            </a:r>
            <a:r>
              <a:rPr lang="en-US" sz="2400" dirty="0" err="1"/>
              <a:t>jarayon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vaqtda</a:t>
            </a:r>
            <a:r>
              <a:rPr lang="en-US" sz="2400" dirty="0"/>
              <a:t> </a:t>
            </a:r>
            <a:r>
              <a:rPr lang="en-US" sz="2400" dirty="0" err="1"/>
              <a:t>ishlata</a:t>
            </a:r>
            <a:r>
              <a:rPr lang="en-US" sz="2400" dirty="0"/>
              <a:t> </a:t>
            </a:r>
            <a:r>
              <a:rPr lang="en-US" sz="2400" dirty="0" err="1"/>
              <a:t>olmaydi</a:t>
            </a:r>
            <a:r>
              <a:rPr lang="en-US" sz="2400" dirty="0"/>
              <a:t>.</a:t>
            </a:r>
          </a:p>
          <a:p>
            <a:r>
              <a:rPr lang="en-US" sz="2400" b="1" dirty="0"/>
              <a:t>Hold and Wait (</a:t>
            </a:r>
            <a:r>
              <a:rPr lang="en-US" sz="2400" b="1" dirty="0" err="1"/>
              <a:t>Ushlab</a:t>
            </a:r>
            <a:r>
              <a:rPr lang="en-US" sz="2400" b="1" dirty="0"/>
              <a:t> </a:t>
            </a:r>
            <a:r>
              <a:rPr lang="en-US" sz="2400" b="1" dirty="0" err="1"/>
              <a:t>turish</a:t>
            </a:r>
            <a:r>
              <a:rPr lang="en-US" sz="2400" b="1" dirty="0"/>
              <a:t> </a:t>
            </a:r>
            <a:r>
              <a:rPr lang="en-US" sz="2400" b="1" dirty="0" err="1"/>
              <a:t>va</a:t>
            </a:r>
            <a:r>
              <a:rPr lang="en-US" sz="2400" b="1" dirty="0"/>
              <a:t> </a:t>
            </a:r>
            <a:r>
              <a:rPr lang="en-US" sz="2400" b="1" dirty="0" err="1"/>
              <a:t>kutish</a:t>
            </a:r>
            <a:r>
              <a:rPr lang="en-US" sz="2400" b="1" dirty="0"/>
              <a:t>)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Jarayon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resursni</a:t>
            </a:r>
            <a:r>
              <a:rPr lang="en-US" sz="2400" dirty="0"/>
              <a:t> </a:t>
            </a:r>
            <a:r>
              <a:rPr lang="en-US" sz="2400" dirty="0" err="1"/>
              <a:t>ushlab</a:t>
            </a:r>
            <a:r>
              <a:rPr lang="en-US" sz="2400" dirty="0"/>
              <a:t> </a:t>
            </a:r>
            <a:r>
              <a:rPr lang="en-US" sz="2400" dirty="0" err="1"/>
              <a:t>turgan</a:t>
            </a:r>
            <a:r>
              <a:rPr lang="en-US" sz="2400" dirty="0"/>
              <a:t> </a:t>
            </a:r>
            <a:r>
              <a:rPr lang="en-US" sz="2400" dirty="0" err="1"/>
              <a:t>holda</a:t>
            </a:r>
            <a:r>
              <a:rPr lang="en-US" sz="2400" dirty="0"/>
              <a:t>, </a:t>
            </a:r>
            <a:r>
              <a:rPr lang="en-US" sz="2400" dirty="0" err="1"/>
              <a:t>boshqa</a:t>
            </a:r>
            <a:r>
              <a:rPr lang="en-US" sz="2400" dirty="0"/>
              <a:t> </a:t>
            </a:r>
            <a:r>
              <a:rPr lang="en-US" sz="2400" dirty="0" err="1"/>
              <a:t>resursni</a:t>
            </a:r>
            <a:r>
              <a:rPr lang="en-US" sz="2400" dirty="0"/>
              <a:t> </a:t>
            </a:r>
            <a:r>
              <a:rPr lang="en-US" sz="2400" dirty="0" err="1"/>
              <a:t>kutadi</a:t>
            </a:r>
            <a:r>
              <a:rPr lang="en-US" sz="2400" dirty="0"/>
              <a:t>.  </a:t>
            </a:r>
            <a:r>
              <a:rPr lang="en-US" sz="2400" dirty="0" err="1"/>
              <a:t>Masalan</a:t>
            </a:r>
            <a:r>
              <a:rPr lang="en-US" sz="2400" dirty="0"/>
              <a:t>: P1 </a:t>
            </a:r>
            <a:r>
              <a:rPr lang="en-US" sz="2400" dirty="0" err="1"/>
              <a:t>prin</a:t>
            </a:r>
            <a:r>
              <a:rPr lang="en-US" sz="2400" dirty="0"/>
              <a:t>-  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terni</a:t>
            </a:r>
            <a:r>
              <a:rPr lang="en-US" sz="2400" dirty="0"/>
              <a:t> </a:t>
            </a:r>
            <a:r>
              <a:rPr lang="en-US" sz="2400" dirty="0" err="1"/>
              <a:t>ushlab</a:t>
            </a:r>
            <a:r>
              <a:rPr lang="en-US" sz="2400" dirty="0"/>
              <a:t> </a:t>
            </a:r>
            <a:r>
              <a:rPr lang="en-US" sz="2400" dirty="0" err="1"/>
              <a:t>turib</a:t>
            </a:r>
            <a:r>
              <a:rPr lang="en-US" sz="2400" dirty="0"/>
              <a:t>, </a:t>
            </a:r>
            <a:r>
              <a:rPr lang="en-US" sz="2400" dirty="0" err="1"/>
              <a:t>skaner</a:t>
            </a:r>
            <a:r>
              <a:rPr lang="en-US" sz="2400" dirty="0"/>
              <a:t> </a:t>
            </a:r>
            <a:r>
              <a:rPr lang="en-US" sz="2400" dirty="0" err="1"/>
              <a:t>so‘raydi</a:t>
            </a:r>
            <a:r>
              <a:rPr lang="en-US" sz="2400" dirty="0"/>
              <a:t>.</a:t>
            </a:r>
          </a:p>
          <a:p>
            <a:r>
              <a:rPr lang="en-US" sz="2400" b="1" dirty="0"/>
              <a:t>No Preemption (</a:t>
            </a:r>
            <a:r>
              <a:rPr lang="en-US" sz="2400" b="1" dirty="0" err="1"/>
              <a:t>Majburan</a:t>
            </a:r>
            <a:r>
              <a:rPr lang="en-US" sz="2400" b="1" dirty="0"/>
              <a:t> </a:t>
            </a:r>
            <a:r>
              <a:rPr lang="en-US" sz="2400" b="1" dirty="0" err="1"/>
              <a:t>olib</a:t>
            </a:r>
            <a:r>
              <a:rPr lang="en-US" sz="2400" b="1" dirty="0"/>
              <a:t> </a:t>
            </a:r>
            <a:r>
              <a:rPr lang="en-US" sz="2400" b="1" dirty="0" err="1"/>
              <a:t>bo‘lmaslik</a:t>
            </a:r>
            <a:r>
              <a:rPr lang="en-US" sz="2400" b="1" dirty="0"/>
              <a:t>)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Resursni</a:t>
            </a:r>
            <a:r>
              <a:rPr lang="en-US" sz="2400" dirty="0"/>
              <a:t> </a:t>
            </a:r>
            <a:r>
              <a:rPr lang="en-US" sz="2400" dirty="0" err="1"/>
              <a:t>jarayondan</a:t>
            </a:r>
            <a:r>
              <a:rPr lang="en-US" sz="2400" dirty="0"/>
              <a:t> </a:t>
            </a:r>
            <a:r>
              <a:rPr lang="en-US" sz="2400" b="1" dirty="0" err="1"/>
              <a:t>majburan</a:t>
            </a:r>
            <a:r>
              <a:rPr lang="en-US" sz="2400" b="1" dirty="0"/>
              <a:t> </a:t>
            </a:r>
            <a:r>
              <a:rPr lang="en-US" sz="2400" b="1" dirty="0" err="1"/>
              <a:t>tortib</a:t>
            </a:r>
            <a:r>
              <a:rPr lang="en-US" sz="2400" b="1" dirty="0"/>
              <a:t> </a:t>
            </a:r>
            <a:r>
              <a:rPr lang="en-US" sz="2400" b="1" dirty="0" err="1"/>
              <a:t>olib</a:t>
            </a:r>
            <a:r>
              <a:rPr lang="en-US" sz="2400" b="1" dirty="0"/>
              <a:t> </a:t>
            </a:r>
            <a:r>
              <a:rPr lang="en-US" sz="2400" b="1" dirty="0" err="1"/>
              <a:t>bo‘lmaydi</a:t>
            </a:r>
            <a:r>
              <a:rPr lang="en-US" sz="2400" dirty="0"/>
              <a:t>.  </a:t>
            </a:r>
            <a:r>
              <a:rPr lang="en-US" sz="2400" dirty="0" err="1"/>
              <a:t>Ya’ni</a:t>
            </a:r>
            <a:r>
              <a:rPr lang="en-US" sz="2400" dirty="0"/>
              <a:t>, </a:t>
            </a:r>
            <a:r>
              <a:rPr lang="en-US" sz="2400" dirty="0" err="1"/>
              <a:t>jarayon</a:t>
            </a:r>
            <a:r>
              <a:rPr lang="en-US" sz="2400" dirty="0"/>
              <a:t> </a:t>
            </a:r>
            <a:r>
              <a:rPr lang="en-US" sz="2400" dirty="0" err="1"/>
              <a:t>resursni</a:t>
            </a:r>
            <a:r>
              <a:rPr lang="en-US" sz="2400" dirty="0"/>
              <a:t> </a:t>
            </a:r>
            <a:r>
              <a:rPr lang="en-US" sz="2400" dirty="0" err="1"/>
              <a:t>o‘zi</a:t>
            </a:r>
            <a:r>
              <a:rPr lang="en-US" sz="2400" dirty="0"/>
              <a:t>  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bo‘shatmaguncha</a:t>
            </a:r>
            <a:r>
              <a:rPr lang="en-US" sz="2400" dirty="0"/>
              <a:t> </a:t>
            </a:r>
            <a:r>
              <a:rPr lang="en-US" sz="2400" dirty="0" err="1"/>
              <a:t>boshqa</a:t>
            </a:r>
            <a:r>
              <a:rPr lang="en-US" sz="2400" dirty="0"/>
              <a:t> </a:t>
            </a:r>
            <a:r>
              <a:rPr lang="en-US" sz="2400" dirty="0" err="1"/>
              <a:t>hech</a:t>
            </a:r>
            <a:r>
              <a:rPr lang="en-US" sz="2400" dirty="0"/>
              <a:t> </a:t>
            </a:r>
            <a:r>
              <a:rPr lang="en-US" sz="2400" dirty="0" err="1"/>
              <a:t>kim</a:t>
            </a:r>
            <a:r>
              <a:rPr lang="en-US" sz="2400" dirty="0"/>
              <a:t> </a:t>
            </a:r>
            <a:r>
              <a:rPr lang="en-US" sz="2400" dirty="0" err="1"/>
              <a:t>ololmaydi</a:t>
            </a:r>
            <a:r>
              <a:rPr lang="en-US" sz="2400" dirty="0"/>
              <a:t>.</a:t>
            </a:r>
          </a:p>
          <a:p>
            <a:r>
              <a:rPr lang="en-US" sz="2400" b="1" dirty="0"/>
              <a:t>Circular Wait (</a:t>
            </a:r>
            <a:r>
              <a:rPr lang="en-US" sz="2400" b="1" dirty="0" err="1"/>
              <a:t>Aylana</a:t>
            </a:r>
            <a:r>
              <a:rPr lang="en-US" sz="2400" b="1" dirty="0"/>
              <a:t> </a:t>
            </a:r>
            <a:r>
              <a:rPr lang="en-US" sz="2400" b="1" dirty="0" err="1"/>
              <a:t>kutish</a:t>
            </a:r>
            <a:r>
              <a:rPr lang="en-US" sz="2400" b="1" dirty="0"/>
              <a:t>)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Jarayonlar</a:t>
            </a:r>
            <a:r>
              <a:rPr lang="en-US" sz="2400" dirty="0"/>
              <a:t> </a:t>
            </a:r>
            <a:r>
              <a:rPr lang="en-US" sz="2400" dirty="0" err="1"/>
              <a:t>zanjir</a:t>
            </a:r>
            <a:r>
              <a:rPr lang="en-US" sz="2400" dirty="0"/>
              <a:t> </a:t>
            </a:r>
            <a:r>
              <a:rPr lang="en-US" sz="2400" dirty="0" err="1"/>
              <a:t>hosil</a:t>
            </a:r>
            <a:r>
              <a:rPr lang="en-US" sz="2400" dirty="0"/>
              <a:t> </a:t>
            </a:r>
            <a:r>
              <a:rPr lang="en-US" sz="2400" dirty="0" err="1"/>
              <a:t>qiladi</a:t>
            </a:r>
            <a:r>
              <a:rPr lang="en-US" sz="2400" dirty="0"/>
              <a:t>: P1 → P2’ning </a:t>
            </a:r>
            <a:r>
              <a:rPr lang="en-US" sz="2400" dirty="0" err="1"/>
              <a:t>resursini</a:t>
            </a:r>
            <a:r>
              <a:rPr lang="en-US" sz="2400" dirty="0"/>
              <a:t> </a:t>
            </a:r>
            <a:r>
              <a:rPr lang="en-US" sz="2400" dirty="0" err="1"/>
              <a:t>kutadi</a:t>
            </a:r>
            <a:r>
              <a:rPr lang="en-US" sz="2400" dirty="0"/>
              <a:t>, P2 → P3’ning </a:t>
            </a:r>
            <a:r>
              <a:rPr lang="en-US" sz="2400" dirty="0" err="1"/>
              <a:t>resursini</a:t>
            </a:r>
            <a:r>
              <a:rPr lang="en-US" sz="2400" dirty="0"/>
              <a:t>  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kutadi</a:t>
            </a:r>
            <a:r>
              <a:rPr lang="en-US" sz="2400" dirty="0"/>
              <a:t>,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oxirida</a:t>
            </a:r>
            <a:r>
              <a:rPr lang="en-US" sz="2400" dirty="0"/>
              <a:t> </a:t>
            </a:r>
            <a:r>
              <a:rPr lang="en-US" sz="2400" dirty="0" err="1"/>
              <a:t>Pn</a:t>
            </a:r>
            <a:r>
              <a:rPr lang="en-US" sz="2400" dirty="0"/>
              <a:t> → P1’ning </a:t>
            </a:r>
            <a:r>
              <a:rPr lang="en-US" sz="2400" dirty="0" err="1"/>
              <a:t>resursini</a:t>
            </a:r>
            <a:r>
              <a:rPr lang="en-US" sz="2400" dirty="0"/>
              <a:t> </a:t>
            </a:r>
            <a:r>
              <a:rPr lang="en-US" sz="2400" dirty="0" err="1"/>
              <a:t>kutadi</a:t>
            </a:r>
            <a:r>
              <a:rPr lang="en-US" sz="2400" dirty="0"/>
              <a:t>. </a:t>
            </a:r>
            <a:r>
              <a:rPr lang="en-US" sz="2400" dirty="0" err="1"/>
              <a:t>Natijada</a:t>
            </a:r>
            <a:r>
              <a:rPr lang="en-US" sz="2400" dirty="0"/>
              <a:t> </a:t>
            </a:r>
            <a:r>
              <a:rPr lang="en-US" sz="2400" dirty="0" err="1"/>
              <a:t>aylana</a:t>
            </a:r>
            <a:r>
              <a:rPr lang="en-US" sz="2400" dirty="0"/>
              <a:t> </a:t>
            </a:r>
            <a:r>
              <a:rPr lang="en-US" sz="2400" dirty="0" err="1"/>
              <a:t>hosil</a:t>
            </a:r>
            <a:r>
              <a:rPr lang="en-US" sz="2400" dirty="0"/>
              <a:t> </a:t>
            </a:r>
            <a:r>
              <a:rPr lang="en-US" sz="2400" dirty="0" err="1"/>
              <a:t>bo‘ladi</a:t>
            </a:r>
            <a:r>
              <a:rPr lang="en-US" sz="2400" dirty="0"/>
              <a:t>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248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44047" y="1113183"/>
            <a:ext cx="6473952" cy="457199"/>
          </a:xfrm>
        </p:spPr>
        <p:txBody>
          <a:bodyPr>
            <a:normAutofit fontScale="90000"/>
          </a:bodyPr>
          <a:lstStyle/>
          <a:p>
            <a:r>
              <a:rPr lang="it-IT" sz="3600" dirty="0"/>
              <a:t>Deadlock turlari va aniqlash modellari</a:t>
            </a:r>
            <a:br>
              <a:rPr lang="it-IT" sz="3200" dirty="0"/>
            </a:br>
            <a:endParaRPr lang="ru-RU" sz="32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944210"/>
              </p:ext>
            </p:extLst>
          </p:nvPr>
        </p:nvGraphicFramePr>
        <p:xfrm>
          <a:off x="1069975" y="1958010"/>
          <a:ext cx="10022096" cy="3230216"/>
        </p:xfrm>
        <a:graphic>
          <a:graphicData uri="http://schemas.openxmlformats.org/drawingml/2006/table">
            <a:tbl>
              <a:tblPr/>
              <a:tblGrid>
                <a:gridCol w="5011048">
                  <a:extLst>
                    <a:ext uri="{9D8B030D-6E8A-4147-A177-3AD203B41FA5}">
                      <a16:colId xmlns:a16="http://schemas.microsoft.com/office/drawing/2014/main" val="2544536797"/>
                    </a:ext>
                  </a:extLst>
                </a:gridCol>
                <a:gridCol w="5011048">
                  <a:extLst>
                    <a:ext uri="{9D8B030D-6E8A-4147-A177-3AD203B41FA5}">
                      <a16:colId xmlns:a16="http://schemas.microsoft.com/office/drawing/2014/main" val="4001464186"/>
                    </a:ext>
                  </a:extLst>
                </a:gridCol>
              </a:tblGrid>
              <a:tr h="587312">
                <a:tc>
                  <a:txBody>
                    <a:bodyPr/>
                    <a:lstStyle/>
                    <a:p>
                      <a:r>
                        <a:rPr lang="en-US" sz="2000" b="1" dirty="0"/>
                        <a:t>                                      </a:t>
                      </a:r>
                      <a:r>
                        <a:rPr lang="en-US" sz="2000" b="1" dirty="0" err="1"/>
                        <a:t>Turi</a:t>
                      </a:r>
                      <a:endParaRPr lang="en-US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                                    </a:t>
                      </a:r>
                      <a:r>
                        <a:rPr lang="en-US" sz="2000" b="1" dirty="0" err="1"/>
                        <a:t>Tavsif</a:t>
                      </a:r>
                      <a:endParaRPr lang="en-US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3333524"/>
                  </a:ext>
                </a:extLst>
              </a:tr>
              <a:tr h="587312">
                <a:tc>
                  <a:txBody>
                    <a:bodyPr/>
                    <a:lstStyle/>
                    <a:p>
                      <a:r>
                        <a:rPr lang="en-US" sz="2000" b="0" dirty="0" err="1"/>
                        <a:t>Resurs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0" dirty="0" err="1"/>
                        <a:t>tupigi</a:t>
                      </a:r>
                      <a:r>
                        <a:rPr lang="en-US" sz="2000" b="0" dirty="0"/>
                        <a:t> (Resource Deadlock)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Jarayonlar o‘zaro resurs kutib qoladi.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3000087"/>
                  </a:ext>
                </a:extLst>
              </a:tr>
              <a:tr h="1027796">
                <a:tc>
                  <a:txBody>
                    <a:bodyPr/>
                    <a:lstStyle/>
                    <a:p>
                      <a:r>
                        <a:rPr lang="en-US" sz="2000" b="0" dirty="0" err="1"/>
                        <a:t>Kommunikatsiya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0" dirty="0" err="1"/>
                        <a:t>tupigi</a:t>
                      </a:r>
                      <a:r>
                        <a:rPr lang="en-US" sz="2000" b="0" dirty="0"/>
                        <a:t> (Communication Deadlock)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Jarayonlar ma’lumot almashishda bir-birini kutib qoladi.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4043201"/>
                  </a:ext>
                </a:extLst>
              </a:tr>
              <a:tr h="1027796">
                <a:tc>
                  <a:txBody>
                    <a:bodyPr/>
                    <a:lstStyle/>
                    <a:p>
                      <a:r>
                        <a:rPr lang="en-US" sz="2000" b="0" dirty="0"/>
                        <a:t>I/O </a:t>
                      </a:r>
                      <a:r>
                        <a:rPr lang="en-US" sz="2000" b="0" dirty="0" err="1"/>
                        <a:t>tupigi</a:t>
                      </a:r>
                      <a:endParaRPr lang="en-US" sz="20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Kiritish</a:t>
                      </a:r>
                      <a:r>
                        <a:rPr lang="en-US" sz="2000" dirty="0"/>
                        <a:t>/</a:t>
                      </a:r>
                      <a:r>
                        <a:rPr lang="en-US" sz="2000" dirty="0" err="1"/>
                        <a:t>chiqarish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qurilmasi</a:t>
                      </a:r>
                      <a:r>
                        <a:rPr lang="en-US" sz="2000" dirty="0"/>
                        <a:t> band </a:t>
                      </a:r>
                      <a:r>
                        <a:rPr lang="en-US" sz="2000" dirty="0" err="1"/>
                        <a:t>bo‘lib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qoladi</a:t>
                      </a:r>
                      <a:r>
                        <a:rPr lang="en-US" sz="200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5025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896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83371" y="647465"/>
            <a:ext cx="4689114" cy="1037493"/>
          </a:xfrm>
        </p:spPr>
        <p:txBody>
          <a:bodyPr>
            <a:normAutofit/>
          </a:bodyPr>
          <a:lstStyle/>
          <a:p>
            <a:r>
              <a:rPr lang="en-US" sz="3200" dirty="0"/>
              <a:t>Deadlock </a:t>
            </a:r>
            <a:r>
              <a:rPr lang="en-US" sz="3200" dirty="0" err="1"/>
              <a:t>aniqlash</a:t>
            </a:r>
            <a:r>
              <a:rPr lang="en-US" sz="3200" dirty="0"/>
              <a:t> </a:t>
            </a:r>
            <a:r>
              <a:rPr lang="en-US" sz="3200" dirty="0" err="1"/>
              <a:t>modellari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4341" y="1857639"/>
            <a:ext cx="6736958" cy="405079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 Resource Allocation Graph (RAG)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Bu </a:t>
            </a:r>
            <a:r>
              <a:rPr lang="en-US" dirty="0" err="1"/>
              <a:t>grafikda</a:t>
            </a:r>
            <a:r>
              <a:rPr lang="en-US" dirty="0"/>
              <a:t>:</a:t>
            </a:r>
          </a:p>
          <a:p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jarayon</a:t>
            </a:r>
            <a:r>
              <a:rPr lang="en-US" dirty="0"/>
              <a:t> — </a:t>
            </a:r>
            <a:r>
              <a:rPr lang="en-US" b="1" dirty="0" err="1"/>
              <a:t>doira</a:t>
            </a:r>
            <a:r>
              <a:rPr lang="en-US" b="1" dirty="0"/>
              <a:t> (P1, P2, …)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belgilanadi</a:t>
            </a:r>
            <a:r>
              <a:rPr lang="en-US" dirty="0"/>
              <a:t>.</a:t>
            </a:r>
          </a:p>
          <a:p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resurs</a:t>
            </a:r>
            <a:r>
              <a:rPr lang="en-US" dirty="0"/>
              <a:t> — </a:t>
            </a:r>
            <a:r>
              <a:rPr lang="en-US" b="1" dirty="0" err="1"/>
              <a:t>kvadrat</a:t>
            </a:r>
            <a:r>
              <a:rPr lang="en-US" b="1" dirty="0"/>
              <a:t> (R1, R2, …)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belgilanadi</a:t>
            </a:r>
            <a:r>
              <a:rPr lang="en-US" dirty="0"/>
              <a:t>.</a:t>
            </a:r>
          </a:p>
          <a:p>
            <a:r>
              <a:rPr lang="en-US" dirty="0" err="1"/>
              <a:t>Strelkalar</a:t>
            </a:r>
            <a:r>
              <a:rPr lang="en-US" dirty="0"/>
              <a:t> (→) </a:t>
            </a:r>
            <a:r>
              <a:rPr lang="en-US" dirty="0" err="1"/>
              <a:t>kimdan</a:t>
            </a:r>
            <a:r>
              <a:rPr lang="en-US" dirty="0"/>
              <a:t> </a:t>
            </a:r>
            <a:r>
              <a:rPr lang="en-US" dirty="0" err="1"/>
              <a:t>kimga</a:t>
            </a:r>
            <a:r>
              <a:rPr lang="en-US" dirty="0"/>
              <a:t> </a:t>
            </a:r>
            <a:r>
              <a:rPr lang="en-US" dirty="0" err="1"/>
              <a:t>qaratilganiga</a:t>
            </a:r>
            <a:r>
              <a:rPr lang="en-US" dirty="0"/>
              <a:t> </a:t>
            </a:r>
            <a:r>
              <a:rPr lang="en-US" dirty="0" err="1"/>
              <a:t>qarab</a:t>
            </a:r>
            <a:r>
              <a:rPr lang="en-US" dirty="0"/>
              <a:t> </a:t>
            </a:r>
            <a:r>
              <a:rPr lang="en-US" dirty="0" err="1"/>
              <a:t>kutish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egallashni</a:t>
            </a:r>
            <a:r>
              <a:rPr lang="en-US" dirty="0"/>
              <a:t> </a:t>
            </a:r>
            <a:r>
              <a:rPr lang="en-US" dirty="0" err="1"/>
              <a:t>bildiradi</a:t>
            </a:r>
            <a:r>
              <a:rPr lang="en-US" dirty="0"/>
              <a:t>.</a:t>
            </a:r>
          </a:p>
          <a:p>
            <a:r>
              <a:rPr lang="en-US" dirty="0"/>
              <a:t>Agar </a:t>
            </a:r>
            <a:r>
              <a:rPr lang="en-US" dirty="0" err="1"/>
              <a:t>grafikda</a:t>
            </a:r>
            <a:r>
              <a:rPr lang="en-US" dirty="0"/>
              <a:t> </a:t>
            </a:r>
            <a:r>
              <a:rPr lang="en-US" b="1" dirty="0" err="1"/>
              <a:t>aylana</a:t>
            </a:r>
            <a:r>
              <a:rPr lang="en-US" b="1" dirty="0"/>
              <a:t> (cycle)</a:t>
            </a:r>
            <a:r>
              <a:rPr lang="en-US" dirty="0"/>
              <a:t> </a:t>
            </a:r>
            <a:r>
              <a:rPr lang="en-US" dirty="0" err="1"/>
              <a:t>paydo</a:t>
            </a:r>
            <a:r>
              <a:rPr lang="en-US" dirty="0"/>
              <a:t> </a:t>
            </a:r>
            <a:r>
              <a:rPr lang="en-US" dirty="0" err="1"/>
              <a:t>bo‘lsa</a:t>
            </a:r>
            <a:r>
              <a:rPr lang="en-US" dirty="0"/>
              <a:t> — </a:t>
            </a:r>
            <a:r>
              <a:rPr lang="en-US" dirty="0" err="1"/>
              <a:t>demak</a:t>
            </a:r>
            <a:r>
              <a:rPr lang="en-US" dirty="0"/>
              <a:t>, </a:t>
            </a:r>
            <a:r>
              <a:rPr lang="en-US" b="1" dirty="0"/>
              <a:t>deadlock </a:t>
            </a:r>
            <a:r>
              <a:rPr lang="en-US" b="1" dirty="0" err="1"/>
              <a:t>mavjud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527" y="1684958"/>
            <a:ext cx="3297115" cy="219807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527" y="3883035"/>
            <a:ext cx="3294887" cy="219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61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89452" y="586232"/>
            <a:ext cx="5219192" cy="920496"/>
          </a:xfrm>
        </p:spPr>
        <p:txBody>
          <a:bodyPr>
            <a:normAutofit fontScale="90000"/>
          </a:bodyPr>
          <a:lstStyle/>
          <a:p>
            <a:r>
              <a:rPr lang="en-US" sz="3200" dirty="0" err="1"/>
              <a:t>Deadlockni</a:t>
            </a:r>
            <a:r>
              <a:rPr lang="en-US" sz="3200" dirty="0"/>
              <a:t> </a:t>
            </a:r>
            <a:r>
              <a:rPr lang="en-US" sz="3200" dirty="0" err="1"/>
              <a:t>oldini</a:t>
            </a:r>
            <a:r>
              <a:rPr lang="en-US" sz="3200" dirty="0"/>
              <a:t> </a:t>
            </a:r>
            <a:r>
              <a:rPr lang="en-US" sz="3200" dirty="0" err="1"/>
              <a:t>olish</a:t>
            </a:r>
            <a:r>
              <a:rPr lang="en-US" sz="3200" dirty="0"/>
              <a:t> </a:t>
            </a:r>
            <a:r>
              <a:rPr lang="en-US" sz="3200" dirty="0" err="1"/>
              <a:t>usullari</a:t>
            </a:r>
            <a:r>
              <a:rPr lang="en-US" sz="3200" dirty="0"/>
              <a:t>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1506728"/>
            <a:ext cx="10058400" cy="47823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Tupik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kurashishning</a:t>
            </a:r>
            <a:r>
              <a:rPr lang="en-US" dirty="0"/>
              <a:t> </a:t>
            </a:r>
            <a:r>
              <a:rPr lang="en-US" b="1" dirty="0"/>
              <a:t>3 </a:t>
            </a:r>
            <a:r>
              <a:rPr lang="en-US" b="1" dirty="0" err="1"/>
              <a:t>asosiy</a:t>
            </a:r>
            <a:r>
              <a:rPr lang="en-US" b="1" dirty="0"/>
              <a:t> </a:t>
            </a:r>
            <a:r>
              <a:rPr lang="en-US" b="1" dirty="0" err="1"/>
              <a:t>yo‘li</a:t>
            </a:r>
            <a:r>
              <a:rPr lang="en-US" dirty="0"/>
              <a:t> </a:t>
            </a:r>
            <a:r>
              <a:rPr lang="en-US" dirty="0" err="1"/>
              <a:t>bor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1.Oldini </a:t>
            </a:r>
            <a:r>
              <a:rPr lang="en-US" b="1" dirty="0" err="1"/>
              <a:t>olish</a:t>
            </a:r>
            <a:r>
              <a:rPr lang="en-US" b="1" dirty="0"/>
              <a:t> (Prevention). </a:t>
            </a:r>
            <a:r>
              <a:rPr lang="en-US" dirty="0"/>
              <a:t>Deadlock </a:t>
            </a:r>
            <a:r>
              <a:rPr lang="en-US" dirty="0" err="1"/>
              <a:t>shartlaridan</a:t>
            </a:r>
            <a:r>
              <a:rPr lang="en-US" dirty="0"/>
              <a:t> </a:t>
            </a:r>
            <a:r>
              <a:rPr lang="en-US" b="1" dirty="0" err="1"/>
              <a:t>kamida</a:t>
            </a:r>
            <a:r>
              <a:rPr lang="en-US" b="1" dirty="0"/>
              <a:t> </a:t>
            </a:r>
            <a:r>
              <a:rPr lang="en-US" b="1" dirty="0" err="1"/>
              <a:t>bittasini</a:t>
            </a:r>
            <a:r>
              <a:rPr lang="en-US" b="1" dirty="0"/>
              <a:t> </a:t>
            </a:r>
            <a:r>
              <a:rPr lang="en-US" b="1" dirty="0" err="1"/>
              <a:t>yo‘qqa</a:t>
            </a:r>
            <a:r>
              <a:rPr lang="en-US" b="1" dirty="0"/>
              <a:t> </a:t>
            </a:r>
            <a:r>
              <a:rPr lang="en-US" b="1" dirty="0" err="1"/>
              <a:t>chiqarish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amalga</a:t>
            </a:r>
            <a:r>
              <a:rPr lang="en-US" dirty="0"/>
              <a:t> </a:t>
            </a:r>
            <a:r>
              <a:rPr lang="en-US" dirty="0" err="1"/>
              <a:t>oshiriladi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232583"/>
              </p:ext>
            </p:extLst>
          </p:nvPr>
        </p:nvGraphicFramePr>
        <p:xfrm>
          <a:off x="1069975" y="2875280"/>
          <a:ext cx="10058400" cy="292608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40230539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449310585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r>
                        <a:rPr lang="en-US" b="1" dirty="0"/>
                        <a:t>                         Coffman </a:t>
                      </a:r>
                      <a:r>
                        <a:rPr lang="en-US" b="1" dirty="0" err="1"/>
                        <a:t>sharti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                              </a:t>
                      </a:r>
                      <a:r>
                        <a:rPr lang="en-US" b="1" dirty="0" err="1"/>
                        <a:t>Qarshi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chora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002604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lang="en-US" dirty="0"/>
                        <a:t>Mutual exclusion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Ba’zi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resurslarni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umumiy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foydalanishga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ruxsat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berish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faqat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o‘qish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uchun</a:t>
                      </a:r>
                      <a:r>
                        <a:rPr lang="en-US" dirty="0"/>
                        <a:t>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0159804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lang="en-US" dirty="0"/>
                        <a:t>Hold and wait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Jarayon barcha resurslarni birdan so‘rashi kerak.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840861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lang="en-US" dirty="0"/>
                        <a:t>No preemption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Resursni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majburan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tortib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olishga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ruxsat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berish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5839523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lang="en-US"/>
                        <a:t>Circular wait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Resurslarga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raqam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berib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ularni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tartib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bilan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so‘rash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masalan</a:t>
                      </a:r>
                      <a:r>
                        <a:rPr lang="en-US" dirty="0"/>
                        <a:t>, 1 → 2 → 3 </a:t>
                      </a:r>
                      <a:r>
                        <a:rPr lang="en-US" dirty="0" err="1"/>
                        <a:t>tartibida</a:t>
                      </a:r>
                      <a:r>
                        <a:rPr lang="en-US" dirty="0"/>
                        <a:t>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398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6745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1087120"/>
            <a:ext cx="10058400" cy="5085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2.Oldini </a:t>
            </a:r>
            <a:r>
              <a:rPr lang="en-US" b="1" dirty="0" err="1"/>
              <a:t>olish</a:t>
            </a:r>
            <a:r>
              <a:rPr lang="en-US" b="1" dirty="0"/>
              <a:t> (Avoidance). </a:t>
            </a:r>
            <a:r>
              <a:rPr lang="en-US" dirty="0" err="1"/>
              <a:t>Tizim</a:t>
            </a:r>
            <a:r>
              <a:rPr lang="en-US" dirty="0"/>
              <a:t> </a:t>
            </a:r>
            <a:r>
              <a:rPr lang="en-US" dirty="0" err="1"/>
              <a:t>jarayonlarga</a:t>
            </a:r>
            <a:r>
              <a:rPr lang="en-US" dirty="0"/>
              <a:t> </a:t>
            </a:r>
            <a:r>
              <a:rPr lang="en-US" dirty="0" err="1"/>
              <a:t>resurs</a:t>
            </a:r>
            <a:r>
              <a:rPr lang="en-US" dirty="0"/>
              <a:t> </a:t>
            </a:r>
            <a:r>
              <a:rPr lang="en-US" dirty="0" err="1"/>
              <a:t>berishdan</a:t>
            </a:r>
            <a:r>
              <a:rPr lang="en-US" dirty="0"/>
              <a:t> </a:t>
            </a:r>
            <a:r>
              <a:rPr lang="en-US" dirty="0" err="1"/>
              <a:t>oldin</a:t>
            </a:r>
            <a:r>
              <a:rPr lang="en-US" dirty="0"/>
              <a:t> </a:t>
            </a:r>
            <a:r>
              <a:rPr lang="en-US" b="1" dirty="0" err="1"/>
              <a:t>tupik</a:t>
            </a:r>
            <a:r>
              <a:rPr lang="en-US" b="1" dirty="0"/>
              <a:t> </a:t>
            </a:r>
            <a:r>
              <a:rPr lang="en-US" b="1" dirty="0" err="1"/>
              <a:t>paydo</a:t>
            </a:r>
            <a:r>
              <a:rPr lang="en-US" b="1" dirty="0"/>
              <a:t> </a:t>
            </a:r>
            <a:r>
              <a:rPr lang="en-US" b="1" dirty="0" err="1"/>
              <a:t>bo‘lishi</a:t>
            </a:r>
            <a:r>
              <a:rPr lang="en-US" b="1" dirty="0"/>
              <a:t> </a:t>
            </a:r>
            <a:r>
              <a:rPr lang="en-US" b="1" dirty="0" err="1"/>
              <a:t>xavfi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tekshiradi</a:t>
            </a:r>
            <a:r>
              <a:rPr lang="en-US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                                    </a:t>
            </a:r>
            <a:r>
              <a:rPr lang="ru-RU" b="1" dirty="0"/>
              <a:t>🏦 </a:t>
            </a:r>
            <a:r>
              <a:rPr lang="en-US" b="1" dirty="0"/>
              <a:t>Banker’s Algorithm (</a:t>
            </a:r>
            <a:r>
              <a:rPr lang="en-US" b="1" dirty="0" err="1"/>
              <a:t>Bankir</a:t>
            </a:r>
            <a:r>
              <a:rPr lang="en-US" b="1" dirty="0"/>
              <a:t> </a:t>
            </a:r>
            <a:r>
              <a:rPr lang="en-US" b="1" dirty="0" err="1"/>
              <a:t>algoritmi</a:t>
            </a:r>
            <a:r>
              <a:rPr lang="en-US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algoritm</a:t>
            </a:r>
            <a:r>
              <a:rPr lang="en-US" dirty="0"/>
              <a:t> </a:t>
            </a:r>
            <a:r>
              <a:rPr lang="en-US" b="1" dirty="0" err="1"/>
              <a:t>xavfsiz</a:t>
            </a:r>
            <a:r>
              <a:rPr lang="en-US" b="1" dirty="0"/>
              <a:t> </a:t>
            </a:r>
            <a:r>
              <a:rPr lang="en-US" b="1" dirty="0" err="1"/>
              <a:t>holat</a:t>
            </a:r>
            <a:r>
              <a:rPr lang="en-US" b="1" dirty="0"/>
              <a:t> (safe state)</a:t>
            </a:r>
            <a:r>
              <a:rPr lang="en-US" dirty="0"/>
              <a:t> </a:t>
            </a:r>
            <a:r>
              <a:rPr lang="en-US" dirty="0" err="1"/>
              <a:t>tushunchasiga</a:t>
            </a:r>
            <a:r>
              <a:rPr lang="en-US" dirty="0"/>
              <a:t> </a:t>
            </a:r>
            <a:r>
              <a:rPr lang="en-US" dirty="0" err="1"/>
              <a:t>asoslanadi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Tizim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doim</a:t>
            </a:r>
            <a:r>
              <a:rPr lang="en-US" dirty="0"/>
              <a:t> </a:t>
            </a:r>
            <a:r>
              <a:rPr lang="en-US" dirty="0" err="1"/>
              <a:t>shunday</a:t>
            </a:r>
            <a:r>
              <a:rPr lang="en-US" dirty="0"/>
              <a:t> </a:t>
            </a:r>
            <a:r>
              <a:rPr lang="en-US" dirty="0" err="1"/>
              <a:t>qaror</a:t>
            </a:r>
            <a:r>
              <a:rPr lang="en-US" dirty="0"/>
              <a:t> </a:t>
            </a:r>
            <a:r>
              <a:rPr lang="en-US" dirty="0" err="1"/>
              <a:t>qabul</a:t>
            </a:r>
            <a:r>
              <a:rPr lang="en-US" dirty="0"/>
              <a:t> </a:t>
            </a:r>
            <a:r>
              <a:rPr lang="en-US" dirty="0" err="1"/>
              <a:t>qiladiki</a:t>
            </a:r>
            <a:r>
              <a:rPr lang="en-US" dirty="0"/>
              <a:t>, </a:t>
            </a:r>
            <a:r>
              <a:rPr lang="en-US" dirty="0" err="1"/>
              <a:t>jarayonlar</a:t>
            </a:r>
            <a:r>
              <a:rPr lang="en-US" dirty="0"/>
              <a:t> </a:t>
            </a:r>
            <a:r>
              <a:rPr lang="en-US" dirty="0" err="1"/>
              <a:t>navbat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ishini</a:t>
            </a:r>
            <a:r>
              <a:rPr lang="en-US" dirty="0"/>
              <a:t> </a:t>
            </a:r>
            <a:r>
              <a:rPr lang="en-US" dirty="0" err="1"/>
              <a:t>yakunlay</a:t>
            </a:r>
            <a:r>
              <a:rPr lang="en-US" dirty="0"/>
              <a:t> </a:t>
            </a:r>
            <a:r>
              <a:rPr lang="en-US" dirty="0" err="1"/>
              <a:t>oladi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Agar </a:t>
            </a:r>
            <a:r>
              <a:rPr lang="en-US" dirty="0" err="1"/>
              <a:t>beriladigan</a:t>
            </a:r>
            <a:r>
              <a:rPr lang="en-US" dirty="0"/>
              <a:t> </a:t>
            </a:r>
            <a:r>
              <a:rPr lang="en-US" dirty="0" err="1"/>
              <a:t>resurs</a:t>
            </a:r>
            <a:r>
              <a:rPr lang="en-US" dirty="0"/>
              <a:t> </a:t>
            </a:r>
            <a:r>
              <a:rPr lang="en-US" dirty="0" err="1"/>
              <a:t>natijasida</a:t>
            </a:r>
            <a:r>
              <a:rPr lang="en-US" dirty="0"/>
              <a:t> </a:t>
            </a:r>
            <a:r>
              <a:rPr lang="en-US" b="1" dirty="0" err="1"/>
              <a:t>aylana</a:t>
            </a:r>
            <a:r>
              <a:rPr lang="en-US" b="1" dirty="0"/>
              <a:t> </a:t>
            </a:r>
            <a:r>
              <a:rPr lang="en-US" b="1" dirty="0" err="1"/>
              <a:t>hosil</a:t>
            </a:r>
            <a:r>
              <a:rPr lang="en-US" b="1" dirty="0"/>
              <a:t> </a:t>
            </a:r>
            <a:r>
              <a:rPr lang="en-US" b="1" dirty="0" err="1"/>
              <a:t>bo‘lishi</a:t>
            </a:r>
            <a:r>
              <a:rPr lang="en-US" b="1" dirty="0"/>
              <a:t> </a:t>
            </a:r>
            <a:r>
              <a:rPr lang="en-US" b="1" dirty="0" err="1"/>
              <a:t>mumkin</a:t>
            </a:r>
            <a:r>
              <a:rPr lang="en-US" dirty="0"/>
              <a:t> </a:t>
            </a:r>
            <a:r>
              <a:rPr lang="en-US" dirty="0" err="1"/>
              <a:t>bo‘lsa</a:t>
            </a:r>
            <a:r>
              <a:rPr lang="en-US" dirty="0"/>
              <a:t>, </a:t>
            </a:r>
            <a:r>
              <a:rPr lang="en-US" dirty="0" err="1"/>
              <a:t>resurs</a:t>
            </a:r>
            <a:r>
              <a:rPr lang="en-US" dirty="0"/>
              <a:t> </a:t>
            </a:r>
            <a:r>
              <a:rPr lang="en-US" dirty="0" err="1"/>
              <a:t>berilmaydi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Kamchilik</a:t>
            </a:r>
            <a:r>
              <a:rPr lang="en-US" dirty="0"/>
              <a:t>: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jarayon</a:t>
            </a:r>
            <a:r>
              <a:rPr lang="en-US" dirty="0"/>
              <a:t> </a:t>
            </a:r>
            <a:r>
              <a:rPr lang="en-US" dirty="0" err="1"/>
              <a:t>qancha</a:t>
            </a:r>
            <a:r>
              <a:rPr lang="en-US" dirty="0"/>
              <a:t> </a:t>
            </a:r>
            <a:r>
              <a:rPr lang="en-US" dirty="0" err="1"/>
              <a:t>resurs</a:t>
            </a:r>
            <a:r>
              <a:rPr lang="en-US" dirty="0"/>
              <a:t> </a:t>
            </a:r>
            <a:r>
              <a:rPr lang="en-US" dirty="0" err="1"/>
              <a:t>so‘rashini</a:t>
            </a:r>
            <a:r>
              <a:rPr lang="en-US" dirty="0"/>
              <a:t> </a:t>
            </a:r>
            <a:r>
              <a:rPr lang="en-US" dirty="0" err="1"/>
              <a:t>oldindan</a:t>
            </a:r>
            <a:r>
              <a:rPr lang="en-US" dirty="0"/>
              <a:t> </a:t>
            </a:r>
            <a:r>
              <a:rPr lang="en-US" dirty="0" err="1"/>
              <a:t>bilish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252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1056640"/>
            <a:ext cx="10058400" cy="5115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3.Aniqlash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tiklash</a:t>
            </a:r>
            <a:r>
              <a:rPr lang="en-US" b="1" dirty="0"/>
              <a:t> (Detection &amp; Recovery). </a:t>
            </a:r>
            <a:r>
              <a:rPr lang="en-US" dirty="0" err="1"/>
              <a:t>Ba’zi</a:t>
            </a:r>
            <a:r>
              <a:rPr lang="en-US" dirty="0"/>
              <a:t> </a:t>
            </a:r>
            <a:r>
              <a:rPr lang="en-US" dirty="0" err="1"/>
              <a:t>tizimlar</a:t>
            </a:r>
            <a:r>
              <a:rPr lang="en-US" dirty="0"/>
              <a:t> </a:t>
            </a:r>
            <a:r>
              <a:rPr lang="en-US" dirty="0" err="1"/>
              <a:t>deadlockni</a:t>
            </a:r>
            <a:r>
              <a:rPr lang="en-US" dirty="0"/>
              <a:t> </a:t>
            </a:r>
            <a:r>
              <a:rPr lang="en-US" b="1" dirty="0" err="1"/>
              <a:t>oldini</a:t>
            </a:r>
            <a:r>
              <a:rPr lang="en-US" b="1" dirty="0"/>
              <a:t> </a:t>
            </a:r>
            <a:r>
              <a:rPr lang="en-US" b="1" dirty="0" err="1"/>
              <a:t>olmaydi</a:t>
            </a:r>
            <a:r>
              <a:rPr lang="en-US" dirty="0"/>
              <a:t>,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b="1" dirty="0" err="1"/>
              <a:t>aniqlaydi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tuzatadi</a:t>
            </a:r>
            <a:r>
              <a:rPr lang="en-US" b="1" dirty="0"/>
              <a:t>.</a:t>
            </a:r>
            <a:endParaRPr lang="en-US" dirty="0"/>
          </a:p>
          <a:p>
            <a:pPr marL="0" indent="0">
              <a:buNone/>
            </a:pPr>
            <a:br>
              <a:rPr lang="en-US" b="1" dirty="0"/>
            </a:br>
            <a:r>
              <a:rPr lang="ru-RU" b="1" dirty="0"/>
              <a:t>🔍 </a:t>
            </a:r>
            <a:r>
              <a:rPr lang="en-US" b="1" dirty="0" err="1"/>
              <a:t>Aniqlash</a:t>
            </a:r>
            <a:r>
              <a:rPr lang="en-US" b="1" dirty="0"/>
              <a:t>:</a:t>
            </a:r>
          </a:p>
          <a:p>
            <a:r>
              <a:rPr lang="en-US" dirty="0"/>
              <a:t>RAG (Resource Allocation Graph)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aylana</a:t>
            </a:r>
            <a:r>
              <a:rPr lang="en-US" dirty="0"/>
              <a:t> </a:t>
            </a:r>
            <a:r>
              <a:rPr lang="en-US" dirty="0" err="1"/>
              <a:t>mavjudligini</a:t>
            </a:r>
            <a:r>
              <a:rPr lang="en-US" dirty="0"/>
              <a:t> </a:t>
            </a:r>
            <a:r>
              <a:rPr lang="en-US" dirty="0" err="1"/>
              <a:t>tekshirish</a:t>
            </a:r>
            <a:r>
              <a:rPr lang="en-US" dirty="0"/>
              <a:t>.</a:t>
            </a:r>
          </a:p>
          <a:p>
            <a:r>
              <a:rPr lang="en-US" dirty="0" err="1"/>
              <a:t>Maxsus</a:t>
            </a:r>
            <a:r>
              <a:rPr lang="en-US" dirty="0"/>
              <a:t> </a:t>
            </a:r>
            <a:r>
              <a:rPr lang="en-US" b="1" dirty="0"/>
              <a:t>Deadlock detection </a:t>
            </a:r>
            <a:r>
              <a:rPr lang="en-US" b="1" dirty="0" err="1"/>
              <a:t>algoritmlari</a:t>
            </a:r>
            <a:r>
              <a:rPr lang="en-US" dirty="0"/>
              <a:t> </a:t>
            </a:r>
            <a:r>
              <a:rPr lang="en-US" dirty="0" err="1"/>
              <a:t>ishlatiladi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ru-RU" b="1" dirty="0"/>
              <a:t>🔧 </a:t>
            </a:r>
            <a:r>
              <a:rPr lang="en-US" b="1" dirty="0" err="1"/>
              <a:t>Tiklash</a:t>
            </a:r>
            <a:r>
              <a:rPr lang="en-US" b="1" dirty="0"/>
              <a:t> (Recovery):</a:t>
            </a:r>
          </a:p>
          <a:p>
            <a:r>
              <a:rPr lang="en-US" b="1" dirty="0" err="1"/>
              <a:t>Jarayonni</a:t>
            </a:r>
            <a:r>
              <a:rPr lang="en-US" b="1" dirty="0"/>
              <a:t> </a:t>
            </a:r>
            <a:r>
              <a:rPr lang="en-US" b="1" dirty="0" err="1"/>
              <a:t>tugatish</a:t>
            </a:r>
            <a:r>
              <a:rPr lang="en-US" b="1" dirty="0"/>
              <a:t> (abort)</a:t>
            </a:r>
            <a:r>
              <a:rPr lang="en-US" dirty="0"/>
              <a:t> – </a:t>
            </a:r>
            <a:r>
              <a:rPr lang="en-US" dirty="0" err="1"/>
              <a:t>jarayonni</a:t>
            </a:r>
            <a:r>
              <a:rPr lang="en-US" dirty="0"/>
              <a:t> </a:t>
            </a:r>
            <a:r>
              <a:rPr lang="en-US" dirty="0" err="1"/>
              <a:t>majburan</a:t>
            </a:r>
            <a:r>
              <a:rPr lang="en-US" dirty="0"/>
              <a:t> </a:t>
            </a:r>
            <a:r>
              <a:rPr lang="en-US" dirty="0" err="1"/>
              <a:t>to‘xtatish</a:t>
            </a:r>
            <a:r>
              <a:rPr lang="en-US" dirty="0"/>
              <a:t>.</a:t>
            </a:r>
          </a:p>
          <a:p>
            <a:r>
              <a:rPr lang="en-US" b="1" dirty="0" err="1"/>
              <a:t>Resursni</a:t>
            </a:r>
            <a:r>
              <a:rPr lang="en-US" b="1" dirty="0"/>
              <a:t> </a:t>
            </a:r>
            <a:r>
              <a:rPr lang="en-US" b="1" dirty="0" err="1"/>
              <a:t>olib</a:t>
            </a:r>
            <a:r>
              <a:rPr lang="en-US" b="1" dirty="0"/>
              <a:t> </a:t>
            </a:r>
            <a:r>
              <a:rPr lang="en-US" b="1" dirty="0" err="1"/>
              <a:t>qo‘yish</a:t>
            </a:r>
            <a:r>
              <a:rPr lang="en-US" b="1" dirty="0"/>
              <a:t> (preemption)</a:t>
            </a:r>
            <a:r>
              <a:rPr lang="en-US" dirty="0"/>
              <a:t> – </a:t>
            </a:r>
            <a:r>
              <a:rPr lang="en-US" dirty="0" err="1"/>
              <a:t>resursni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jarayondan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, </a:t>
            </a:r>
            <a:r>
              <a:rPr lang="en-US" dirty="0" err="1"/>
              <a:t>boshqasiga</a:t>
            </a:r>
            <a:r>
              <a:rPr lang="en-US" dirty="0"/>
              <a:t> </a:t>
            </a:r>
            <a:r>
              <a:rPr lang="en-US" dirty="0" err="1"/>
              <a:t>berish</a:t>
            </a:r>
            <a:r>
              <a:rPr lang="en-US" dirty="0"/>
              <a:t>.</a:t>
            </a:r>
          </a:p>
          <a:p>
            <a:r>
              <a:rPr lang="en-US" b="1" dirty="0" err="1"/>
              <a:t>Jarayonni</a:t>
            </a:r>
            <a:r>
              <a:rPr lang="en-US" b="1" dirty="0"/>
              <a:t> </a:t>
            </a:r>
            <a:r>
              <a:rPr lang="en-US" b="1" dirty="0" err="1"/>
              <a:t>qayta</a:t>
            </a:r>
            <a:r>
              <a:rPr lang="en-US" b="1" dirty="0"/>
              <a:t> </a:t>
            </a:r>
            <a:r>
              <a:rPr lang="en-US" b="1" dirty="0" err="1"/>
              <a:t>ishga</a:t>
            </a:r>
            <a:r>
              <a:rPr lang="en-US" b="1" dirty="0"/>
              <a:t> </a:t>
            </a:r>
            <a:r>
              <a:rPr lang="en-US" b="1" dirty="0" err="1"/>
              <a:t>tushirish</a:t>
            </a:r>
            <a:r>
              <a:rPr lang="en-US" dirty="0"/>
              <a:t> – </a:t>
            </a:r>
            <a:r>
              <a:rPr lang="en-US" dirty="0" err="1"/>
              <a:t>vaqtincha</a:t>
            </a:r>
            <a:r>
              <a:rPr lang="en-US" dirty="0"/>
              <a:t> </a:t>
            </a:r>
            <a:r>
              <a:rPr lang="en-US" dirty="0" err="1"/>
              <a:t>to‘xtatib</a:t>
            </a:r>
            <a:r>
              <a:rPr lang="en-US" dirty="0"/>
              <a:t>, </a:t>
            </a:r>
            <a:r>
              <a:rPr lang="en-US" dirty="0" err="1"/>
              <a:t>keyin</a:t>
            </a:r>
            <a:r>
              <a:rPr lang="en-US" dirty="0"/>
              <a:t> </a:t>
            </a:r>
            <a:r>
              <a:rPr lang="en-US" dirty="0" err="1"/>
              <a:t>davom</a:t>
            </a:r>
            <a:r>
              <a:rPr lang="en-US" dirty="0"/>
              <a:t> </a:t>
            </a:r>
            <a:r>
              <a:rPr lang="en-US" dirty="0" err="1"/>
              <a:t>ettirish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4854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36758" y="942848"/>
            <a:ext cx="6240399" cy="1209040"/>
          </a:xfrm>
        </p:spPr>
        <p:txBody>
          <a:bodyPr>
            <a:noAutofit/>
          </a:bodyPr>
          <a:lstStyle/>
          <a:p>
            <a:r>
              <a:rPr lang="en-US" sz="3200" dirty="0" err="1"/>
              <a:t>Deadlockni</a:t>
            </a:r>
            <a:r>
              <a:rPr lang="en-US" sz="3200" dirty="0"/>
              <a:t> </a:t>
            </a:r>
            <a:r>
              <a:rPr lang="en-US" sz="3200" dirty="0" err="1"/>
              <a:t>aniqlash</a:t>
            </a:r>
            <a:r>
              <a:rPr lang="en-US" sz="3200" dirty="0"/>
              <a:t> </a:t>
            </a:r>
            <a:r>
              <a:rPr lang="en-US" sz="3200" dirty="0" err="1"/>
              <a:t>va</a:t>
            </a:r>
            <a:r>
              <a:rPr lang="en-US" sz="3200" dirty="0"/>
              <a:t> </a:t>
            </a:r>
            <a:r>
              <a:rPr lang="en-US" sz="3200" dirty="0" err="1"/>
              <a:t>undan</a:t>
            </a:r>
            <a:r>
              <a:rPr lang="en-US" sz="3200" dirty="0"/>
              <a:t> </a:t>
            </a:r>
            <a:r>
              <a:rPr lang="en-US" sz="3200" dirty="0" err="1"/>
              <a:t>chiqish</a:t>
            </a:r>
            <a:r>
              <a:rPr lang="en-US" sz="3200" dirty="0"/>
              <a:t>.</a:t>
            </a:r>
            <a:br>
              <a:rPr lang="en-US" dirty="0"/>
            </a:b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6017662"/>
              </p:ext>
            </p:extLst>
          </p:nvPr>
        </p:nvGraphicFramePr>
        <p:xfrm>
          <a:off x="894078" y="1788160"/>
          <a:ext cx="10525761" cy="3911600"/>
        </p:xfrm>
        <a:graphic>
          <a:graphicData uri="http://schemas.openxmlformats.org/drawingml/2006/table">
            <a:tbl>
              <a:tblPr/>
              <a:tblGrid>
                <a:gridCol w="3508587">
                  <a:extLst>
                    <a:ext uri="{9D8B030D-6E8A-4147-A177-3AD203B41FA5}">
                      <a16:colId xmlns:a16="http://schemas.microsoft.com/office/drawing/2014/main" val="813839580"/>
                    </a:ext>
                  </a:extLst>
                </a:gridCol>
                <a:gridCol w="3508587">
                  <a:extLst>
                    <a:ext uri="{9D8B030D-6E8A-4147-A177-3AD203B41FA5}">
                      <a16:colId xmlns:a16="http://schemas.microsoft.com/office/drawing/2014/main" val="3447313"/>
                    </a:ext>
                  </a:extLst>
                </a:gridCol>
                <a:gridCol w="3508587">
                  <a:extLst>
                    <a:ext uri="{9D8B030D-6E8A-4147-A177-3AD203B41FA5}">
                      <a16:colId xmlns:a16="http://schemas.microsoft.com/office/drawing/2014/main" val="2572803235"/>
                    </a:ext>
                  </a:extLst>
                </a:gridCol>
              </a:tblGrid>
              <a:tr h="406806">
                <a:tc>
                  <a:txBody>
                    <a:bodyPr/>
                    <a:lstStyle/>
                    <a:p>
                      <a:r>
                        <a:rPr lang="en-US" sz="2000" b="1" dirty="0"/>
                        <a:t>             </a:t>
                      </a:r>
                      <a:r>
                        <a:rPr lang="en-US" sz="2000" b="1" dirty="0" err="1"/>
                        <a:t>Strategiya</a:t>
                      </a:r>
                      <a:r>
                        <a:rPr lang="en-US" sz="2000" b="1" dirty="0"/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                    </a:t>
                      </a:r>
                      <a:r>
                        <a:rPr lang="en-US" sz="2000" b="1" dirty="0" err="1"/>
                        <a:t>Tavsif</a:t>
                      </a:r>
                      <a:endParaRPr lang="en-US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     </a:t>
                      </a:r>
                      <a:r>
                        <a:rPr lang="en-US" sz="2000" b="1" dirty="0" err="1"/>
                        <a:t>Afzallik</a:t>
                      </a:r>
                      <a:r>
                        <a:rPr lang="en-US" sz="2000" b="1" dirty="0"/>
                        <a:t> / </a:t>
                      </a:r>
                      <a:r>
                        <a:rPr lang="en-US" sz="2000" b="1" dirty="0" err="1"/>
                        <a:t>Kamchilik</a:t>
                      </a:r>
                      <a:endParaRPr lang="en-US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27640"/>
                  </a:ext>
                </a:extLst>
              </a:tr>
              <a:tr h="719734">
                <a:tc>
                  <a:txBody>
                    <a:bodyPr/>
                    <a:lstStyle/>
                    <a:p>
                      <a:r>
                        <a:rPr lang="en-US" sz="2000" b="1" dirty="0"/>
                        <a:t>Prevention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4 shartdan birini yo‘qqa chiqarish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Soddaligi, ammo resurs samaradorligi past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7633376"/>
                  </a:ext>
                </a:extLst>
              </a:tr>
              <a:tr h="719734">
                <a:tc>
                  <a:txBody>
                    <a:bodyPr/>
                    <a:lstStyle/>
                    <a:p>
                      <a:r>
                        <a:rPr lang="en-US" sz="2000" b="1" dirty="0"/>
                        <a:t>Avoidance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Xavfsiz holatni saqlash (Banker’s Algorithm)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Aniqlik yuqori, ammo hisoblash murakkab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522796"/>
                  </a:ext>
                </a:extLst>
              </a:tr>
              <a:tr h="1032663">
                <a:tc>
                  <a:txBody>
                    <a:bodyPr/>
                    <a:lstStyle/>
                    <a:p>
                      <a:r>
                        <a:rPr lang="en-US" sz="2000" b="1" dirty="0"/>
                        <a:t>Detection &amp; Recovery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Tupikni aniqlab, keyin yechish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Resurslardan maksimal foydalanish, ammo aniqlash xarajati yuqori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788764"/>
                  </a:ext>
                </a:extLst>
              </a:tr>
              <a:tr h="1032663">
                <a:tc>
                  <a:txBody>
                    <a:bodyPr/>
                    <a:lstStyle/>
                    <a:p>
                      <a:r>
                        <a:rPr lang="en-US" sz="2000" b="1" dirty="0"/>
                        <a:t>Ignore (Ostrich policy)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Tupik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bo‘lishini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e’tiborsiz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qoldirish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UNIX/</a:t>
                      </a:r>
                      <a:r>
                        <a:rPr lang="en-US" sz="2000" dirty="0" err="1"/>
                        <a:t>Linux’da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keng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tarqalgan</a:t>
                      </a:r>
                      <a:r>
                        <a:rPr lang="en-US" sz="2000" dirty="0"/>
                        <a:t>; </a:t>
                      </a:r>
                      <a:r>
                        <a:rPr lang="en-US" sz="2000" dirty="0" err="1"/>
                        <a:t>kam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hollarda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sodir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bo‘ladi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92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385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68088" y="504952"/>
            <a:ext cx="2983992" cy="897128"/>
          </a:xfrm>
        </p:spPr>
        <p:txBody>
          <a:bodyPr>
            <a:normAutofit/>
          </a:bodyPr>
          <a:lstStyle/>
          <a:p>
            <a:r>
              <a:rPr lang="en-US" sz="3200" dirty="0" err="1"/>
              <a:t>Hayotiy</a:t>
            </a:r>
            <a:r>
              <a:rPr lang="en-US" sz="3200" dirty="0"/>
              <a:t> </a:t>
            </a:r>
            <a:r>
              <a:rPr lang="en-US" sz="3200" dirty="0" err="1"/>
              <a:t>misollar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1402080"/>
            <a:ext cx="10380472" cy="477012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/>
              <a:t>        </a:t>
            </a:r>
            <a:r>
              <a:rPr lang="ru-RU" sz="2500" b="1" dirty="0"/>
              <a:t>🚗 1. </a:t>
            </a:r>
            <a:r>
              <a:rPr lang="en-US" sz="2500" b="1" dirty="0" err="1"/>
              <a:t>Yo‘l</a:t>
            </a:r>
            <a:r>
              <a:rPr lang="en-US" sz="2500" b="1" dirty="0"/>
              <a:t> (</a:t>
            </a:r>
            <a:r>
              <a:rPr lang="en-US" sz="2500" b="1" dirty="0" err="1"/>
              <a:t>avtomobil</a:t>
            </a:r>
            <a:r>
              <a:rPr lang="en-US" sz="2500" b="1" dirty="0"/>
              <a:t>) </a:t>
            </a:r>
            <a:r>
              <a:rPr lang="en-US" sz="2500" b="1" dirty="0" err="1"/>
              <a:t>misoli</a:t>
            </a:r>
            <a:r>
              <a:rPr lang="en-US" sz="2500" b="1" dirty="0"/>
              <a:t>. </a:t>
            </a:r>
            <a:r>
              <a:rPr lang="en-US" sz="2500" dirty="0" err="1"/>
              <a:t>Eng</a:t>
            </a:r>
            <a:r>
              <a:rPr lang="en-US" sz="2500" dirty="0"/>
              <a:t> </a:t>
            </a:r>
            <a:r>
              <a:rPr lang="en-US" sz="2500" dirty="0" err="1"/>
              <a:t>mashhur</a:t>
            </a:r>
            <a:r>
              <a:rPr lang="en-US" sz="2500" dirty="0"/>
              <a:t> </a:t>
            </a:r>
            <a:r>
              <a:rPr lang="en-US" sz="2500" dirty="0" err="1"/>
              <a:t>hayotiy</a:t>
            </a:r>
            <a:r>
              <a:rPr lang="en-US" sz="2500" dirty="0"/>
              <a:t> deadlock </a:t>
            </a:r>
            <a:r>
              <a:rPr lang="en-US" sz="2500" dirty="0" err="1"/>
              <a:t>misoli</a:t>
            </a:r>
            <a:r>
              <a:rPr lang="en-US" sz="2500" dirty="0"/>
              <a:t> </a:t>
            </a:r>
            <a:r>
              <a:rPr lang="en-US" sz="2500" dirty="0" err="1"/>
              <a:t>bu</a:t>
            </a:r>
            <a:r>
              <a:rPr lang="en-US" sz="2500" dirty="0"/>
              <a:t> — </a:t>
            </a:r>
            <a:r>
              <a:rPr lang="en-US" sz="2500" b="1" dirty="0"/>
              <a:t>tor </a:t>
            </a:r>
            <a:r>
              <a:rPr lang="en-US" sz="2500" b="1" dirty="0" err="1"/>
              <a:t>yo‘lda</a:t>
            </a:r>
            <a:r>
              <a:rPr lang="en-US" sz="2500" b="1" dirty="0"/>
              <a:t> </a:t>
            </a:r>
            <a:r>
              <a:rPr lang="en-US" sz="2500" b="1" dirty="0" err="1"/>
              <a:t>mashinalar</a:t>
            </a:r>
            <a:r>
              <a:rPr lang="en-US" sz="2500" b="1" dirty="0"/>
              <a:t> </a:t>
            </a:r>
            <a:r>
              <a:rPr lang="en-US" sz="2500" b="1" dirty="0" err="1"/>
              <a:t>to‘qnash</a:t>
            </a:r>
            <a:r>
              <a:rPr lang="en-US" sz="2500" b="1" dirty="0"/>
              <a:t> </a:t>
            </a:r>
            <a:r>
              <a:rPr lang="en-US" sz="2500" b="1" dirty="0" err="1"/>
              <a:t>kelishi</a:t>
            </a:r>
            <a:r>
              <a:rPr lang="en-US" sz="2500" dirty="0"/>
              <a:t> </a:t>
            </a:r>
            <a:r>
              <a:rPr lang="en-US" sz="2500" dirty="0" err="1"/>
              <a:t>holati</a:t>
            </a:r>
            <a:r>
              <a:rPr lang="en-US" sz="25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500" b="1" dirty="0"/>
              <a:t>   </a:t>
            </a:r>
            <a:r>
              <a:rPr lang="ru-RU" sz="2500" b="1" dirty="0"/>
              <a:t> </a:t>
            </a:r>
            <a:r>
              <a:rPr lang="en-US" sz="2500" b="1" dirty="0" err="1"/>
              <a:t>Voqea</a:t>
            </a:r>
            <a:r>
              <a:rPr lang="en-US" sz="2500" b="1" dirty="0"/>
              <a:t>: </a:t>
            </a:r>
            <a:r>
              <a:rPr lang="en-US" sz="2500" dirty="0"/>
              <a:t>Tor </a:t>
            </a:r>
            <a:r>
              <a:rPr lang="en-US" sz="2500" dirty="0" err="1"/>
              <a:t>bir</a:t>
            </a:r>
            <a:r>
              <a:rPr lang="en-US" sz="2500" dirty="0"/>
              <a:t> </a:t>
            </a:r>
            <a:r>
              <a:rPr lang="en-US" sz="2500" dirty="0" err="1"/>
              <a:t>ko‘chada</a:t>
            </a:r>
            <a:r>
              <a:rPr lang="en-US" sz="2500" dirty="0"/>
              <a:t> </a:t>
            </a:r>
            <a:r>
              <a:rPr lang="en-US" sz="2500" dirty="0" err="1"/>
              <a:t>ikki</a:t>
            </a:r>
            <a:r>
              <a:rPr lang="en-US" sz="2500" dirty="0"/>
              <a:t> </a:t>
            </a:r>
            <a:r>
              <a:rPr lang="en-US" sz="2500" dirty="0" err="1"/>
              <a:t>mashina</a:t>
            </a:r>
            <a:r>
              <a:rPr lang="en-US" sz="2500" dirty="0"/>
              <a:t> </a:t>
            </a:r>
            <a:r>
              <a:rPr lang="en-US" sz="2500" dirty="0" err="1"/>
              <a:t>qarama-qarshi</a:t>
            </a:r>
            <a:r>
              <a:rPr lang="en-US" sz="2500" dirty="0"/>
              <a:t> </a:t>
            </a:r>
            <a:r>
              <a:rPr lang="en-US" sz="2500" dirty="0" err="1"/>
              <a:t>yo‘ldan</a:t>
            </a:r>
            <a:r>
              <a:rPr lang="en-US" sz="2500" dirty="0"/>
              <a:t> </a:t>
            </a:r>
            <a:r>
              <a:rPr lang="en-US" sz="2500" dirty="0" err="1"/>
              <a:t>kiradi</a:t>
            </a:r>
            <a:r>
              <a:rPr lang="en-US" sz="2500" dirty="0"/>
              <a:t>. </a:t>
            </a:r>
            <a:r>
              <a:rPr lang="en-US" sz="2500" dirty="0" err="1"/>
              <a:t>Har</a:t>
            </a:r>
            <a:r>
              <a:rPr lang="en-US" sz="2500" dirty="0"/>
              <a:t> </a:t>
            </a:r>
            <a:r>
              <a:rPr lang="en-US" sz="2500" dirty="0" err="1"/>
              <a:t>biri</a:t>
            </a:r>
            <a:r>
              <a:rPr lang="en-US" sz="2500" dirty="0"/>
              <a:t> </a:t>
            </a:r>
            <a:r>
              <a:rPr lang="en-US" sz="2500" dirty="0" err="1"/>
              <a:t>yo‘lni</a:t>
            </a:r>
            <a:r>
              <a:rPr lang="en-US" sz="2500" dirty="0"/>
              <a:t> </a:t>
            </a:r>
            <a:r>
              <a:rPr lang="en-US" sz="2500" b="1" dirty="0" err="1"/>
              <a:t>tark</a:t>
            </a:r>
            <a:r>
              <a:rPr lang="en-US" sz="2500" b="1" dirty="0"/>
              <a:t> </a:t>
            </a:r>
            <a:r>
              <a:rPr lang="en-US" sz="2500" b="1" dirty="0" err="1"/>
              <a:t>etishi</a:t>
            </a:r>
            <a:r>
              <a:rPr lang="en-US" sz="2500" b="1" dirty="0"/>
              <a:t> </a:t>
            </a:r>
            <a:r>
              <a:rPr lang="en-US" sz="2500" b="1" dirty="0" err="1"/>
              <a:t>uchun</a:t>
            </a:r>
            <a:r>
              <a:rPr lang="en-US" sz="2500" dirty="0"/>
              <a:t> </a:t>
            </a:r>
            <a:r>
              <a:rPr lang="en-US" sz="2500" dirty="0" err="1"/>
              <a:t>boshqasining</a:t>
            </a:r>
            <a:r>
              <a:rPr lang="en-US" sz="2500" dirty="0"/>
              <a:t> </a:t>
            </a:r>
            <a:r>
              <a:rPr lang="en-US" sz="2500" b="1" dirty="0" err="1"/>
              <a:t>chekinishini</a:t>
            </a:r>
            <a:r>
              <a:rPr lang="en-US" sz="2500" b="1" dirty="0"/>
              <a:t> </a:t>
            </a:r>
            <a:r>
              <a:rPr lang="en-US" sz="2500" b="1" dirty="0" err="1"/>
              <a:t>kutadi</a:t>
            </a:r>
            <a:r>
              <a:rPr lang="en-US" sz="2500" b="1" dirty="0"/>
              <a:t>.</a:t>
            </a:r>
            <a:r>
              <a:rPr lang="en-US" sz="2500" dirty="0"/>
              <a:t> </a:t>
            </a:r>
            <a:r>
              <a:rPr lang="en-US" sz="2500" b="1" dirty="0" err="1"/>
              <a:t>Hech</a:t>
            </a:r>
            <a:r>
              <a:rPr lang="en-US" sz="2500" b="1" dirty="0"/>
              <a:t> </a:t>
            </a:r>
            <a:r>
              <a:rPr lang="en-US" sz="2500" b="1" dirty="0" err="1"/>
              <a:t>biri</a:t>
            </a:r>
            <a:r>
              <a:rPr lang="en-US" sz="2500" b="1" dirty="0"/>
              <a:t> </a:t>
            </a:r>
            <a:r>
              <a:rPr lang="en-US" sz="2500" b="1" dirty="0" err="1"/>
              <a:t>orqaga</a:t>
            </a:r>
            <a:r>
              <a:rPr lang="en-US" sz="2500" b="1" dirty="0"/>
              <a:t> </a:t>
            </a:r>
            <a:r>
              <a:rPr lang="en-US" sz="2500" b="1" dirty="0" err="1"/>
              <a:t>yurmasa</a:t>
            </a:r>
            <a:r>
              <a:rPr lang="en-US" sz="2500" b="1" dirty="0"/>
              <a:t> → </a:t>
            </a:r>
            <a:r>
              <a:rPr lang="en-US" sz="2500" b="1" dirty="0" err="1"/>
              <a:t>hech</a:t>
            </a:r>
            <a:r>
              <a:rPr lang="en-US" sz="2500" b="1" dirty="0"/>
              <a:t> </a:t>
            </a:r>
            <a:r>
              <a:rPr lang="en-US" sz="2500" b="1" dirty="0" err="1"/>
              <a:t>biri</a:t>
            </a:r>
            <a:r>
              <a:rPr lang="en-US" sz="2500" b="1" dirty="0"/>
              <a:t> </a:t>
            </a:r>
            <a:r>
              <a:rPr lang="en-US" sz="2500" b="1" dirty="0" err="1"/>
              <a:t>o‘tolmaydi</a:t>
            </a:r>
            <a:r>
              <a:rPr lang="en-US" sz="2500" b="1" dirty="0"/>
              <a:t>.</a:t>
            </a:r>
            <a:r>
              <a:rPr lang="en-US" sz="2500" dirty="0"/>
              <a:t> Bu  </a:t>
            </a:r>
            <a:r>
              <a:rPr lang="en-US" sz="2500" b="1" dirty="0" err="1"/>
              <a:t>klassik</a:t>
            </a:r>
            <a:r>
              <a:rPr lang="en-US" sz="2500" b="1" dirty="0"/>
              <a:t> deadlock.</a:t>
            </a:r>
            <a:endParaRPr lang="en-US" sz="2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500" b="1" dirty="0"/>
              <a:t>  </a:t>
            </a:r>
            <a:r>
              <a:rPr lang="ru-RU" sz="2500" b="1" dirty="0"/>
              <a:t> </a:t>
            </a:r>
            <a:r>
              <a:rPr lang="en-US" sz="2500" b="1" dirty="0" err="1"/>
              <a:t>Tahlil</a:t>
            </a:r>
            <a:r>
              <a:rPr lang="en-US" sz="2500" b="1" dirty="0"/>
              <a:t>:</a:t>
            </a:r>
          </a:p>
          <a:p>
            <a:pPr>
              <a:lnSpc>
                <a:spcPct val="120000"/>
              </a:lnSpc>
            </a:pPr>
            <a:r>
              <a:rPr lang="en-US" sz="2500" b="1" dirty="0"/>
              <a:t>Mutual exclusion:</a:t>
            </a:r>
            <a:r>
              <a:rPr lang="en-US" sz="2500" dirty="0"/>
              <a:t> </a:t>
            </a:r>
            <a:r>
              <a:rPr lang="en-US" sz="2500" dirty="0" err="1"/>
              <a:t>yo‘lning</a:t>
            </a:r>
            <a:r>
              <a:rPr lang="en-US" sz="2500" dirty="0"/>
              <a:t> </a:t>
            </a:r>
            <a:r>
              <a:rPr lang="en-US" sz="2500" dirty="0" err="1"/>
              <a:t>o‘rtasi</a:t>
            </a:r>
            <a:r>
              <a:rPr lang="en-US" sz="2500" dirty="0"/>
              <a:t> — </a:t>
            </a:r>
            <a:r>
              <a:rPr lang="en-US" sz="2500" dirty="0" err="1"/>
              <a:t>yagona</a:t>
            </a:r>
            <a:r>
              <a:rPr lang="en-US" sz="2500" dirty="0"/>
              <a:t> </a:t>
            </a:r>
            <a:r>
              <a:rPr lang="en-US" sz="2500" dirty="0" err="1"/>
              <a:t>resurs</a:t>
            </a:r>
            <a:r>
              <a:rPr lang="en-US" sz="2500" dirty="0"/>
              <a:t>.</a:t>
            </a:r>
          </a:p>
          <a:p>
            <a:pPr>
              <a:lnSpc>
                <a:spcPct val="120000"/>
              </a:lnSpc>
            </a:pPr>
            <a:r>
              <a:rPr lang="en-US" sz="2500" b="1" dirty="0"/>
              <a:t>Hold and wait:</a:t>
            </a:r>
            <a:r>
              <a:rPr lang="en-US" sz="2500" dirty="0"/>
              <a:t> </a:t>
            </a:r>
            <a:r>
              <a:rPr lang="en-US" sz="2500" dirty="0" err="1"/>
              <a:t>har</a:t>
            </a:r>
            <a:r>
              <a:rPr lang="en-US" sz="2500" dirty="0"/>
              <a:t> </a:t>
            </a:r>
            <a:r>
              <a:rPr lang="en-US" sz="2500" dirty="0" err="1"/>
              <a:t>biri</a:t>
            </a:r>
            <a:r>
              <a:rPr lang="en-US" sz="2500" dirty="0"/>
              <a:t> </a:t>
            </a:r>
            <a:r>
              <a:rPr lang="en-US" sz="2500" dirty="0" err="1"/>
              <a:t>joyni</a:t>
            </a:r>
            <a:r>
              <a:rPr lang="en-US" sz="2500" dirty="0"/>
              <a:t> </a:t>
            </a:r>
            <a:r>
              <a:rPr lang="en-US" sz="2500" dirty="0" err="1"/>
              <a:t>egallab</a:t>
            </a:r>
            <a:r>
              <a:rPr lang="en-US" sz="2500" dirty="0"/>
              <a:t>, </a:t>
            </a:r>
            <a:r>
              <a:rPr lang="en-US" sz="2500" dirty="0" err="1"/>
              <a:t>ikkinchi</a:t>
            </a:r>
            <a:r>
              <a:rPr lang="en-US" sz="2500" dirty="0"/>
              <a:t> </a:t>
            </a:r>
            <a:r>
              <a:rPr lang="en-US" sz="2500" dirty="0" err="1"/>
              <a:t>mashinaning</a:t>
            </a:r>
            <a:r>
              <a:rPr lang="en-US" sz="2500" dirty="0"/>
              <a:t> </a:t>
            </a:r>
            <a:r>
              <a:rPr lang="en-US" sz="2500" dirty="0" err="1"/>
              <a:t>harakatini</a:t>
            </a:r>
            <a:r>
              <a:rPr lang="en-US" sz="2500" dirty="0"/>
              <a:t> </a:t>
            </a:r>
            <a:r>
              <a:rPr lang="en-US" sz="2500" dirty="0" err="1"/>
              <a:t>kutadi</a:t>
            </a:r>
            <a:r>
              <a:rPr lang="en-US" sz="2500" dirty="0"/>
              <a:t>.</a:t>
            </a:r>
          </a:p>
          <a:p>
            <a:pPr>
              <a:lnSpc>
                <a:spcPct val="120000"/>
              </a:lnSpc>
            </a:pPr>
            <a:r>
              <a:rPr lang="en-US" sz="2500" b="1" dirty="0"/>
              <a:t>No preemption:</a:t>
            </a:r>
            <a:r>
              <a:rPr lang="en-US" sz="2500" dirty="0"/>
              <a:t> </a:t>
            </a:r>
            <a:r>
              <a:rPr lang="en-US" sz="2500" dirty="0" err="1"/>
              <a:t>yo‘l</a:t>
            </a:r>
            <a:r>
              <a:rPr lang="en-US" sz="2500" dirty="0"/>
              <a:t> </a:t>
            </a:r>
            <a:r>
              <a:rPr lang="en-US" sz="2500" dirty="0" err="1"/>
              <a:t>joyini</a:t>
            </a:r>
            <a:r>
              <a:rPr lang="en-US" sz="2500" dirty="0"/>
              <a:t> </a:t>
            </a:r>
            <a:r>
              <a:rPr lang="en-US" sz="2500" dirty="0" err="1"/>
              <a:t>majburan</a:t>
            </a:r>
            <a:r>
              <a:rPr lang="en-US" sz="2500" dirty="0"/>
              <a:t> </a:t>
            </a:r>
            <a:r>
              <a:rPr lang="en-US" sz="2500" dirty="0" err="1"/>
              <a:t>tortib</a:t>
            </a:r>
            <a:r>
              <a:rPr lang="en-US" sz="2500" dirty="0"/>
              <a:t> </a:t>
            </a:r>
            <a:r>
              <a:rPr lang="en-US" sz="2500" dirty="0" err="1"/>
              <a:t>olib</a:t>
            </a:r>
            <a:r>
              <a:rPr lang="en-US" sz="2500" dirty="0"/>
              <a:t> </a:t>
            </a:r>
            <a:r>
              <a:rPr lang="en-US" sz="2500" dirty="0" err="1"/>
              <a:t>bo‘lmaydi</a:t>
            </a:r>
            <a:r>
              <a:rPr lang="en-US" sz="2500" dirty="0"/>
              <a:t>.</a:t>
            </a:r>
          </a:p>
          <a:p>
            <a:pPr>
              <a:lnSpc>
                <a:spcPct val="120000"/>
              </a:lnSpc>
            </a:pPr>
            <a:r>
              <a:rPr lang="en-US" sz="2500" b="1" dirty="0"/>
              <a:t>Circular wait:</a:t>
            </a:r>
            <a:r>
              <a:rPr lang="en-US" sz="2500" dirty="0"/>
              <a:t> A → B </a:t>
            </a:r>
            <a:r>
              <a:rPr lang="en-US" sz="2500" dirty="0" err="1"/>
              <a:t>yo‘lidan</a:t>
            </a:r>
            <a:r>
              <a:rPr lang="en-US" sz="2500" dirty="0"/>
              <a:t> </a:t>
            </a:r>
            <a:r>
              <a:rPr lang="en-US" sz="2500" dirty="0" err="1"/>
              <a:t>chiqishini</a:t>
            </a:r>
            <a:r>
              <a:rPr lang="en-US" sz="2500" dirty="0"/>
              <a:t> </a:t>
            </a:r>
            <a:r>
              <a:rPr lang="en-US" sz="2500" dirty="0" err="1"/>
              <a:t>kutadi</a:t>
            </a:r>
            <a:r>
              <a:rPr lang="en-US" sz="2500" dirty="0"/>
              <a:t>, B → A </a:t>
            </a:r>
            <a:r>
              <a:rPr lang="en-US" sz="2500" dirty="0" err="1"/>
              <a:t>yo‘lidan</a:t>
            </a:r>
            <a:r>
              <a:rPr lang="en-US" sz="2500" dirty="0"/>
              <a:t> </a:t>
            </a:r>
            <a:r>
              <a:rPr lang="en-US" sz="2500" dirty="0" err="1"/>
              <a:t>chiqishini</a:t>
            </a:r>
            <a:r>
              <a:rPr lang="en-US" sz="2500" dirty="0"/>
              <a:t> </a:t>
            </a:r>
            <a:r>
              <a:rPr lang="en-US" sz="2500" dirty="0" err="1"/>
              <a:t>kutadi</a:t>
            </a:r>
            <a:r>
              <a:rPr lang="en-US" sz="25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500" dirty="0"/>
              <a:t>  </a:t>
            </a:r>
            <a:r>
              <a:rPr lang="ru-RU" sz="2500" dirty="0"/>
              <a:t>🔧 </a:t>
            </a:r>
            <a:r>
              <a:rPr lang="en-US" sz="2500" b="1" dirty="0" err="1"/>
              <a:t>Yechim</a:t>
            </a:r>
            <a:r>
              <a:rPr lang="en-US" sz="2500" b="1" dirty="0"/>
              <a:t>:</a:t>
            </a:r>
            <a:r>
              <a:rPr lang="en-US" sz="2500" dirty="0"/>
              <a:t> </a:t>
            </a:r>
            <a:r>
              <a:rPr lang="en-US" sz="2500" dirty="0" err="1"/>
              <a:t>Mashinalardan</a:t>
            </a:r>
            <a:r>
              <a:rPr lang="en-US" sz="2500" dirty="0"/>
              <a:t> </a:t>
            </a:r>
            <a:r>
              <a:rPr lang="en-US" sz="2500" dirty="0" err="1"/>
              <a:t>biri</a:t>
            </a:r>
            <a:r>
              <a:rPr lang="en-US" sz="2500" dirty="0"/>
              <a:t> </a:t>
            </a:r>
            <a:r>
              <a:rPr lang="en-US" sz="2500" dirty="0" err="1"/>
              <a:t>orqaga</a:t>
            </a:r>
            <a:r>
              <a:rPr lang="en-US" sz="2500" dirty="0"/>
              <a:t> </a:t>
            </a:r>
            <a:r>
              <a:rPr lang="en-US" sz="2500" dirty="0" err="1"/>
              <a:t>yuradi</a:t>
            </a:r>
            <a:r>
              <a:rPr lang="en-US" sz="2500" dirty="0"/>
              <a:t> (</a:t>
            </a:r>
            <a:r>
              <a:rPr lang="en-US" sz="2500" dirty="0" err="1"/>
              <a:t>resursni</a:t>
            </a:r>
            <a:r>
              <a:rPr lang="en-US" sz="2500" dirty="0"/>
              <a:t> </a:t>
            </a:r>
            <a:r>
              <a:rPr lang="en-US" sz="2500" dirty="0" err="1"/>
              <a:t>bo‘shatadi</a:t>
            </a:r>
            <a:r>
              <a:rPr lang="en-US" sz="2500" dirty="0"/>
              <a:t>) — </a:t>
            </a:r>
            <a:r>
              <a:rPr lang="en-US" sz="2500" dirty="0" err="1"/>
              <a:t>bu</a:t>
            </a:r>
            <a:r>
              <a:rPr lang="en-US" sz="2500" dirty="0"/>
              <a:t> </a:t>
            </a:r>
            <a:r>
              <a:rPr lang="en-US" sz="2500" b="1" dirty="0"/>
              <a:t>recovery</a:t>
            </a:r>
            <a:r>
              <a:rPr lang="en-US" sz="2500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5776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670560"/>
            <a:ext cx="10058400" cy="2946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 err="1"/>
              <a:t>Ovqatlanayotgan</a:t>
            </a:r>
            <a:r>
              <a:rPr lang="en-US" b="1" dirty="0"/>
              <a:t> </a:t>
            </a:r>
            <a:r>
              <a:rPr lang="en-US" b="1" dirty="0" err="1"/>
              <a:t>faylasuflar</a:t>
            </a:r>
            <a:r>
              <a:rPr lang="en-US" b="1" dirty="0"/>
              <a:t> (Dining Philosophers Problem).</a:t>
            </a:r>
            <a:r>
              <a:rPr lang="en-US" dirty="0"/>
              <a:t>Bu — </a:t>
            </a:r>
            <a:r>
              <a:rPr lang="en-US" dirty="0" err="1"/>
              <a:t>informatika</a:t>
            </a:r>
            <a:r>
              <a:rPr lang="en-US" dirty="0"/>
              <a:t> </a:t>
            </a:r>
            <a:r>
              <a:rPr lang="en-US" dirty="0" err="1"/>
              <a:t>darslaridagi</a:t>
            </a:r>
            <a:r>
              <a:rPr lang="en-US" dirty="0"/>
              <a:t> </a:t>
            </a:r>
            <a:r>
              <a:rPr lang="en-US" b="1" dirty="0" err="1"/>
              <a:t>mashhur</a:t>
            </a:r>
            <a:r>
              <a:rPr lang="en-US" b="1" dirty="0"/>
              <a:t> deadlock </a:t>
            </a:r>
            <a:r>
              <a:rPr lang="en-US" b="1" dirty="0" err="1"/>
              <a:t>modeli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Vaziyat</a:t>
            </a:r>
            <a:r>
              <a:rPr lang="en-US" b="1" dirty="0"/>
              <a:t>:</a:t>
            </a:r>
          </a:p>
          <a:p>
            <a:r>
              <a:rPr lang="en-US" dirty="0"/>
              <a:t>3 ta </a:t>
            </a:r>
            <a:r>
              <a:rPr lang="en-US" dirty="0" err="1"/>
              <a:t>faylasuf</a:t>
            </a:r>
            <a:r>
              <a:rPr lang="en-US" dirty="0"/>
              <a:t> </a:t>
            </a:r>
            <a:r>
              <a:rPr lang="en-US" dirty="0" err="1"/>
              <a:t>stol</a:t>
            </a:r>
            <a:r>
              <a:rPr lang="en-US" dirty="0"/>
              <a:t> </a:t>
            </a:r>
            <a:r>
              <a:rPr lang="en-US" dirty="0" err="1"/>
              <a:t>atrofida</a:t>
            </a:r>
            <a:r>
              <a:rPr lang="en-US" dirty="0"/>
              <a:t> </a:t>
            </a:r>
            <a:r>
              <a:rPr lang="en-US" dirty="0" err="1"/>
              <a:t>o‘tirgan</a:t>
            </a:r>
            <a:r>
              <a:rPr lang="en-US" dirty="0"/>
              <a:t>,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birining</a:t>
            </a:r>
            <a:r>
              <a:rPr lang="en-US" dirty="0"/>
              <a:t> </a:t>
            </a:r>
            <a:r>
              <a:rPr lang="en-US" dirty="0" err="1"/>
              <a:t>o‘rtasida</a:t>
            </a:r>
            <a:r>
              <a:rPr lang="en-US" dirty="0"/>
              <a:t> </a:t>
            </a:r>
            <a:r>
              <a:rPr lang="en-US" dirty="0" err="1"/>
              <a:t>bittadan</a:t>
            </a:r>
            <a:r>
              <a:rPr lang="en-US" dirty="0"/>
              <a:t> </a:t>
            </a:r>
            <a:r>
              <a:rPr lang="en-US" dirty="0" err="1"/>
              <a:t>vilka</a:t>
            </a:r>
            <a:r>
              <a:rPr lang="en-US" dirty="0"/>
              <a:t> (fork) bor.</a:t>
            </a:r>
            <a:br>
              <a:rPr lang="en-US" dirty="0"/>
            </a:br>
            <a:r>
              <a:rPr lang="en-US" dirty="0" err="1"/>
              <a:t>Ovqatlanish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biriga</a:t>
            </a:r>
            <a:r>
              <a:rPr lang="en-US" dirty="0"/>
              <a:t> </a:t>
            </a:r>
            <a:r>
              <a:rPr lang="en-US" b="1" dirty="0" err="1"/>
              <a:t>ikkita</a:t>
            </a:r>
            <a:r>
              <a:rPr lang="en-US" b="1" dirty="0"/>
              <a:t> </a:t>
            </a:r>
            <a:r>
              <a:rPr lang="en-US" b="1" dirty="0" err="1"/>
              <a:t>vilka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 </a:t>
            </a:r>
            <a:r>
              <a:rPr lang="en-US" dirty="0" err="1"/>
              <a:t>bo‘ladi</a:t>
            </a:r>
            <a:r>
              <a:rPr lang="en-US" dirty="0"/>
              <a:t> (chap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o‘ng</a:t>
            </a:r>
            <a:r>
              <a:rPr lang="en-US" dirty="0"/>
              <a:t> </a:t>
            </a:r>
            <a:r>
              <a:rPr lang="en-US" dirty="0" err="1"/>
              <a:t>tomondan</a:t>
            </a:r>
            <a:r>
              <a:rPr lang="en-US" dirty="0"/>
              <a:t>).</a:t>
            </a:r>
          </a:p>
          <a:p>
            <a:r>
              <a:rPr lang="en-US" dirty="0"/>
              <a:t>Agar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faylasuflar</a:t>
            </a:r>
            <a:r>
              <a:rPr lang="en-US" dirty="0"/>
              <a:t> </a:t>
            </a:r>
            <a:r>
              <a:rPr lang="en-US" b="1" dirty="0" err="1"/>
              <a:t>chapdagi</a:t>
            </a:r>
            <a:r>
              <a:rPr lang="en-US" b="1" dirty="0"/>
              <a:t> </a:t>
            </a:r>
            <a:r>
              <a:rPr lang="en-US" b="1" dirty="0" err="1"/>
              <a:t>vilkani</a:t>
            </a:r>
            <a:r>
              <a:rPr lang="en-US" b="1" dirty="0"/>
              <a:t> </a:t>
            </a:r>
            <a:r>
              <a:rPr lang="en-US" b="1" dirty="0" err="1"/>
              <a:t>olib</a:t>
            </a:r>
            <a:r>
              <a:rPr lang="en-US" dirty="0"/>
              <a:t>, </a:t>
            </a:r>
            <a:r>
              <a:rPr lang="en-US" dirty="0" err="1"/>
              <a:t>o‘ngdagisini</a:t>
            </a:r>
            <a:r>
              <a:rPr lang="en-US" dirty="0"/>
              <a:t> </a:t>
            </a:r>
            <a:r>
              <a:rPr lang="en-US" dirty="0" err="1"/>
              <a:t>kutishsa</a:t>
            </a:r>
            <a:r>
              <a:rPr lang="en-US" dirty="0"/>
              <a:t> —</a:t>
            </a:r>
            <a:br>
              <a:rPr lang="en-US" dirty="0"/>
            </a:br>
            <a:r>
              <a:rPr lang="en-US" dirty="0" err="1"/>
              <a:t>hammasi</a:t>
            </a:r>
            <a:r>
              <a:rPr lang="en-US" dirty="0"/>
              <a:t> </a:t>
            </a:r>
            <a:r>
              <a:rPr lang="en-US" b="1" dirty="0" err="1"/>
              <a:t>kutish</a:t>
            </a:r>
            <a:r>
              <a:rPr lang="en-US" b="1" dirty="0"/>
              <a:t> </a:t>
            </a:r>
            <a:r>
              <a:rPr lang="en-US" b="1" dirty="0" err="1"/>
              <a:t>holatida</a:t>
            </a:r>
            <a:r>
              <a:rPr lang="en-US" b="1" dirty="0"/>
              <a:t> </a:t>
            </a:r>
            <a:r>
              <a:rPr lang="en-US" b="1" dirty="0" err="1"/>
              <a:t>qoladi</a:t>
            </a:r>
            <a:r>
              <a:rPr lang="en-US" dirty="0"/>
              <a:t> → </a:t>
            </a:r>
            <a:r>
              <a:rPr lang="en-US" b="1" dirty="0"/>
              <a:t>deadlock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ru-RU" dirty="0"/>
              <a:t>🔧 </a:t>
            </a:r>
            <a:r>
              <a:rPr lang="en-US" b="1" dirty="0" err="1"/>
              <a:t>Yechim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Faylasuflar</a:t>
            </a:r>
            <a:r>
              <a:rPr lang="en-US" dirty="0"/>
              <a:t> </a:t>
            </a:r>
            <a:r>
              <a:rPr lang="en-US" dirty="0" err="1"/>
              <a:t>navbat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ovqatlansin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vilkani</a:t>
            </a:r>
            <a:r>
              <a:rPr lang="en-US" dirty="0"/>
              <a:t> </a:t>
            </a:r>
            <a:r>
              <a:rPr lang="en-US" dirty="0" err="1"/>
              <a:t>olish</a:t>
            </a:r>
            <a:r>
              <a:rPr lang="en-US" dirty="0"/>
              <a:t> </a:t>
            </a:r>
            <a:r>
              <a:rPr lang="en-US" dirty="0" err="1"/>
              <a:t>tartibi</a:t>
            </a:r>
            <a:r>
              <a:rPr lang="en-US" dirty="0"/>
              <a:t> </a:t>
            </a:r>
            <a:r>
              <a:rPr lang="en-US" dirty="0" err="1"/>
              <a:t>belgilansin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49" y="3779520"/>
            <a:ext cx="4614597" cy="238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724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2320" y="843280"/>
            <a:ext cx="10345928" cy="5486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Xulosa</a:t>
            </a:r>
            <a:endParaRPr lang="en-US" b="1" dirty="0"/>
          </a:p>
          <a:p>
            <a:pPr algn="just"/>
            <a:r>
              <a:rPr lang="en-US" dirty="0" err="1"/>
              <a:t>Tupik</a:t>
            </a:r>
            <a:r>
              <a:rPr lang="en-US" dirty="0"/>
              <a:t> (deadlock) —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operatsion</a:t>
            </a:r>
            <a:r>
              <a:rPr lang="en-US" dirty="0"/>
              <a:t> </a:t>
            </a:r>
            <a:r>
              <a:rPr lang="en-US" dirty="0" err="1"/>
              <a:t>tizimda</a:t>
            </a:r>
            <a:r>
              <a:rPr lang="en-US" dirty="0"/>
              <a:t> </a:t>
            </a:r>
            <a:r>
              <a:rPr lang="en-US" dirty="0" err="1"/>
              <a:t>jarayonlarning</a:t>
            </a:r>
            <a:r>
              <a:rPr lang="en-US" dirty="0"/>
              <a:t> </a:t>
            </a:r>
            <a:r>
              <a:rPr lang="en-US" dirty="0" err="1"/>
              <a:t>bir-birini</a:t>
            </a:r>
            <a:r>
              <a:rPr lang="en-US" dirty="0"/>
              <a:t> </a:t>
            </a:r>
            <a:r>
              <a:rPr lang="en-US" dirty="0" err="1"/>
              <a:t>kutib</a:t>
            </a:r>
            <a:r>
              <a:rPr lang="en-US" dirty="0"/>
              <a:t>, </a:t>
            </a:r>
            <a:r>
              <a:rPr lang="en-US" dirty="0" err="1"/>
              <a:t>hech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ishini</a:t>
            </a:r>
            <a:r>
              <a:rPr lang="en-US" dirty="0"/>
              <a:t> </a:t>
            </a:r>
            <a:r>
              <a:rPr lang="en-US" dirty="0" err="1"/>
              <a:t>davom</a:t>
            </a:r>
            <a:r>
              <a:rPr lang="en-US" dirty="0"/>
              <a:t> </a:t>
            </a:r>
            <a:r>
              <a:rPr lang="en-US" dirty="0" err="1"/>
              <a:t>ettira</a:t>
            </a:r>
            <a:r>
              <a:rPr lang="en-US" dirty="0"/>
              <a:t> </a:t>
            </a:r>
            <a:r>
              <a:rPr lang="en-US" dirty="0" err="1"/>
              <a:t>olmaydigan</a:t>
            </a:r>
            <a:r>
              <a:rPr lang="en-US" dirty="0"/>
              <a:t> </a:t>
            </a:r>
            <a:r>
              <a:rPr lang="en-US" dirty="0" err="1"/>
              <a:t>holatdir</a:t>
            </a:r>
            <a:r>
              <a:rPr lang="en-US" dirty="0"/>
              <a:t>. </a:t>
            </a:r>
            <a:r>
              <a:rPr lang="en-US" dirty="0" err="1"/>
              <a:t>Bunday</a:t>
            </a:r>
            <a:r>
              <a:rPr lang="en-US" dirty="0"/>
              <a:t> </a:t>
            </a:r>
            <a:r>
              <a:rPr lang="en-US" dirty="0" err="1"/>
              <a:t>vaziyatda</a:t>
            </a:r>
            <a:r>
              <a:rPr lang="en-US" dirty="0"/>
              <a:t> </a:t>
            </a:r>
            <a:r>
              <a:rPr lang="en-US" dirty="0" err="1"/>
              <a:t>tizimning</a:t>
            </a:r>
            <a:r>
              <a:rPr lang="en-US" dirty="0"/>
              <a:t> </a:t>
            </a:r>
            <a:r>
              <a:rPr lang="en-US" dirty="0" err="1"/>
              <a:t>ishlashi</a:t>
            </a:r>
            <a:r>
              <a:rPr lang="en-US" dirty="0"/>
              <a:t> </a:t>
            </a:r>
            <a:r>
              <a:rPr lang="en-US" dirty="0" err="1"/>
              <a:t>to‘xtaydi</a:t>
            </a:r>
            <a:r>
              <a:rPr lang="en-US" dirty="0"/>
              <a:t>, </a:t>
            </a:r>
            <a:r>
              <a:rPr lang="en-US" dirty="0" err="1"/>
              <a:t>resurslar</a:t>
            </a:r>
            <a:r>
              <a:rPr lang="en-US" dirty="0"/>
              <a:t> </a:t>
            </a:r>
            <a:r>
              <a:rPr lang="en-US" dirty="0" err="1"/>
              <a:t>foydasiz</a:t>
            </a:r>
            <a:r>
              <a:rPr lang="en-US" dirty="0"/>
              <a:t> band </a:t>
            </a:r>
            <a:r>
              <a:rPr lang="en-US" dirty="0" err="1"/>
              <a:t>bo‘lib</a:t>
            </a:r>
            <a:r>
              <a:rPr lang="en-US" dirty="0"/>
              <a:t> </a:t>
            </a:r>
            <a:r>
              <a:rPr lang="en-US" dirty="0" err="1"/>
              <a:t>qoladi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tizim</a:t>
            </a:r>
            <a:r>
              <a:rPr lang="en-US" dirty="0"/>
              <a:t> </a:t>
            </a:r>
            <a:r>
              <a:rPr lang="en-US" dirty="0" err="1"/>
              <a:t>unumdorligi</a:t>
            </a:r>
            <a:r>
              <a:rPr lang="en-US" dirty="0"/>
              <a:t> </a:t>
            </a:r>
            <a:r>
              <a:rPr lang="en-US" dirty="0" err="1"/>
              <a:t>keskin</a:t>
            </a:r>
            <a:r>
              <a:rPr lang="en-US" dirty="0"/>
              <a:t> </a:t>
            </a:r>
            <a:r>
              <a:rPr lang="en-US" dirty="0" err="1"/>
              <a:t>pasayadi</a:t>
            </a:r>
            <a:r>
              <a:rPr lang="en-US" dirty="0"/>
              <a:t>. Shu </a:t>
            </a:r>
            <a:r>
              <a:rPr lang="en-US" dirty="0" err="1"/>
              <a:t>sababli</a:t>
            </a:r>
            <a:r>
              <a:rPr lang="en-US" dirty="0"/>
              <a:t> </a:t>
            </a:r>
            <a:r>
              <a:rPr lang="en-US" dirty="0" err="1"/>
              <a:t>deadlocklarni</a:t>
            </a:r>
            <a:r>
              <a:rPr lang="en-US" dirty="0"/>
              <a:t> </a:t>
            </a:r>
            <a:r>
              <a:rPr lang="en-US" dirty="0" err="1"/>
              <a:t>o‘rganish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oldini</a:t>
            </a:r>
            <a:r>
              <a:rPr lang="en-US" dirty="0"/>
              <a:t> </a:t>
            </a:r>
            <a:r>
              <a:rPr lang="en-US" dirty="0" err="1"/>
              <a:t>olish</a:t>
            </a:r>
            <a:r>
              <a:rPr lang="en-US" dirty="0"/>
              <a:t> —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operatsion</a:t>
            </a:r>
            <a:r>
              <a:rPr lang="en-US" dirty="0"/>
              <a:t> </a:t>
            </a:r>
            <a:r>
              <a:rPr lang="en-US" dirty="0" err="1"/>
              <a:t>tizimning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vazifalaridan</a:t>
            </a:r>
            <a:r>
              <a:rPr lang="en-US" dirty="0"/>
              <a:t> </a:t>
            </a:r>
            <a:r>
              <a:rPr lang="en-US" dirty="0" err="1"/>
              <a:t>biridir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Tupiklarning</a:t>
            </a:r>
            <a:r>
              <a:rPr lang="en-US" dirty="0"/>
              <a:t> </a:t>
            </a:r>
            <a:r>
              <a:rPr lang="en-US" dirty="0" err="1"/>
              <a:t>paydo</a:t>
            </a:r>
            <a:r>
              <a:rPr lang="en-US" dirty="0"/>
              <a:t> </a:t>
            </a:r>
            <a:r>
              <a:rPr lang="en-US" dirty="0" err="1"/>
              <a:t>bo‘lishi</a:t>
            </a:r>
            <a:r>
              <a:rPr lang="en-US" dirty="0"/>
              <a:t> </a:t>
            </a:r>
            <a:r>
              <a:rPr lang="en-US" b="1" dirty="0" err="1"/>
              <a:t>resurslar</a:t>
            </a:r>
            <a:r>
              <a:rPr lang="en-US" b="1" dirty="0"/>
              <a:t> </a:t>
            </a:r>
            <a:r>
              <a:rPr lang="en-US" b="1" dirty="0" err="1"/>
              <a:t>yetishmasligi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b="1" dirty="0" err="1"/>
              <a:t>noto‘g‘ri</a:t>
            </a:r>
            <a:r>
              <a:rPr lang="en-US" b="1" dirty="0"/>
              <a:t> </a:t>
            </a:r>
            <a:r>
              <a:rPr lang="en-US" b="1" dirty="0" err="1"/>
              <a:t>taqsimlanishi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bog‘liq</a:t>
            </a:r>
            <a:r>
              <a:rPr lang="en-US" dirty="0"/>
              <a:t>. </a:t>
            </a:r>
            <a:r>
              <a:rPr lang="en-US" dirty="0" err="1"/>
              <a:t>Ular</a:t>
            </a:r>
            <a:r>
              <a:rPr lang="en-US" dirty="0"/>
              <a:t> </a:t>
            </a:r>
            <a:r>
              <a:rPr lang="en-US" dirty="0" err="1"/>
              <a:t>ko‘pincha</a:t>
            </a:r>
            <a:r>
              <a:rPr lang="en-US" dirty="0"/>
              <a:t> </a:t>
            </a:r>
            <a:r>
              <a:rPr lang="en-US" dirty="0" err="1"/>
              <a:t>fayl</a:t>
            </a:r>
            <a:r>
              <a:rPr lang="en-US" dirty="0"/>
              <a:t>, printer, </a:t>
            </a:r>
            <a:r>
              <a:rPr lang="en-US" dirty="0" err="1"/>
              <a:t>xotira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resurslar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ishlovchi</a:t>
            </a:r>
            <a:r>
              <a:rPr lang="en-US" dirty="0"/>
              <a:t> </a:t>
            </a:r>
            <a:r>
              <a:rPr lang="en-US" dirty="0" err="1"/>
              <a:t>jarayonlarda</a:t>
            </a:r>
            <a:r>
              <a:rPr lang="en-US" dirty="0"/>
              <a:t> </a:t>
            </a:r>
            <a:r>
              <a:rPr lang="en-US" dirty="0" err="1"/>
              <a:t>uchraydi</a:t>
            </a:r>
            <a:r>
              <a:rPr lang="en-US" dirty="0"/>
              <a:t>. </a:t>
            </a:r>
            <a:r>
              <a:rPr lang="en-US" dirty="0" err="1"/>
              <a:t>Tupikning</a:t>
            </a:r>
            <a:r>
              <a:rPr lang="en-US" dirty="0"/>
              <a:t> </a:t>
            </a:r>
            <a:r>
              <a:rPr lang="en-US" dirty="0" err="1"/>
              <a:t>sodir</a:t>
            </a:r>
            <a:r>
              <a:rPr lang="en-US" dirty="0"/>
              <a:t> </a:t>
            </a:r>
            <a:r>
              <a:rPr lang="en-US" dirty="0" err="1"/>
              <a:t>bo‘lishi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to‘rtta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shart</a:t>
            </a:r>
            <a:r>
              <a:rPr lang="en-US" dirty="0"/>
              <a:t> — </a:t>
            </a:r>
            <a:r>
              <a:rPr lang="en-US" b="1" dirty="0"/>
              <a:t>mutual exclusion</a:t>
            </a:r>
            <a:r>
              <a:rPr lang="en-US" dirty="0"/>
              <a:t>, </a:t>
            </a:r>
            <a:r>
              <a:rPr lang="en-US" b="1" dirty="0"/>
              <a:t>hold and wait</a:t>
            </a:r>
            <a:r>
              <a:rPr lang="en-US" dirty="0"/>
              <a:t>, </a:t>
            </a:r>
            <a:r>
              <a:rPr lang="en-US" b="1" dirty="0"/>
              <a:t>no preemption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b="1" dirty="0"/>
              <a:t>circular wait</a:t>
            </a:r>
            <a:r>
              <a:rPr lang="en-US" dirty="0"/>
              <a:t> </a:t>
            </a:r>
            <a:r>
              <a:rPr lang="en-US" dirty="0" err="1"/>
              <a:t>bajarilishi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. Shu </a:t>
            </a:r>
            <a:r>
              <a:rPr lang="en-US" dirty="0" err="1"/>
              <a:t>shartlardan</a:t>
            </a:r>
            <a:r>
              <a:rPr lang="en-US" dirty="0"/>
              <a:t> </a:t>
            </a:r>
            <a:r>
              <a:rPr lang="en-US" dirty="0" err="1"/>
              <a:t>hech</a:t>
            </a:r>
            <a:r>
              <a:rPr lang="en-US" dirty="0"/>
              <a:t> </a:t>
            </a:r>
            <a:r>
              <a:rPr lang="en-US" dirty="0" err="1"/>
              <a:t>bo‘lmaganda</a:t>
            </a:r>
            <a:r>
              <a:rPr lang="en-US" dirty="0"/>
              <a:t> </a:t>
            </a:r>
            <a:r>
              <a:rPr lang="en-US" dirty="0" err="1"/>
              <a:t>bittasini</a:t>
            </a:r>
            <a:r>
              <a:rPr lang="en-US" dirty="0"/>
              <a:t> </a:t>
            </a:r>
            <a:r>
              <a:rPr lang="en-US" dirty="0" err="1"/>
              <a:t>buzish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deadlockdan</a:t>
            </a:r>
            <a:r>
              <a:rPr lang="en-US" dirty="0"/>
              <a:t> </a:t>
            </a:r>
            <a:r>
              <a:rPr lang="en-US" dirty="0" err="1"/>
              <a:t>qochish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Umuman</a:t>
            </a:r>
            <a:r>
              <a:rPr lang="en-US" dirty="0"/>
              <a:t> </a:t>
            </a:r>
            <a:r>
              <a:rPr lang="en-US" dirty="0" err="1"/>
              <a:t>olganda</a:t>
            </a:r>
            <a:r>
              <a:rPr lang="en-US" dirty="0"/>
              <a:t>, </a:t>
            </a:r>
            <a:r>
              <a:rPr lang="en-US" dirty="0" err="1"/>
              <a:t>tupiklarni</a:t>
            </a:r>
            <a:r>
              <a:rPr lang="en-US" dirty="0"/>
              <a:t> </a:t>
            </a:r>
            <a:r>
              <a:rPr lang="en-US" dirty="0" err="1"/>
              <a:t>tushunish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ulardan</a:t>
            </a:r>
            <a:r>
              <a:rPr lang="en-US" dirty="0"/>
              <a:t> </a:t>
            </a:r>
            <a:r>
              <a:rPr lang="en-US" dirty="0" err="1"/>
              <a:t>himoyalanish</a:t>
            </a:r>
            <a:r>
              <a:rPr lang="en-US" dirty="0"/>
              <a:t> — </a:t>
            </a:r>
            <a:r>
              <a:rPr lang="en-US" dirty="0" err="1"/>
              <a:t>zamonaviy</a:t>
            </a:r>
            <a:r>
              <a:rPr lang="en-US" dirty="0"/>
              <a:t> </a:t>
            </a:r>
            <a:r>
              <a:rPr lang="en-US" dirty="0" err="1"/>
              <a:t>kompyuter</a:t>
            </a:r>
            <a:r>
              <a:rPr lang="en-US" dirty="0"/>
              <a:t> </a:t>
            </a:r>
            <a:r>
              <a:rPr lang="en-US" dirty="0" err="1"/>
              <a:t>tizimlarining</a:t>
            </a:r>
            <a:r>
              <a:rPr lang="en-US" dirty="0"/>
              <a:t> </a:t>
            </a:r>
            <a:r>
              <a:rPr lang="en-US" dirty="0" err="1"/>
              <a:t>barqaror</a:t>
            </a:r>
            <a:r>
              <a:rPr lang="en-US" dirty="0"/>
              <a:t>, </a:t>
            </a:r>
            <a:r>
              <a:rPr lang="en-US" dirty="0" err="1"/>
              <a:t>tezkor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xavfsiz</a:t>
            </a:r>
            <a:r>
              <a:rPr lang="en-US" dirty="0"/>
              <a:t> </a:t>
            </a:r>
            <a:r>
              <a:rPr lang="en-US" dirty="0" err="1"/>
              <a:t>ishlashida</a:t>
            </a:r>
            <a:r>
              <a:rPr lang="en-US" dirty="0"/>
              <a:t> </a:t>
            </a:r>
            <a:r>
              <a:rPr lang="en-US" dirty="0" err="1"/>
              <a:t>muhim</a:t>
            </a:r>
            <a:r>
              <a:rPr lang="en-US" dirty="0"/>
              <a:t> </a:t>
            </a:r>
            <a:r>
              <a:rPr lang="en-US" dirty="0" err="1"/>
              <a:t>o‘rin</a:t>
            </a:r>
            <a:r>
              <a:rPr lang="en-US" dirty="0"/>
              <a:t> </a:t>
            </a:r>
            <a:r>
              <a:rPr lang="en-US" dirty="0" err="1"/>
              <a:t>tutadi</a:t>
            </a:r>
            <a:r>
              <a:rPr lang="en-US" dirty="0"/>
              <a:t>. </a:t>
            </a:r>
            <a:r>
              <a:rPr lang="en-US" dirty="0" err="1"/>
              <a:t>Operatsion</a:t>
            </a:r>
            <a:r>
              <a:rPr lang="en-US" dirty="0"/>
              <a:t> </a:t>
            </a:r>
            <a:r>
              <a:rPr lang="en-US" dirty="0" err="1"/>
              <a:t>tizimning</a:t>
            </a:r>
            <a:r>
              <a:rPr lang="en-US" dirty="0"/>
              <a:t> </a:t>
            </a:r>
            <a:r>
              <a:rPr lang="en-US" dirty="0" err="1"/>
              <a:t>samaradorligi</a:t>
            </a:r>
            <a:r>
              <a:rPr lang="en-US" dirty="0"/>
              <a:t> </a:t>
            </a:r>
            <a:r>
              <a:rPr lang="en-US" dirty="0" err="1"/>
              <a:t>aynan</a:t>
            </a:r>
            <a:r>
              <a:rPr lang="en-US" dirty="0"/>
              <a:t> </a:t>
            </a:r>
            <a:r>
              <a:rPr lang="en-US" dirty="0" err="1"/>
              <a:t>resurslarni</a:t>
            </a:r>
            <a:r>
              <a:rPr lang="en-US" dirty="0"/>
              <a:t> </a:t>
            </a:r>
            <a:r>
              <a:rPr lang="en-US" dirty="0" err="1"/>
              <a:t>to‘g‘ri</a:t>
            </a:r>
            <a:r>
              <a:rPr lang="en-US" dirty="0"/>
              <a:t> </a:t>
            </a:r>
            <a:r>
              <a:rPr lang="en-US" dirty="0" err="1"/>
              <a:t>boshqarish</a:t>
            </a:r>
            <a:r>
              <a:rPr lang="en-US" dirty="0"/>
              <a:t>, </a:t>
            </a:r>
            <a:r>
              <a:rPr lang="en-US" dirty="0" err="1"/>
              <a:t>jarayonlarni</a:t>
            </a:r>
            <a:r>
              <a:rPr lang="en-US" dirty="0"/>
              <a:t> </a:t>
            </a:r>
            <a:r>
              <a:rPr lang="en-US" dirty="0" err="1"/>
              <a:t>muvofiqlashtirish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deadlocklarni</a:t>
            </a:r>
            <a:r>
              <a:rPr lang="en-US" dirty="0"/>
              <a:t> </a:t>
            </a:r>
            <a:r>
              <a:rPr lang="en-US" dirty="0" err="1"/>
              <a:t>bartaraf</a:t>
            </a:r>
            <a:r>
              <a:rPr lang="en-US" dirty="0"/>
              <a:t> </a:t>
            </a:r>
            <a:r>
              <a:rPr lang="en-US" dirty="0" err="1"/>
              <a:t>etish</a:t>
            </a:r>
            <a:r>
              <a:rPr lang="en-US" dirty="0"/>
              <a:t> </a:t>
            </a:r>
            <a:r>
              <a:rPr lang="en-US" dirty="0" err="1"/>
              <a:t>qobiliyatiga</a:t>
            </a:r>
            <a:r>
              <a:rPr lang="en-US" dirty="0"/>
              <a:t> </a:t>
            </a:r>
            <a:r>
              <a:rPr lang="en-US" dirty="0" err="1"/>
              <a:t>bog‘liqdir</a:t>
            </a:r>
            <a:r>
              <a:rPr lang="en-US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0056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157</TotalTime>
  <Words>1230</Words>
  <Application>Microsoft Office PowerPoint</Application>
  <PresentationFormat>Широкоэкранный</PresentationFormat>
  <Paragraphs>106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Cambria</vt:lpstr>
      <vt:lpstr>Rockwell</vt:lpstr>
      <vt:lpstr>Rockwell Condensed</vt:lpstr>
      <vt:lpstr>Wingdings</vt:lpstr>
      <vt:lpstr>Дерево</vt:lpstr>
      <vt:lpstr>MAVZU: Tupiklar (Deadlock) va ularni oldini olish</vt:lpstr>
      <vt:lpstr>Reja:</vt:lpstr>
      <vt:lpstr>Tupik (Deadlock) tushunchasi</vt:lpstr>
      <vt:lpstr>Deadlockning 4 ta sharti (Coffman conditions)</vt:lpstr>
      <vt:lpstr>Deadlock turlari va aniqlash modellari </vt:lpstr>
      <vt:lpstr>Deadlock aniqlash modellari</vt:lpstr>
      <vt:lpstr>Deadlockni oldini olish usullari.</vt:lpstr>
      <vt:lpstr>Презентация PowerPoint</vt:lpstr>
      <vt:lpstr>Презентация PowerPoint</vt:lpstr>
      <vt:lpstr>Deadlockni aniqlash va undan chiqish. </vt:lpstr>
      <vt:lpstr>Hayotiy misollar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MAVZU: Tupiklar (Deadlock) va ularni oldini olish</dc:title>
  <dc:creator>nurullayev</dc:creator>
  <cp:lastModifiedBy>Пользователь</cp:lastModifiedBy>
  <cp:revision>14</cp:revision>
  <dcterms:created xsi:type="dcterms:W3CDTF">2025-10-18T18:25:15Z</dcterms:created>
  <dcterms:modified xsi:type="dcterms:W3CDTF">2025-10-30T10:28:22Z</dcterms:modified>
</cp:coreProperties>
</file>