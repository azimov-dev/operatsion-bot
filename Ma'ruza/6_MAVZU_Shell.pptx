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9" r:id="rId1"/>
    <p:sldMasterId id="2147483741" r:id="rId2"/>
  </p:sldMasterIdLst>
  <p:sldIdLst>
    <p:sldId id="278" r:id="rId3"/>
    <p:sldId id="288" r:id="rId4"/>
    <p:sldId id="354" r:id="rId5"/>
    <p:sldId id="355" r:id="rId6"/>
    <p:sldId id="356" r:id="rId7"/>
    <p:sldId id="357" r:id="rId8"/>
    <p:sldId id="358" r:id="rId9"/>
    <p:sldId id="359" r:id="rId10"/>
    <p:sldId id="360" r:id="rId11"/>
    <p:sldId id="310" r:id="rId12"/>
    <p:sldId id="289" r:id="rId13"/>
    <p:sldId id="339" r:id="rId14"/>
    <p:sldId id="362" r:id="rId15"/>
    <p:sldId id="363" r:id="rId16"/>
    <p:sldId id="361" r:id="rId17"/>
    <p:sldId id="353" r:id="rId18"/>
    <p:sldId id="272" r:id="rId19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82" autoAdjust="0"/>
    <p:restoredTop sz="94660"/>
  </p:normalViewPr>
  <p:slideViewPr>
    <p:cSldViewPr snapToGrid="0">
      <p:cViewPr varScale="1">
        <p:scale>
          <a:sx n="82" d="100"/>
          <a:sy n="82" d="100"/>
        </p:scale>
        <p:origin x="146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311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105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3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8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388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831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9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2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2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798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267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646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30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51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30"/>
            <a:ext cx="462915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010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685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2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762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EB4DE7-5760-40CE-8B3D-F9DD51614C85}" type="datetimeFigureOut">
              <a:rPr lang="ru-RU" smtClean="0"/>
              <a:pPr>
                <a:defRPr/>
              </a:pPr>
              <a:t>05.10.2025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6DA87D-CF19-4DE6-9F73-28CC14904AF8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31513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EB4DE7-5760-40CE-8B3D-F9DD51614C85}" type="datetimeFigureOut">
              <a:rPr lang="ru-RU" smtClean="0"/>
              <a:pPr>
                <a:defRPr/>
              </a:pPr>
              <a:t>05.10.2025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6DA87D-CF19-4DE6-9F73-28CC14904AF8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50530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3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8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EB4DE7-5760-40CE-8B3D-F9DD51614C85}" type="datetimeFigureOut">
              <a:rPr lang="ru-RU" smtClean="0"/>
              <a:pPr>
                <a:defRPr/>
              </a:pPr>
              <a:t>05.10.2025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6DA87D-CF19-4DE6-9F73-28CC14904AF8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28639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EB4DE7-5760-40CE-8B3D-F9DD51614C85}" type="datetimeFigureOut">
              <a:rPr lang="ru-RU" smtClean="0"/>
              <a:pPr>
                <a:defRPr/>
              </a:pPr>
              <a:t>05.10.2025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6DA87D-CF19-4DE6-9F73-28CC14904AF8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56445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9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2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2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EB4DE7-5760-40CE-8B3D-F9DD51614C85}" type="datetimeFigureOut">
              <a:rPr lang="ru-RU" smtClean="0"/>
              <a:pPr>
                <a:defRPr/>
              </a:pPr>
              <a:t>05.10.2025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6DA87D-CF19-4DE6-9F73-28CC14904AF8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29111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EB4DE7-5760-40CE-8B3D-F9DD51614C85}" type="datetimeFigureOut">
              <a:rPr lang="ru-RU" smtClean="0"/>
              <a:pPr>
                <a:defRPr/>
              </a:pPr>
              <a:t>05.10.2025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6DA87D-CF19-4DE6-9F73-28CC14904AF8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72831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EB4DE7-5760-40CE-8B3D-F9DD51614C85}" type="datetimeFigureOut">
              <a:rPr lang="ru-RU" smtClean="0"/>
              <a:pPr>
                <a:defRPr/>
              </a:pPr>
              <a:t>05.10.2025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6DA87D-CF19-4DE6-9F73-28CC14904AF8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33887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30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EB4DE7-5760-40CE-8B3D-F9DD51614C85}" type="datetimeFigureOut">
              <a:rPr lang="ru-RU" smtClean="0"/>
              <a:pPr>
                <a:defRPr/>
              </a:pPr>
              <a:t>05.10.2025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6DA87D-CF19-4DE6-9F73-28CC14904AF8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08705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30"/>
            <a:ext cx="462915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EB4DE7-5760-40CE-8B3D-F9DD51614C85}" type="datetimeFigureOut">
              <a:rPr lang="ru-RU" smtClean="0"/>
              <a:pPr>
                <a:defRPr/>
              </a:pPr>
              <a:t>05.10.2025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6DA87D-CF19-4DE6-9F73-28CC14904AF8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44952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EB4DE7-5760-40CE-8B3D-F9DD51614C85}" type="datetimeFigureOut">
              <a:rPr lang="ru-RU" smtClean="0"/>
              <a:pPr>
                <a:defRPr/>
              </a:pPr>
              <a:t>05.10.2025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6DA87D-CF19-4DE6-9F73-28CC14904AF8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834541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2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EB4DE7-5760-40CE-8B3D-F9DD51614C85}" type="datetimeFigureOut">
              <a:rPr lang="ru-RU" smtClean="0"/>
              <a:pPr>
                <a:defRPr/>
              </a:pPr>
              <a:t>05.10.2025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6DA87D-CF19-4DE6-9F73-28CC14904AF8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12879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EB4DE7-5760-40CE-8B3D-F9DD51614C85}" type="datetimeFigureOut">
              <a:rPr lang="ru-RU" smtClean="0"/>
              <a:pPr>
                <a:defRPr/>
              </a:pPr>
              <a:t>05.10.2025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6DA87D-CF19-4DE6-9F73-28CC14904AF8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071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54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936" r="62442"/>
          <a:stretch/>
        </p:blipFill>
        <p:spPr>
          <a:xfrm>
            <a:off x="0" y="5144"/>
            <a:ext cx="9144000" cy="6852856"/>
          </a:xfrm>
          <a:prstGeom prst="rect">
            <a:avLst/>
          </a:prstGeom>
        </p:spPr>
      </p:pic>
      <p:sp>
        <p:nvSpPr>
          <p:cNvPr id="56" name="Rectangle 55"/>
          <p:cNvSpPr/>
          <p:nvPr/>
        </p:nvSpPr>
        <p:spPr>
          <a:xfrm>
            <a:off x="180754" y="163211"/>
            <a:ext cx="8803760" cy="6558269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8000"/>
                </a:schemeClr>
              </a:gs>
              <a:gs pos="100000">
                <a:schemeClr val="bg1">
                  <a:alpha val="8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460" y="1287256"/>
            <a:ext cx="7869890" cy="48897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BD9794-A4CC-42D0-9A65-24C6B9EF4076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2" y="163208"/>
            <a:ext cx="7886698" cy="99874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09616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54"/>
          <p:cNvPicPr>
            <a:picLocks noChangeAspect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936" r="62442"/>
          <a:stretch/>
        </p:blipFill>
        <p:spPr>
          <a:xfrm>
            <a:off x="0" y="5144"/>
            <a:ext cx="9144000" cy="6852856"/>
          </a:xfrm>
          <a:prstGeom prst="rect">
            <a:avLst/>
          </a:prstGeom>
        </p:spPr>
      </p:pic>
      <p:sp>
        <p:nvSpPr>
          <p:cNvPr id="56" name="Rectangle 55"/>
          <p:cNvSpPr/>
          <p:nvPr/>
        </p:nvSpPr>
        <p:spPr>
          <a:xfrm>
            <a:off x="180754" y="163211"/>
            <a:ext cx="8803760" cy="6558269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8000"/>
                </a:schemeClr>
              </a:gs>
              <a:gs pos="100000">
                <a:schemeClr val="bg1">
                  <a:alpha val="8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460" y="1287256"/>
            <a:ext cx="7869890" cy="48897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FDEB4DE7-5760-40CE-8B3D-F9DD51614C85}" type="datetimeFigureOut">
              <a:rPr lang="ru-RU" smtClean="0"/>
              <a:pPr>
                <a:defRPr/>
              </a:pPr>
              <a:t>05.10.2025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C6DA87D-CF19-4DE6-9F73-28CC14904AF8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2" y="163208"/>
            <a:ext cx="7886698" cy="99874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68688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  <p:sldLayoutId id="2147483753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geeksforgeeks.org/computer-graphics/what-is-graphical-user-interface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rlessons.com/tutorials/akademicheskii/osnovy-operatsionnykh-sistem/15-upravlenie-protsessami-v-os" TargetMode="External"/><Relationship Id="rId2" Type="http://schemas.openxmlformats.org/officeDocument/2006/relationships/slideLayout" Target="../slideLayouts/slideLayout23.xml"/><Relationship Id="rId1" Type="http://schemas.openxmlformats.org/officeDocument/2006/relationships/themeOverride" Target="../theme/themeOverr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6BD51-17E7-9432-6598-CEC94D09B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6E87C95D-A949-8018-EAD4-7E662E967B8B}"/>
              </a:ext>
            </a:extLst>
          </p:cNvPr>
          <p:cNvSpPr/>
          <p:nvPr/>
        </p:nvSpPr>
        <p:spPr>
          <a:xfrm>
            <a:off x="1143000" y="3472860"/>
            <a:ext cx="6858000" cy="1464901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B33918A5-27FD-349C-6983-A65476E5612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999" y="857250"/>
            <a:ext cx="6858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6F9FD5B-390B-137A-1885-467EFF8A837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3091" y="1958201"/>
            <a:ext cx="815033" cy="815033"/>
          </a:xfrm>
          <a:prstGeom prst="rect">
            <a:avLst/>
          </a:prstGeom>
        </p:spPr>
      </p:pic>
      <p:sp>
        <p:nvSpPr>
          <p:cNvPr id="7" name="POWERPOINT TEMPLATE">
            <a:extLst>
              <a:ext uri="{FF2B5EF4-FFF2-40B4-BE49-F238E27FC236}">
                <a16:creationId xmlns:a16="http://schemas.microsoft.com/office/drawing/2014/main" id="{7870EBB8-599A-243C-22AB-6F2350B68B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9071" y="2707953"/>
            <a:ext cx="1423074" cy="2654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square" lIns="28575" tIns="28575" rIns="28575" bIns="28575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68580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tabLst>
                <a:tab pos="800100" algn="l"/>
              </a:tabLst>
              <a:defRPr/>
            </a:pPr>
            <a:r>
              <a:rPr lang="en-US" altLang="ru-RU" sz="1350" b="1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  <a:sym typeface="Arial" panose="020B0604020202020204" pitchFamily="34" charset="0"/>
              </a:rPr>
              <a:t>OSYS16MBK</a:t>
            </a:r>
            <a:endParaRPr lang="ru-RU" altLang="ru-RU" sz="1200" b="1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  <a:sym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B7CEA3-5F12-F926-5225-E322607396DD}"/>
              </a:ext>
            </a:extLst>
          </p:cNvPr>
          <p:cNvSpPr txBox="1"/>
          <p:nvPr/>
        </p:nvSpPr>
        <p:spPr>
          <a:xfrm>
            <a:off x="2203417" y="2115491"/>
            <a:ext cx="2083005" cy="568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 fontAlgn="auto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ru-RU" sz="1500" b="1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OPERASION TIZIMLAR</a:t>
            </a:r>
          </a:p>
        </p:txBody>
      </p:sp>
      <p:sp>
        <p:nvSpPr>
          <p:cNvPr id="18" name="TextBox 79">
            <a:extLst>
              <a:ext uri="{FF2B5EF4-FFF2-40B4-BE49-F238E27FC236}">
                <a16:creationId xmlns:a16="http://schemas.microsoft.com/office/drawing/2014/main" id="{CE219CBA-0AE5-C36B-3FF0-32A77837BC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9125" y="4890125"/>
            <a:ext cx="283550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8580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ru-RU" sz="1350" b="1" spc="27" dirty="0">
                <a:solidFill>
                  <a:srgbClr val="452721"/>
                </a:solidFill>
                <a:latin typeface="Montserrat Medium"/>
              </a:rPr>
              <a:t> </a:t>
            </a:r>
          </a:p>
        </p:txBody>
      </p: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D9D3BF0D-4A5E-EED0-0945-DFB845A9D3EE}"/>
              </a:ext>
            </a:extLst>
          </p:cNvPr>
          <p:cNvCxnSpPr>
            <a:cxnSpLocks/>
          </p:cNvCxnSpPr>
          <p:nvPr/>
        </p:nvCxnSpPr>
        <p:spPr>
          <a:xfrm>
            <a:off x="4749125" y="4307118"/>
            <a:ext cx="0" cy="135373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4" name="Рисунок 60">
            <a:extLst>
              <a:ext uri="{FF2B5EF4-FFF2-40B4-BE49-F238E27FC236}">
                <a16:creationId xmlns:a16="http://schemas.microsoft.com/office/drawing/2014/main" id="{FF2D45A0-CC38-F829-682A-4C98BA0F561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8498" y="971947"/>
            <a:ext cx="815033" cy="8150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B87285E1-AEB3-23F8-1174-DB88C42A560B}"/>
              </a:ext>
            </a:extLst>
          </p:cNvPr>
          <p:cNvSpPr txBox="1"/>
          <p:nvPr/>
        </p:nvSpPr>
        <p:spPr>
          <a:xfrm>
            <a:off x="2049527" y="1148632"/>
            <a:ext cx="5923472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685800" fontAlgn="auto">
              <a:spcAft>
                <a:spcPts val="0"/>
              </a:spcAft>
              <a:defRPr/>
            </a:pPr>
            <a:r>
              <a:rPr lang="en-US" altLang="ru-RU" sz="1500" b="1" spc="134" dirty="0">
                <a:solidFill>
                  <a:srgbClr val="FFCE33"/>
                </a:solidFill>
                <a:latin typeface="Cambria" panose="02040503050406030204" pitchFamily="18" charset="0"/>
                <a:ea typeface="Cambria" panose="02040503050406030204" pitchFamily="18" charset="0"/>
                <a:sym typeface="Arial" panose="020B0604020202020204" pitchFamily="34" charset="0"/>
              </a:rPr>
              <a:t>MUHAMMAD AL-XORAZMIY NOMIDAGI TOSHKENT </a:t>
            </a:r>
          </a:p>
          <a:p>
            <a:pPr algn="ctr" defTabSz="685800" fontAlgn="auto">
              <a:spcAft>
                <a:spcPts val="0"/>
              </a:spcAft>
              <a:defRPr/>
            </a:pPr>
            <a:r>
              <a:rPr lang="en-US" altLang="ru-RU" sz="1500" b="1" spc="134" dirty="0">
                <a:solidFill>
                  <a:srgbClr val="FFCE33"/>
                </a:solidFill>
                <a:latin typeface="Cambria" panose="02040503050406030204" pitchFamily="18" charset="0"/>
                <a:ea typeface="Cambria" panose="02040503050406030204" pitchFamily="18" charset="0"/>
                <a:sym typeface="Arial" panose="020B0604020202020204" pitchFamily="34" charset="0"/>
              </a:rPr>
              <a:t> AXBOROT TEXNOLOGIYALARI UNIVERSITETI</a:t>
            </a:r>
            <a:endParaRPr lang="en-US" sz="1500" b="1" spc="134" dirty="0">
              <a:solidFill>
                <a:srgbClr val="FFCE33"/>
              </a:solidFill>
              <a:latin typeface="Cambria" panose="02040503050406030204" pitchFamily="18" charset="0"/>
              <a:ea typeface="Cambria" panose="02040503050406030204" pitchFamily="18" charset="0"/>
              <a:sym typeface="Open Sans"/>
            </a:endParaRP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A2F7FF0B-9AC3-B317-9576-8ED42CA87CB6}"/>
              </a:ext>
            </a:extLst>
          </p:cNvPr>
          <p:cNvCxnSpPr>
            <a:cxnSpLocks/>
          </p:cNvCxnSpPr>
          <p:nvPr/>
        </p:nvCxnSpPr>
        <p:spPr>
          <a:xfrm>
            <a:off x="2133531" y="1610297"/>
            <a:ext cx="5867469" cy="748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120827B-DD1A-3DA0-2759-8387DCA07B1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3851" r="13851"/>
          <a:stretch>
            <a:fillRect/>
          </a:stretch>
        </p:blipFill>
        <p:spPr>
          <a:xfrm>
            <a:off x="4898441" y="1298783"/>
            <a:ext cx="3074558" cy="3106593"/>
          </a:xfrm>
          <a:prstGeom prst="ellipse">
            <a:avLst/>
          </a:prstGeom>
          <a:effectLst>
            <a:softEdge rad="406400"/>
          </a:effectLst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78D7FA1-AD08-02BA-CDAF-08E2921C0C0F}"/>
              </a:ext>
            </a:extLst>
          </p:cNvPr>
          <p:cNvSpPr>
            <a:spLocks noChangeAspect="1"/>
          </p:cNvSpPr>
          <p:nvPr/>
        </p:nvSpPr>
        <p:spPr>
          <a:xfrm>
            <a:off x="2707211" y="3147021"/>
            <a:ext cx="5230280" cy="822695"/>
          </a:xfrm>
          <a:prstGeom prst="rect">
            <a:avLst/>
          </a:prstGeom>
          <a:solidFill>
            <a:srgbClr val="01DEE9"/>
          </a:solidFill>
          <a:ln w="12700">
            <a:miter lim="400000"/>
          </a:ln>
        </p:spPr>
        <p:txBody>
          <a:bodyPr lIns="28575" tIns="28575" rIns="28575" bIns="28575" anchor="ctr"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100" dirty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Calibri"/>
              <a:cs typeface="Arial" panose="020B0604020202020204" pitchFamily="34" charset="0"/>
            </a:endParaRPr>
          </a:p>
        </p:txBody>
      </p:sp>
      <p:sp>
        <p:nvSpPr>
          <p:cNvPr id="9" name="POWERPOINT TEMPLATE">
            <a:extLst>
              <a:ext uri="{FF2B5EF4-FFF2-40B4-BE49-F238E27FC236}">
                <a16:creationId xmlns:a16="http://schemas.microsoft.com/office/drawing/2014/main" id="{7CD0029B-D3DB-28E9-041C-AAB66D0721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9929" y="3210248"/>
            <a:ext cx="4375733" cy="6732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square" lIns="28575" tIns="28575" rIns="28575" bIns="28575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85800" fontAlgn="auto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None/>
              <a:tabLst>
                <a:tab pos="800100" algn="l"/>
              </a:tabLst>
              <a:defRPr/>
            </a:pPr>
            <a:r>
              <a:rPr lang="en-US" sz="2000" b="1" dirty="0">
                <a:solidFill>
                  <a:prstClr val="white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Shell. </a:t>
            </a:r>
            <a:r>
              <a:rPr lang="en-US" sz="2000" b="1" dirty="0" err="1">
                <a:solidFill>
                  <a:prstClr val="white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Lokal</a:t>
            </a:r>
            <a:r>
              <a:rPr lang="en-US" sz="2000" b="1" dirty="0">
                <a:solidFill>
                  <a:prstClr val="white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2000" b="1" dirty="0" err="1">
                <a:solidFill>
                  <a:prstClr val="white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o’zgaruvchilar</a:t>
            </a:r>
            <a:r>
              <a:rPr lang="en-US" sz="2000" b="1" dirty="0">
                <a:solidFill>
                  <a:prstClr val="white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. </a:t>
            </a:r>
            <a:r>
              <a:rPr lang="en-US" sz="2000" b="1" dirty="0" err="1">
                <a:solidFill>
                  <a:prstClr val="white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Ayrim</a:t>
            </a:r>
            <a:r>
              <a:rPr lang="en-US" sz="2000" b="1" dirty="0">
                <a:solidFill>
                  <a:prstClr val="white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shell </a:t>
            </a:r>
            <a:r>
              <a:rPr lang="en-US" sz="2000" b="1" dirty="0" err="1">
                <a:solidFill>
                  <a:prstClr val="white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buyruqlari</a:t>
            </a:r>
            <a:r>
              <a:rPr lang="en-US" sz="2000" b="1" dirty="0">
                <a:solidFill>
                  <a:prstClr val="white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flags </a:t>
            </a:r>
          </a:p>
        </p:txBody>
      </p:sp>
      <p:sp>
        <p:nvSpPr>
          <p:cNvPr id="11" name="POWERPOINT TEMPLATE">
            <a:extLst>
              <a:ext uri="{FF2B5EF4-FFF2-40B4-BE49-F238E27FC236}">
                <a16:creationId xmlns:a16="http://schemas.microsoft.com/office/drawing/2014/main" id="{092A10CE-F77B-D793-A0BC-5D07F0349D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4153" y="3432172"/>
            <a:ext cx="737141" cy="2654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square" lIns="28575" tIns="28575" rIns="28575" bIns="28575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68580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tabLst>
                <a:tab pos="800100" algn="l"/>
              </a:tabLst>
              <a:defRPr/>
            </a:pPr>
            <a:r>
              <a:rPr lang="en-US" altLang="ru-RU" sz="1350" b="1" dirty="0">
                <a:solidFill>
                  <a:prstClr val="white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  <a:sym typeface="Arial" panose="020B0604020202020204" pitchFamily="34" charset="0"/>
              </a:rPr>
              <a:t>MAVZU</a:t>
            </a:r>
            <a:endParaRPr lang="ru-RU" altLang="ru-RU" sz="1350" b="1" dirty="0">
              <a:solidFill>
                <a:prstClr val="white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  <a:sym typeface="Arial" panose="020B0604020202020204" pitchFamily="34" charset="0"/>
            </a:endParaRP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2287D3F1-887C-5A61-A782-EFFB84A48856}"/>
              </a:ext>
            </a:extLst>
          </p:cNvPr>
          <p:cNvCxnSpPr>
            <a:cxnSpLocks/>
          </p:cNvCxnSpPr>
          <p:nvPr/>
        </p:nvCxnSpPr>
        <p:spPr>
          <a:xfrm>
            <a:off x="3505955" y="3147799"/>
            <a:ext cx="0" cy="822695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9333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626734-4FF9-4643-9CF3-2134BE2CB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i="1" dirty="0" err="1">
                <a:solidFill>
                  <a:srgbClr val="00B050"/>
                </a:solidFill>
              </a:rPr>
              <a:t>Reja</a:t>
            </a:r>
            <a:r>
              <a:rPr lang="en-US" b="1" i="1" dirty="0">
                <a:solidFill>
                  <a:srgbClr val="00B050"/>
                </a:solidFill>
              </a:rPr>
              <a:t> </a:t>
            </a:r>
            <a:endParaRPr lang="ru-RU" b="1" i="1" dirty="0">
              <a:solidFill>
                <a:srgbClr val="00B05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6929A1-5B41-41C7-B7DF-0D0E2C6787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1" dirty="0" err="1">
                <a:solidFill>
                  <a:srgbClr val="0070C0"/>
                </a:solidFill>
              </a:rPr>
              <a:t>Kirish</a:t>
            </a:r>
            <a:endParaRPr lang="en-US" b="1" i="1" dirty="0">
              <a:solidFill>
                <a:srgbClr val="0070C0"/>
              </a:solidFill>
            </a:endParaRPr>
          </a:p>
          <a:p>
            <a:r>
              <a:rPr lang="en-US" b="1" i="1" dirty="0" err="1">
                <a:solidFill>
                  <a:srgbClr val="0070C0"/>
                </a:solidFill>
              </a:rPr>
              <a:t>Lokal</a:t>
            </a:r>
            <a:r>
              <a:rPr lang="en-US" b="1" i="1" dirty="0">
                <a:solidFill>
                  <a:srgbClr val="0070C0"/>
                </a:solidFill>
              </a:rPr>
              <a:t> </a:t>
            </a:r>
            <a:r>
              <a:rPr lang="en-US" b="1" i="1" dirty="0" err="1">
                <a:solidFill>
                  <a:srgbClr val="0070C0"/>
                </a:solidFill>
              </a:rPr>
              <a:t>o’zgaruvchilar</a:t>
            </a:r>
            <a:endParaRPr lang="en-US" b="1" i="1" dirty="0">
              <a:solidFill>
                <a:srgbClr val="0070C0"/>
              </a:solidFill>
            </a:endParaRPr>
          </a:p>
          <a:p>
            <a:r>
              <a:rPr lang="en-US" b="1" i="1" dirty="0" err="1">
                <a:solidFill>
                  <a:srgbClr val="0070C0"/>
                </a:solidFill>
              </a:rPr>
              <a:t>Muhim</a:t>
            </a:r>
            <a:r>
              <a:rPr lang="en-US" b="1" i="1" dirty="0">
                <a:solidFill>
                  <a:srgbClr val="0070C0"/>
                </a:solidFill>
              </a:rPr>
              <a:t> shell </a:t>
            </a:r>
            <a:r>
              <a:rPr lang="en-US" b="1" i="1" dirty="0" err="1">
                <a:solidFill>
                  <a:srgbClr val="0070C0"/>
                </a:solidFill>
              </a:rPr>
              <a:t>buyruqlari</a:t>
            </a:r>
            <a:endParaRPr lang="en-US" b="1" i="1" dirty="0">
              <a:solidFill>
                <a:srgbClr val="0070C0"/>
              </a:solidFill>
            </a:endParaRPr>
          </a:p>
          <a:p>
            <a:r>
              <a:rPr lang="en-US" b="1" i="1" dirty="0">
                <a:solidFill>
                  <a:srgbClr val="0070C0"/>
                </a:solidFill>
              </a:rPr>
              <a:t>Flags(</a:t>
            </a:r>
            <a:r>
              <a:rPr lang="en-US" b="1" i="1" dirty="0" err="1">
                <a:solidFill>
                  <a:srgbClr val="0070C0"/>
                </a:solidFill>
              </a:rPr>
              <a:t>optionlar</a:t>
            </a:r>
            <a:r>
              <a:rPr lang="en-US" b="1" i="1" dirty="0">
                <a:solidFill>
                  <a:srgbClr val="0070C0"/>
                </a:solidFill>
              </a:rPr>
              <a:t>) </a:t>
            </a:r>
            <a:r>
              <a:rPr lang="en-US" b="1" i="1" dirty="0" err="1">
                <a:solidFill>
                  <a:srgbClr val="0070C0"/>
                </a:solidFill>
              </a:rPr>
              <a:t>tushinchasi</a:t>
            </a:r>
            <a:endParaRPr lang="en-US" b="1" i="1" dirty="0">
              <a:solidFill>
                <a:srgbClr val="0070C0"/>
              </a:solidFill>
            </a:endParaRPr>
          </a:p>
          <a:p>
            <a:r>
              <a:rPr lang="en-US" b="1" i="1" dirty="0" err="1">
                <a:solidFill>
                  <a:srgbClr val="0070C0"/>
                </a:solidFill>
              </a:rPr>
              <a:t>Amaliy</a:t>
            </a:r>
            <a:r>
              <a:rPr lang="en-US" b="1" i="1" dirty="0">
                <a:solidFill>
                  <a:srgbClr val="0070C0"/>
                </a:solidFill>
              </a:rPr>
              <a:t>  </a:t>
            </a:r>
            <a:r>
              <a:rPr lang="en-US" b="1" i="1" dirty="0" err="1">
                <a:solidFill>
                  <a:srgbClr val="0070C0"/>
                </a:solidFill>
              </a:rPr>
              <a:t>misollar</a:t>
            </a:r>
            <a:endParaRPr lang="en-US" b="1" i="1" dirty="0">
              <a:solidFill>
                <a:srgbClr val="0070C0"/>
              </a:solidFill>
            </a:endParaRPr>
          </a:p>
          <a:p>
            <a:r>
              <a:rPr lang="en-US" b="1" i="1" dirty="0">
                <a:solidFill>
                  <a:srgbClr val="0070C0"/>
                </a:solidFill>
              </a:rPr>
              <a:t> </a:t>
            </a:r>
            <a:r>
              <a:rPr lang="en-US" b="1" i="1" dirty="0" err="1">
                <a:solidFill>
                  <a:srgbClr val="0070C0"/>
                </a:solidFill>
              </a:rPr>
              <a:t>Xulosa</a:t>
            </a:r>
            <a:endParaRPr lang="en-US" b="1" i="1" dirty="0">
              <a:solidFill>
                <a:srgbClr val="0070C0"/>
              </a:solidFill>
            </a:endParaRPr>
          </a:p>
          <a:p>
            <a:r>
              <a:rPr lang="en-US" b="1" i="1" dirty="0" err="1">
                <a:solidFill>
                  <a:srgbClr val="0070C0"/>
                </a:solidFill>
              </a:rPr>
              <a:t>Mavzu</a:t>
            </a:r>
            <a:r>
              <a:rPr lang="en-US" b="1" i="1" dirty="0">
                <a:solidFill>
                  <a:srgbClr val="0070C0"/>
                </a:solidFill>
              </a:rPr>
              <a:t> </a:t>
            </a:r>
            <a:r>
              <a:rPr lang="en-US" b="1" i="1" dirty="0" err="1">
                <a:solidFill>
                  <a:srgbClr val="0070C0"/>
                </a:solidFill>
              </a:rPr>
              <a:t>bo‘yicha</a:t>
            </a:r>
            <a:r>
              <a:rPr lang="en-US" b="1" i="1" dirty="0">
                <a:solidFill>
                  <a:srgbClr val="0070C0"/>
                </a:solidFill>
              </a:rPr>
              <a:t> </a:t>
            </a:r>
            <a:r>
              <a:rPr lang="en-US" b="1" i="1" dirty="0" err="1">
                <a:solidFill>
                  <a:srgbClr val="0070C0"/>
                </a:solidFill>
              </a:rPr>
              <a:t>savollar</a:t>
            </a:r>
            <a:endParaRPr lang="en-US" b="1" i="1" dirty="0">
              <a:solidFill>
                <a:srgbClr val="0070C0"/>
              </a:solidFill>
            </a:endParaRPr>
          </a:p>
          <a:p>
            <a:r>
              <a:rPr lang="en-US" b="1" i="1" dirty="0" err="1">
                <a:solidFill>
                  <a:srgbClr val="0070C0"/>
                </a:solidFill>
              </a:rPr>
              <a:t>Foydalanilgan</a:t>
            </a:r>
            <a:r>
              <a:rPr lang="en-US" b="1" i="1" dirty="0">
                <a:solidFill>
                  <a:srgbClr val="0070C0"/>
                </a:solidFill>
              </a:rPr>
              <a:t> </a:t>
            </a:r>
            <a:r>
              <a:rPr lang="en-US" b="1" i="1" dirty="0" err="1">
                <a:solidFill>
                  <a:srgbClr val="0070C0"/>
                </a:solidFill>
              </a:rPr>
              <a:t>adabiyotlar</a:t>
            </a:r>
            <a:r>
              <a:rPr lang="en-US" b="1" i="1" dirty="0">
                <a:solidFill>
                  <a:srgbClr val="0070C0"/>
                </a:solidFill>
              </a:rPr>
              <a:t> </a:t>
            </a:r>
          </a:p>
          <a:p>
            <a:endParaRPr lang="en-US" b="1" i="1" dirty="0">
              <a:solidFill>
                <a:srgbClr val="0070C0"/>
              </a:solidFill>
            </a:endParaRPr>
          </a:p>
          <a:p>
            <a:endParaRPr lang="ru-RU" i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2840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967FF3-B762-4FF2-96CE-8416C68F0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1" y="181664"/>
            <a:ext cx="7886698" cy="998742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Linux Shell </a:t>
            </a:r>
            <a:r>
              <a:rPr lang="en-US" sz="3200" b="1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Shell </a:t>
            </a:r>
            <a:r>
              <a:rPr lang="en-US" sz="3200" b="1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skriptlariga</a:t>
            </a:r>
            <a:r>
              <a:rPr lang="en-US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kirish</a:t>
            </a:r>
            <a:r>
              <a:rPr lang="ru-RU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3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2DBB6B3-012E-49C7-8F57-DDDBF3C5A2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Bash (</a:t>
            </a:r>
            <a:r>
              <a:rPr lang="en-US" sz="24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Bourne</a:t>
            </a:r>
            <a:r>
              <a:rPr lang="en-US" sz="24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Again </a:t>
            </a:r>
            <a:r>
              <a:rPr lang="en-US" sz="24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SHell</a:t>
            </a:r>
            <a:r>
              <a:rPr lang="en-US" sz="24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- Linux </a:t>
            </a:r>
            <a:r>
              <a:rPr lang="en-US" sz="24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tizimlarida</a:t>
            </a:r>
            <a:r>
              <a:rPr lang="en-US" sz="24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keng</a:t>
            </a:r>
            <a:r>
              <a:rPr lang="en-US" sz="24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qo'llaniladigan</a:t>
            </a:r>
            <a:r>
              <a:rPr lang="en-US" sz="24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Unix-ga </a:t>
            </a:r>
            <a:r>
              <a:rPr lang="en-US" sz="24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o'xshash</a:t>
            </a:r>
            <a:r>
              <a:rPr lang="en-US" sz="24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qobiq</a:t>
            </a:r>
            <a:r>
              <a:rPr lang="en-US" sz="24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Bu </a:t>
            </a:r>
            <a:r>
              <a:rPr lang="en-US" sz="24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foydalanuvchi</a:t>
            </a:r>
            <a:r>
              <a:rPr lang="en-US" sz="24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yoki</a:t>
            </a:r>
            <a:r>
              <a:rPr lang="en-US" sz="24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skript</a:t>
            </a:r>
            <a:r>
              <a:rPr lang="en-US" sz="24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faylidan</a:t>
            </a:r>
            <a:r>
              <a:rPr lang="en-US" sz="24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buyruqlarni</a:t>
            </a:r>
            <a:r>
              <a:rPr lang="en-US" sz="24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o'qiydigan</a:t>
            </a:r>
            <a:r>
              <a:rPr lang="en-US" sz="24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sz="24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bajaradigan</a:t>
            </a:r>
            <a:r>
              <a:rPr lang="en-US" sz="24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buyruq</a:t>
            </a:r>
            <a:r>
              <a:rPr lang="en-US" sz="24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qatori</a:t>
            </a:r>
            <a:r>
              <a:rPr lang="en-US" sz="24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tarjimoni</a:t>
            </a:r>
            <a:r>
              <a:rPr lang="en-US" sz="24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ru-RU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Linux, </a:t>
            </a:r>
            <a:r>
              <a:rPr lang="ru-RU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macOS</a:t>
            </a:r>
            <a:r>
              <a:rPr lang="ru-RU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ru-RU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Windows </a:t>
            </a:r>
            <a:r>
              <a:rPr lang="ru-RU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kabi</a:t>
            </a:r>
            <a:r>
              <a:rPr lang="ru-RU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har</a:t>
            </a:r>
            <a:r>
              <a:rPr lang="ru-RU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qanday</a:t>
            </a:r>
            <a:r>
              <a:rPr lang="ru-RU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zamonaviy</a:t>
            </a:r>
            <a:r>
              <a:rPr lang="ru-RU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operatsion</a:t>
            </a:r>
            <a:r>
              <a:rPr lang="ru-RU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tizimdan</a:t>
            </a:r>
            <a:r>
              <a:rPr lang="ru-RU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foydalan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</a:t>
            </a:r>
            <a:r>
              <a:rPr lang="en-US" sz="2400" spc="10" dirty="0" err="1">
                <a:solidFill>
                  <a:srgbClr val="273239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</a:t>
            </a:r>
            <a:r>
              <a:rPr lang="ru-RU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bilvosita</a:t>
            </a:r>
            <a:r>
              <a:rPr lang="ru-RU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qobiq</a:t>
            </a:r>
            <a:r>
              <a:rPr lang="ru-RU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ru-RU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buyruqlarimizni</a:t>
            </a:r>
            <a:r>
              <a:rPr lang="ru-RU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sharhlovchi</a:t>
            </a:r>
            <a:r>
              <a:rPr lang="ru-RU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bajaradigan</a:t>
            </a:r>
            <a:r>
              <a:rPr lang="ru-RU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dastur</a:t>
            </a:r>
            <a:r>
              <a:rPr lang="ru-RU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ru-RU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o'zaro</a:t>
            </a:r>
            <a:r>
              <a:rPr lang="ru-RU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aloqada</a:t>
            </a:r>
            <a:r>
              <a:rPr lang="ru-RU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bo'lamiz</a:t>
            </a:r>
            <a:r>
              <a:rPr lang="ru-RU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Ubuntu, Linux </a:t>
            </a:r>
            <a:r>
              <a:rPr lang="ru-RU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Mint</a:t>
            </a:r>
            <a:r>
              <a:rPr lang="ru-RU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ru-RU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boshqa</a:t>
            </a:r>
            <a:r>
              <a:rPr lang="ru-RU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Linux </a:t>
            </a:r>
            <a:r>
              <a:rPr lang="ru-RU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distribyutorlarini</a:t>
            </a:r>
            <a:r>
              <a:rPr lang="ru-RU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ishga</a:t>
            </a:r>
            <a:r>
              <a:rPr lang="ru-RU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tushir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ilganda</a:t>
            </a:r>
            <a:r>
              <a:rPr lang="ru-RU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terminal</a:t>
            </a:r>
            <a:r>
              <a:rPr lang="ru-RU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yordamida</a:t>
            </a:r>
            <a:r>
              <a:rPr lang="ru-RU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qobiq</a:t>
            </a:r>
            <a:r>
              <a:rPr lang="ru-RU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ru-RU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o'zaro</a:t>
            </a:r>
            <a:r>
              <a:rPr lang="ru-RU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aloqada</a:t>
            </a: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amalga</a:t>
            </a: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oshadi</a:t>
            </a:r>
            <a:r>
              <a:rPr lang="ru-RU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Linux </a:t>
            </a:r>
            <a:r>
              <a:rPr lang="ru-RU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qobiqlari</a:t>
            </a:r>
            <a:r>
              <a:rPr lang="ru-RU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qobiq</a:t>
            </a:r>
            <a:r>
              <a:rPr lang="ru-RU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skriptlar</a:t>
            </a: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3 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turga</a:t>
            </a: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bo’linadi</a:t>
            </a:r>
            <a:r>
              <a:rPr lang="ru-RU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spc="10" dirty="0">
              <a:solidFill>
                <a:srgbClr val="273239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fontAlgn="base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Yadro</a:t>
            </a:r>
            <a:endParaRPr lang="ru-RU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fontAlgn="base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Shell</a:t>
            </a:r>
            <a:endParaRPr lang="ru-RU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fontAlgn="base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Terminal</a:t>
            </a:r>
            <a:endParaRPr lang="ru-RU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19775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65EC30-417A-4DBF-8AC3-8AD7CA210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K</a:t>
            </a:r>
            <a:r>
              <a:rPr lang="en-US" dirty="0"/>
              <a:t>e</a:t>
            </a:r>
            <a:r>
              <a:rPr lang="en-US" dirty="0" smtClean="0"/>
              <a:t>rnel 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07A8321-DDD6-49AB-BE95-750E4BA818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fontAlgn="base">
              <a:buNone/>
            </a:pPr>
            <a:r>
              <a:rPr lang="en-US" sz="1800" spc="10" dirty="0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</a:rPr>
              <a:t>	</a:t>
            </a:r>
            <a:r>
              <a:rPr lang="en-US" sz="1800" dirty="0"/>
              <a:t> Kernel</a:t>
            </a:r>
            <a:r>
              <a:rPr lang="ru-RU" sz="1800" spc="10" dirty="0" smtClean="0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</a:rPr>
              <a:t> </a:t>
            </a:r>
            <a:r>
              <a:rPr lang="ru-RU" sz="1800" spc="10" dirty="0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</a:rPr>
              <a:t>- </a:t>
            </a:r>
            <a:r>
              <a:rPr lang="ru-RU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</a:rPr>
              <a:t>bu</a:t>
            </a:r>
            <a:r>
              <a:rPr lang="ru-RU" sz="1800" spc="10" dirty="0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</a:rPr>
              <a:t> </a:t>
            </a:r>
            <a:r>
              <a:rPr lang="ru-RU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</a:rPr>
              <a:t>kompyuter</a:t>
            </a:r>
            <a:r>
              <a:rPr lang="ru-RU" sz="1800" spc="10" dirty="0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</a:rPr>
              <a:t> </a:t>
            </a:r>
            <a:r>
              <a:rPr lang="ru-RU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</a:rPr>
              <a:t>operatsion</a:t>
            </a:r>
            <a:r>
              <a:rPr lang="ru-RU" sz="1800" spc="10" dirty="0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</a:rPr>
              <a:t> </a:t>
            </a:r>
            <a:r>
              <a:rPr lang="ru-RU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</a:rPr>
              <a:t>tizimining</a:t>
            </a:r>
            <a:r>
              <a:rPr lang="ru-RU" sz="1800" spc="10" dirty="0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</a:rPr>
              <a:t> </a:t>
            </a:r>
            <a:r>
              <a:rPr lang="ru-RU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</a:rPr>
              <a:t>yadrosi</a:t>
            </a:r>
            <a:r>
              <a:rPr lang="ru-RU" sz="1800" spc="10" dirty="0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</a:rPr>
              <a:t> </a:t>
            </a:r>
            <a:r>
              <a:rPr lang="ru-RU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</a:rPr>
              <a:t>bo'lgan</a:t>
            </a:r>
            <a:r>
              <a:rPr lang="ru-RU" sz="1800" spc="10" dirty="0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</a:rPr>
              <a:t>, </a:t>
            </a:r>
            <a:r>
              <a:rPr lang="ru-RU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</a:rPr>
              <a:t>tizimdagi</a:t>
            </a:r>
            <a:r>
              <a:rPr lang="ru-RU" sz="1800" spc="10" dirty="0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</a:rPr>
              <a:t> </a:t>
            </a:r>
            <a:r>
              <a:rPr lang="ru-RU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</a:rPr>
              <a:t>hamma</a:t>
            </a:r>
            <a:r>
              <a:rPr lang="ru-RU" sz="1800" spc="10" dirty="0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</a:rPr>
              <a:t> </a:t>
            </a:r>
            <a:r>
              <a:rPr lang="ru-RU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</a:rPr>
              <a:t>narsani</a:t>
            </a:r>
            <a:r>
              <a:rPr lang="ru-RU" sz="1800" spc="10" dirty="0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</a:rPr>
              <a:t> </a:t>
            </a:r>
            <a:r>
              <a:rPr lang="ru-RU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</a:rPr>
              <a:t>to'liq</a:t>
            </a:r>
            <a:r>
              <a:rPr lang="ru-RU" sz="1800" spc="10" dirty="0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</a:rPr>
              <a:t> </a:t>
            </a:r>
            <a:r>
              <a:rPr lang="ru-RU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</a:rPr>
              <a:t>nazorat</a:t>
            </a:r>
            <a:r>
              <a:rPr lang="ru-RU" sz="1800" spc="10" dirty="0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</a:rPr>
              <a:t> </a:t>
            </a:r>
            <a:r>
              <a:rPr lang="ru-RU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</a:rPr>
              <a:t>qiladigan</a:t>
            </a:r>
            <a:r>
              <a:rPr lang="ru-RU" sz="1800" spc="10" dirty="0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</a:rPr>
              <a:t> </a:t>
            </a:r>
            <a:r>
              <a:rPr lang="ru-RU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</a:rPr>
              <a:t>kompyuter</a:t>
            </a:r>
            <a:r>
              <a:rPr lang="ru-RU" sz="1800" spc="10" dirty="0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</a:rPr>
              <a:t> </a:t>
            </a:r>
            <a:r>
              <a:rPr lang="ru-RU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</a:rPr>
              <a:t>dasturi</a:t>
            </a:r>
            <a:r>
              <a:rPr lang="ru-RU" sz="1800" spc="10" dirty="0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</a:rPr>
              <a:t>. U Linux </a:t>
            </a:r>
            <a:r>
              <a:rPr lang="ru-RU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</a:rPr>
              <a:t>tizimining</a:t>
            </a:r>
            <a:r>
              <a:rPr lang="ru-RU" sz="1800" spc="10" dirty="0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</a:rPr>
              <a:t> </a:t>
            </a:r>
            <a:r>
              <a:rPr lang="ru-RU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</a:rPr>
              <a:t>quyidagi</a:t>
            </a:r>
            <a:r>
              <a:rPr lang="ru-RU" sz="1800" spc="10" dirty="0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</a:rPr>
              <a:t> </a:t>
            </a:r>
            <a:r>
              <a:rPr lang="ru-RU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</a:rPr>
              <a:t>resurslarini</a:t>
            </a:r>
            <a:r>
              <a:rPr lang="ru-RU" sz="1800" spc="10" dirty="0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</a:rPr>
              <a:t> </a:t>
            </a:r>
            <a:r>
              <a:rPr lang="ru-RU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</a:rPr>
              <a:t>boshqaradi</a:t>
            </a:r>
            <a:r>
              <a:rPr lang="ru-RU" sz="1800" spc="10" dirty="0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</a:rPr>
              <a:t>: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fontAlgn="base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Fayl</a:t>
            </a:r>
            <a:r>
              <a:rPr lang="ru-RU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boshqaruvi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fontAlgn="base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Jarayonni</a:t>
            </a:r>
            <a:r>
              <a:rPr lang="ru-RU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boshqarish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fontAlgn="base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I/</a:t>
            </a:r>
            <a:r>
              <a:rPr lang="en-US" sz="1800" spc="10" dirty="0">
                <a:solidFill>
                  <a:srgbClr val="273239"/>
                </a:solidFill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ru-RU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boshqaruvi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fontAlgn="base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Xotirani</a:t>
            </a:r>
            <a:r>
              <a:rPr lang="ru-RU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boshqarish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fontAlgn="base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Qurilmani</a:t>
            </a:r>
            <a:r>
              <a:rPr lang="ru-RU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boshqarish</a:t>
            </a:r>
            <a:r>
              <a:rPr lang="ru-RU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ru-RU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boshqalar</a:t>
            </a:r>
            <a:r>
              <a:rPr lang="ru-RU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ru-RU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To'liq</a:t>
            </a:r>
            <a:r>
              <a:rPr lang="ru-RU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Linux </a:t>
            </a:r>
            <a:r>
              <a:rPr lang="ru-RU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tizimi</a:t>
            </a:r>
            <a:r>
              <a:rPr lang="ru-RU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ru-RU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Yadro</a:t>
            </a:r>
            <a:r>
              <a:rPr lang="ru-RU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+ GNU </a:t>
            </a:r>
            <a:r>
              <a:rPr lang="ru-RU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tizim</a:t>
            </a:r>
            <a:r>
              <a:rPr lang="ru-RU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yordam</a:t>
            </a:r>
            <a:r>
              <a:rPr lang="ru-RU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dasturlari</a:t>
            </a:r>
            <a:r>
              <a:rPr lang="ru-RU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ru-RU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kutubxonalari</a:t>
            </a:r>
            <a:r>
              <a:rPr lang="ru-RU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+ </a:t>
            </a:r>
            <a:r>
              <a:rPr lang="ru-RU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boshqa</a:t>
            </a:r>
            <a:r>
              <a:rPr lang="ru-RU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boshqaruv</a:t>
            </a:r>
            <a:r>
              <a:rPr lang="ru-RU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skriptlari</a:t>
            </a:r>
            <a:r>
              <a:rPr lang="ru-RU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+ </a:t>
            </a:r>
            <a:r>
              <a:rPr lang="ru-RU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o'rnatish</a:t>
            </a:r>
            <a:r>
              <a:rPr lang="ru-RU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skriptlari</a:t>
            </a:r>
            <a:r>
              <a:rPr lang="ru-RU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86728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01C49A7C-2720-45DB-A24A-436725002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925" y="375220"/>
            <a:ext cx="8058150" cy="180390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Shell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—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foydalanuvchi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operatsion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tizim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yadrosi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(Linux kernel)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o‘rtasidagi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buyruq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tarjimoni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Terminal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orqali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buyruq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qabul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qiladi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bajaradi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natijani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qaytaradi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ru-RU" sz="2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DF270C9-BAB1-45FC-A66F-876495462F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1876" y="1633929"/>
            <a:ext cx="4549137" cy="4848850"/>
          </a:xfrm>
        </p:spPr>
        <p:txBody>
          <a:bodyPr>
            <a:noAutofit/>
          </a:bodyPr>
          <a:lstStyle/>
          <a:p>
            <a:pPr indent="0" algn="just">
              <a:lnSpc>
                <a:spcPct val="120000"/>
              </a:lnSpc>
              <a:spcAft>
                <a:spcPts val="800"/>
              </a:spcAft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Ko‘p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qo‘llaniladigan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shell’lar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(default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ko‘p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distributivlarda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indent="0" algn="just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Terminal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(TTY/PTY) —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kiritish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chiqarish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muhiti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shell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muhitda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ishlovchi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dastur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Har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qanday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foydalanuvchi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tizimga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kirganda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shell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ishga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tushiriladi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Shell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standart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kirish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standart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chiqish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sifatida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terminalga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ega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Bu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so'rovni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belgini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kiritish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bilan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boshlanadi</a:t>
            </a:r>
            <a:endParaRPr lang="ru-RU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 descr="Linux Shell">
            <a:extLst>
              <a:ext uri="{FF2B5EF4-FFF2-40B4-BE49-F238E27FC236}">
                <a16:creationId xmlns:a16="http://schemas.microsoft.com/office/drawing/2014/main" id="{3F285F63-8948-4888-B3F7-3EEC4B1B9C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1014" y="2555633"/>
            <a:ext cx="3971109" cy="37528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48272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1D7AD0E7-6065-45AD-A519-532CBA31C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052" y="846334"/>
            <a:ext cx="8043896" cy="1476103"/>
          </a:xfrm>
        </p:spPr>
        <p:txBody>
          <a:bodyPr>
            <a:noAutofit/>
          </a:bodyPr>
          <a:lstStyle/>
          <a:p>
            <a:pPr indent="450215">
              <a:spcAft>
                <a:spcPts val="800"/>
              </a:spcAft>
            </a:pP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Shell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sessiyalari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turlari</a:t>
            </a: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Login shell: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tizimga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kirishda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ishga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tushadi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(SSH, TTY).</a:t>
            </a: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Non-login shell: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ochilgan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terminal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ichida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yangi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shell (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masalan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GNOME Terminal).</a:t>
            </a: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Interactive: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foydalanuvchi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bilan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o‘zaro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muloqot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(prompt,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readline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Non-interactive: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skript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ishga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tushganda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(stdin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orqali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buyruqlar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oqimi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sz="2000" dirty="0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AE4DACF2-5B4F-48AE-9DAA-8D4217B1D6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052" y="2083470"/>
            <a:ext cx="8043896" cy="2084124"/>
          </a:xfrm>
        </p:spPr>
        <p:txBody>
          <a:bodyPr>
            <a:noAutofit/>
          </a:bodyPr>
          <a:lstStyle/>
          <a:p>
            <a:pPr marL="0" indent="0" fontAlgn="base">
              <a:buNone/>
            </a:pP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Shell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ikki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toifaga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bo'linadi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r>
              <a:rPr lang="ru-RU" sz="2000" b="1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Buyruqlar</a:t>
            </a:r>
            <a:r>
              <a:rPr lang="ru-RU" sz="2000" b="1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b="1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qatori</a:t>
            </a:r>
            <a:r>
              <a:rPr lang="ru-RU" sz="2000" b="1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b="1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qobig</a:t>
            </a:r>
            <a:r>
              <a:rPr lang="ru-RU" sz="2000" b="1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’</a:t>
            </a:r>
            <a:r>
              <a:rPr lang="en-US" sz="2000" b="1" spc="10" dirty="0" err="1">
                <a:solidFill>
                  <a:srgbClr val="27323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2000" b="1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2000" b="1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b="1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Grafik</a:t>
            </a:r>
            <a:r>
              <a:rPr lang="ru-RU" sz="2000" b="1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b="1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qobiq</a:t>
            </a:r>
            <a:r>
              <a:rPr lang="en-US" sz="2000" b="1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Shell-ga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foydalanuvchilar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buyruq</a:t>
            </a:r>
            <a:r>
              <a:rPr lang="en-US" sz="2000" b="1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qatori</a:t>
            </a:r>
            <a:r>
              <a:rPr lang="en-US" sz="2000" b="1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interfeysi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yordamida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kirishlari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Linux/macOS da Terminal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Windows OS da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buyruq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satri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deb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nomlangan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maxsus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dastur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-l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 "</a:t>
            </a:r>
            <a:r>
              <a:rPr lang="ru-RU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ls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 </a:t>
            </a:r>
            <a:r>
              <a:rPr lang="ru-RU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hokazo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kabi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odam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o'qiy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oladigan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buyruqlarni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kiritish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taqdim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etiladi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keyin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lang="ru-RU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bajariladi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Keyin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natija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foydalanuvchiga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terminalda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ko'rsatiladi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ru-RU" sz="2000" dirty="0"/>
          </a:p>
        </p:txBody>
      </p:sp>
      <p:pic>
        <p:nvPicPr>
          <p:cNvPr id="4" name="Рисунок 3" descr="linux buyruq qatori">
            <a:extLst>
              <a:ext uri="{FF2B5EF4-FFF2-40B4-BE49-F238E27FC236}">
                <a16:creationId xmlns:a16="http://schemas.microsoft.com/office/drawing/2014/main" id="{54445435-315A-42DA-B976-BA25C0A3C3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7118" y="4037507"/>
            <a:ext cx="4920281" cy="24797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27598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6F793F4D-1089-4B2D-8B44-B8436DCF06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677" y="447807"/>
            <a:ext cx="8333648" cy="285002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b="1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Grafik</a:t>
            </a:r>
            <a:r>
              <a:rPr lang="en-US" sz="2000" b="1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qobiqlar</a:t>
            </a:r>
            <a:r>
              <a:rPr lang="en-US" sz="2000" b="1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oynalarni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ochish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yopish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ko'chirish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o'lchamlarini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o'zgartirish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shuningdek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diqqatni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derazalar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o'rtasida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almashtirish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kabi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operatsiyalarga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ruxsat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berish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000" u="sng" spc="10" dirty="0" err="1">
                <a:solidFill>
                  <a:srgbClr val="3579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grafik</a:t>
            </a:r>
            <a:r>
              <a:rPr lang="en-US" sz="2000" u="sng" spc="10" dirty="0">
                <a:solidFill>
                  <a:srgbClr val="3579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 </a:t>
            </a:r>
            <a:r>
              <a:rPr lang="en-US" sz="2000" u="sng" spc="10" dirty="0" err="1">
                <a:solidFill>
                  <a:srgbClr val="3579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foydalanuvchi</a:t>
            </a:r>
            <a:r>
              <a:rPr lang="en-US" sz="2000" u="sng" spc="10" dirty="0">
                <a:solidFill>
                  <a:srgbClr val="3579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 </a:t>
            </a:r>
            <a:r>
              <a:rPr lang="en-US" sz="2000" u="sng" spc="10" dirty="0" err="1">
                <a:solidFill>
                  <a:srgbClr val="3579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interfeysi</a:t>
            </a:r>
            <a:r>
              <a:rPr lang="en-US" sz="2000" u="sng" spc="10" dirty="0">
                <a:solidFill>
                  <a:srgbClr val="3579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 (GUI)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asosida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dasturlarni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manipulyatsiya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qilish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vositalarini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taqdim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etadi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Window OS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Ubuntu OS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ni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dastur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ishlash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foydalanuvchiga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GUI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taqdim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etadigan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yaxshi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misol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sifatida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ko'rib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chiqish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Foydalanuvchilar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har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harakat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buyruqlar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kiritishlari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shart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emas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Ubuntu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tizimidagi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odatiy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GUI: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 descr="GUI Shell">
            <a:extLst>
              <a:ext uri="{FF2B5EF4-FFF2-40B4-BE49-F238E27FC236}">
                <a16:creationId xmlns:a16="http://schemas.microsoft.com/office/drawing/2014/main" id="{9049E7D3-B3A9-4CC9-935F-D653FACA56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2288" y="2919334"/>
            <a:ext cx="5940425" cy="32169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92280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5EAA8B-D9B4-4457-BFE1-6A04A4CE7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Linux </a:t>
            </a:r>
            <a:r>
              <a:rPr lang="en-US" sz="36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tizimlari</a:t>
            </a:r>
            <a:r>
              <a:rPr lang="en-US" sz="36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uchun</a:t>
            </a:r>
            <a:r>
              <a:rPr lang="en-US" sz="36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qobiqlar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106899-DFE3-44D8-AB5D-3FBC877382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fontAlgn="base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1800" b="1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	-BASH (</a:t>
            </a:r>
            <a:r>
              <a:rPr lang="en-US" sz="1800" b="1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Bourne</a:t>
            </a:r>
            <a:r>
              <a:rPr lang="en-US" sz="1800" b="1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Again Shell):</a:t>
            </a:r>
            <a:r>
              <a:rPr lang="en-US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 Bu Linux </a:t>
            </a:r>
            <a:r>
              <a:rPr lang="en-US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tizimlarida</a:t>
            </a:r>
            <a:r>
              <a:rPr lang="en-US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eng</a:t>
            </a:r>
            <a:r>
              <a:rPr lang="en-US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ko'p</a:t>
            </a:r>
            <a:r>
              <a:rPr lang="en-US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ishlatiladigan</a:t>
            </a:r>
            <a:r>
              <a:rPr lang="en-US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qobiqdir</a:t>
            </a:r>
            <a:r>
              <a:rPr lang="en-US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. U Linux </a:t>
            </a:r>
            <a:r>
              <a:rPr lang="en-US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tizimlarida</a:t>
            </a:r>
            <a:r>
              <a:rPr lang="en-US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macOS da </a:t>
            </a:r>
            <a:r>
              <a:rPr lang="en-US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standart</a:t>
            </a:r>
            <a:r>
              <a:rPr lang="en-US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kirish</a:t>
            </a:r>
            <a:r>
              <a:rPr lang="en-US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qobig'i</a:t>
            </a:r>
            <a:r>
              <a:rPr lang="en-US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sifatida</a:t>
            </a:r>
            <a:r>
              <a:rPr lang="en-US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ishlatiladi</a:t>
            </a:r>
            <a:r>
              <a:rPr lang="en-US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. Uni Windows </a:t>
            </a:r>
            <a:r>
              <a:rPr lang="en-US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operatsion</a:t>
            </a:r>
            <a:r>
              <a:rPr lang="en-US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tizimiga</a:t>
            </a:r>
            <a:r>
              <a:rPr lang="en-US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ham </a:t>
            </a:r>
            <a:r>
              <a:rPr lang="en-US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o'rnatish</a:t>
            </a:r>
            <a:r>
              <a:rPr lang="en-US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mumkin</a:t>
            </a:r>
            <a:r>
              <a:rPr lang="en-US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fontAlgn="base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1800" b="1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	-CSH (C Shell):</a:t>
            </a:r>
            <a:r>
              <a:rPr lang="en-US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 C </a:t>
            </a:r>
            <a:r>
              <a:rPr lang="en-US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qobig'ining</a:t>
            </a:r>
            <a:r>
              <a:rPr lang="en-US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sintaksisi</a:t>
            </a:r>
            <a:r>
              <a:rPr lang="en-US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undan</a:t>
            </a:r>
            <a:r>
              <a:rPr lang="en-US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foydalanish</a:t>
            </a:r>
            <a:r>
              <a:rPr lang="en-US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C </a:t>
            </a:r>
            <a:r>
              <a:rPr lang="en-US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dasturlash</a:t>
            </a:r>
            <a:r>
              <a:rPr lang="en-US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tiliga</a:t>
            </a:r>
            <a:r>
              <a:rPr lang="en-US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juda</a:t>
            </a:r>
            <a:r>
              <a:rPr lang="en-US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o'xshash</a:t>
            </a:r>
            <a:r>
              <a:rPr lang="en-US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fontAlgn="base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1800" b="1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	-KSH (Korn Shell):</a:t>
            </a:r>
            <a:r>
              <a:rPr lang="en-US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 Korn Shell, </a:t>
            </a:r>
            <a:r>
              <a:rPr lang="en-US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shuningdek</a:t>
            </a:r>
            <a:r>
              <a:rPr lang="en-US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, POSIX Shell </a:t>
            </a:r>
            <a:r>
              <a:rPr lang="en-US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standart</a:t>
            </a:r>
            <a:r>
              <a:rPr lang="en-US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spetsifikatsiyalari</a:t>
            </a:r>
            <a:r>
              <a:rPr lang="en-US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boshqalar</a:t>
            </a:r>
            <a:r>
              <a:rPr lang="en-US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uchun</a:t>
            </a:r>
            <a:r>
              <a:rPr lang="en-US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asos</a:t>
            </a:r>
            <a:r>
              <a:rPr lang="en-US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spc="10" dirty="0" err="1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bo'lgan</a:t>
            </a:r>
            <a:r>
              <a:rPr lang="en-US" sz="1800" spc="1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69487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479B99-B032-4780-85B7-01152DB79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Teminal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2725AA9-3723-4667-933B-E5E35C9848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549" y="1161950"/>
            <a:ext cx="7869890" cy="4889709"/>
          </a:xfrm>
        </p:spPr>
        <p:txBody>
          <a:bodyPr>
            <a:normAutofit/>
          </a:bodyPr>
          <a:lstStyle/>
          <a:p>
            <a:pPr marL="0" indent="0" fontAlgn="base">
              <a:lnSpc>
                <a:spcPct val="100000"/>
              </a:lnSpc>
              <a:buNone/>
            </a:pP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Foydalanuvchiga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qobiqqa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kirishi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interfeysni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taqdim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etish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mas'ul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bo'lgan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dastur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Bu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asosan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foydalanuvchilarga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buyruqlar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kiritish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matnga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asoslangan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interfeysda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ushbu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buyruqlar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natijasini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ko'rish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imkonini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beradi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Avtomatlashtirish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murakkab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vazifalarni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bajarish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yozilgan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katta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skriptlar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terminalda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bajariladi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fontAlgn="base">
              <a:lnSpc>
                <a:spcPct val="100000"/>
              </a:lnSpc>
              <a:buNone/>
            </a:pPr>
            <a:r>
              <a:rPr lang="en-US" sz="2000" spc="10" dirty="0">
                <a:solidFill>
                  <a:srgbClr val="27323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Shell 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skripti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-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qobiq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bajarilishi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qator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buyruqlarni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o'z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ichiga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olgan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fayl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Shellning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o'zi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buyruq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qatori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tarjimonidir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(CLI),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qobiq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skripti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saqlangan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ko'rsatmalar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ro'yxatidir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odatda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000" spc="10" dirty="0">
                <a:solidFill>
                  <a:srgbClr val="27323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2000" spc="10" dirty="0" err="1">
                <a:solidFill>
                  <a:srgbClr val="27323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shkengaytmali</a:t>
            </a:r>
            <a:r>
              <a:rPr lang="en-US" sz="2000" spc="10" dirty="0">
                <a:solidFill>
                  <a:srgbClr val="27323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 myscript.sh</a:t>
            </a:r>
          </a:p>
          <a:p>
            <a:pPr marL="0" indent="0" fontAlgn="base">
              <a:lnSpc>
                <a:spcPct val="100000"/>
              </a:lnSpc>
              <a:buNone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 descr="&quot;python&quot; katalogiga kiring:">
            <a:extLst>
              <a:ext uri="{FF2B5EF4-FFF2-40B4-BE49-F238E27FC236}">
                <a16:creationId xmlns:a16="http://schemas.microsoft.com/office/drawing/2014/main" id="{12918BE9-334D-444C-BF0D-7AA2DA1D37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2361" y="3987384"/>
            <a:ext cx="6864052" cy="218958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05150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45460" y="895082"/>
            <a:ext cx="7869890" cy="5281883"/>
          </a:xfrm>
        </p:spPr>
        <p:txBody>
          <a:bodyPr>
            <a:normAutofit/>
          </a:bodyPr>
          <a:lstStyle/>
          <a:p>
            <a:pPr marL="0" indent="0" fontAlgn="base">
              <a:spcAft>
                <a:spcPts val="750"/>
              </a:spcAft>
              <a:buNone/>
            </a:pPr>
            <a:r>
              <a:rPr lang="ru-RU" sz="18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Shell Linux 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Unix 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tizimlari</a:t>
            </a: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buyruq</a:t>
            </a: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qatori</a:t>
            </a: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tarjimonidir</a:t>
            </a: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U 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foydalanuvchi</a:t>
            </a: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yadro</a:t>
            </a: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o'rtasidagi</a:t>
            </a: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interfeysni</a:t>
            </a: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ta'minlaydi</a:t>
            </a: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buyruqlarni</a:t>
            </a: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bajaradi</a:t>
            </a: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Qobiqda</a:t>
            </a: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bajarish</a:t>
            </a: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faylga</a:t>
            </a: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buyruqlar</a:t>
            </a: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ketma-ketligi</a:t>
            </a: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yozilishi</a:t>
            </a: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Bu 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qobiq</a:t>
            </a: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skripti</a:t>
            </a: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deb 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ataladi</a:t>
            </a: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Bu 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Linuxda</a:t>
            </a: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vazifalarni</a:t>
            </a: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avtomatlashtirishga</a:t>
            </a: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yordam</a:t>
            </a: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beradi</a:t>
            </a: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fontAlgn="base">
              <a:spcAft>
                <a:spcPts val="750"/>
              </a:spcAft>
              <a:buNone/>
            </a:pP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Shell 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skriptlarida</a:t>
            </a: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o'zgaruvchilarning</a:t>
            </a: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uchta</a:t>
            </a: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asosiy</a:t>
            </a: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turi</a:t>
            </a: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mavjud</a:t>
            </a:r>
            <a:r>
              <a:rPr lang="en-US" sz="2400" spc="10" dirty="0">
                <a:solidFill>
                  <a:srgbClr val="27323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0" indent="0" fontAlgn="base">
              <a:spcAft>
                <a:spcPts val="750"/>
              </a:spcAft>
              <a:buNone/>
            </a:pP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</a:t>
            </a:r>
            <a:r>
              <a:rPr lang="en-US" sz="2400" spc="10" dirty="0">
                <a:solidFill>
                  <a:srgbClr val="27323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hell 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o'zgaruvchisi</a:t>
            </a: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</a:p>
          <a:p>
            <a:pPr marL="0" indent="0" fontAlgn="base">
              <a:spcAft>
                <a:spcPts val="750"/>
              </a:spcAft>
              <a:buNone/>
            </a:pPr>
            <a:r>
              <a:rPr lang="en-US" sz="2400" spc="10" dirty="0">
                <a:solidFill>
                  <a:srgbClr val="27323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global 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o'zgaruvchi</a:t>
            </a: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0" indent="0" fontAlgn="base">
              <a:spcAft>
                <a:spcPts val="750"/>
              </a:spcAft>
              <a:buNone/>
            </a:pPr>
            <a:r>
              <a:rPr lang="en-US" sz="2400" spc="10" dirty="0">
                <a:solidFill>
                  <a:srgbClr val="27323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mahalliy</a:t>
            </a:r>
            <a:r>
              <a:rPr lang="en-US" sz="24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o'zgaruvch</a:t>
            </a:r>
            <a:r>
              <a:rPr lang="en-US" sz="18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6963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722294-2C25-49C6-ABA6-82A94AE9C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 </a:t>
            </a:r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 </a:t>
            </a:r>
            <a:r>
              <a:rPr lang="en-US" sz="20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o’zgaruvchi</a:t>
            </a:r>
            <a:endParaRPr lang="ru-RU" sz="2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E5F196F-814A-4DDB-882E-D9E28216DC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6964" y="478630"/>
            <a:ext cx="8210071" cy="234854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Local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o'zgaruvchi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o'zgaruvchilarning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maxsus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turi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bo'lib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u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faqat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ma'lum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bir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funktsiya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yoki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kod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blokida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qo'llaniladi</a:t>
            </a:r>
            <a:r>
              <a:rPr lang="en-US" sz="2000" spc="1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000" spc="10" dirty="0">
                <a:solidFill>
                  <a:srgbClr val="27323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Blok </a:t>
            </a:r>
            <a:r>
              <a:rPr lang="en-US" sz="2000" spc="10" dirty="0" err="1">
                <a:solidFill>
                  <a:srgbClr val="27323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tugagandan</a:t>
            </a:r>
            <a:r>
              <a:rPr lang="en-US" sz="2000" spc="10" dirty="0">
                <a:solidFill>
                  <a:srgbClr val="27323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so’ng</a:t>
            </a:r>
            <a:r>
              <a:rPr lang="en-US" sz="2000" spc="10" dirty="0">
                <a:solidFill>
                  <a:srgbClr val="27323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xotiradan</a:t>
            </a:r>
            <a:r>
              <a:rPr lang="en-US" sz="2000" spc="10" dirty="0">
                <a:solidFill>
                  <a:srgbClr val="27323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o’chadi</a:t>
            </a:r>
            <a:endParaRPr lang="en-US" sz="2000" spc="10" dirty="0">
              <a:solidFill>
                <a:srgbClr val="273239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Lokal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o‘zgaruvchilar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faqatgina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funksiya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ichida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ahamiyatga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bo‘lib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dastur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boshqa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funksiyalar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ichida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ishlamaydi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Shuning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funksiya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tashqarisida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lokal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o‘zgaruvchiga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murojaat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etilganda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xatolik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ro‘y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bergani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haqida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xabar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chiqariladi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000" spc="10" dirty="0">
              <a:solidFill>
                <a:srgbClr val="273239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25A46D1-FAE9-49CF-A0CA-05AACE1C03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6964" y="3266326"/>
            <a:ext cx="4469776" cy="350769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Lokal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o‘zgaruvchilardan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foydalanish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o‘zgaruvchining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qiymati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dasturning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boshqa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qismlarida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tasodifan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o‘zgarib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qolishi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xavfini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kamaytiradi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spc="10" dirty="0">
              <a:solidFill>
                <a:srgbClr val="273239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000" spc="10" dirty="0">
                <a:solidFill>
                  <a:srgbClr val="27323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Local </a:t>
            </a:r>
            <a:r>
              <a:rPr lang="en-US" sz="2000" spc="10" dirty="0" err="1">
                <a:solidFill>
                  <a:srgbClr val="27323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o’zgaruvchining</a:t>
            </a:r>
            <a:r>
              <a:rPr lang="en-US" sz="2000" spc="10" dirty="0">
                <a:solidFill>
                  <a:srgbClr val="27323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asosiy</a:t>
            </a:r>
            <a:r>
              <a:rPr lang="en-US" sz="2000" spc="10" dirty="0">
                <a:solidFill>
                  <a:srgbClr val="27323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funksiyalari</a:t>
            </a:r>
            <a:r>
              <a:rPr lang="en-US" sz="2000" spc="10" dirty="0">
                <a:solidFill>
                  <a:srgbClr val="27323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spc="10" dirty="0">
                <a:solidFill>
                  <a:srgbClr val="27323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-</a:t>
            </a:r>
            <a:r>
              <a:rPr lang="en-US" sz="2000" spc="10" dirty="0" err="1">
                <a:solidFill>
                  <a:srgbClr val="27323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Izolyatsiya</a:t>
            </a:r>
            <a:endParaRPr lang="en-US" sz="2000" spc="10" dirty="0">
              <a:solidFill>
                <a:srgbClr val="273239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000" spc="10" dirty="0">
                <a:solidFill>
                  <a:srgbClr val="27323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-</a:t>
            </a:r>
            <a:r>
              <a:rPr lang="en-US" sz="2000" spc="10" dirty="0" err="1">
                <a:solidFill>
                  <a:srgbClr val="27323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Xotirani</a:t>
            </a:r>
            <a:r>
              <a:rPr lang="en-US" sz="2000" spc="10" dirty="0">
                <a:solidFill>
                  <a:srgbClr val="27323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spc="10" dirty="0" err="1">
                <a:solidFill>
                  <a:srgbClr val="27323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tejash</a:t>
            </a:r>
            <a:endParaRPr lang="en-US" sz="2000" spc="10" dirty="0">
              <a:solidFill>
                <a:srgbClr val="273239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000" spc="10" dirty="0">
                <a:solidFill>
                  <a:srgbClr val="27323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- </a:t>
            </a:r>
            <a:r>
              <a:rPr lang="en-US" sz="2000" spc="10" dirty="0" err="1">
                <a:solidFill>
                  <a:srgbClr val="27323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Modullilik</a:t>
            </a:r>
            <a:endParaRPr lang="en-US" sz="2000" spc="10" dirty="0">
              <a:solidFill>
                <a:srgbClr val="273239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sz="2000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9C88AC59-6F97-4D68-A043-136F4C4847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6740" y="2928791"/>
            <a:ext cx="3496163" cy="3321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155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2" y="163208"/>
            <a:ext cx="7886698" cy="66104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Global </a:t>
            </a:r>
            <a:r>
              <a:rPr lang="en-US" dirty="0" err="1">
                <a:solidFill>
                  <a:srgbClr val="C00000"/>
                </a:solidFill>
              </a:rPr>
              <a:t>o’zgaruvchi</a:t>
            </a:r>
            <a:endParaRPr lang="ru-RU" dirty="0">
              <a:solidFill>
                <a:srgbClr val="C0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2" y="824248"/>
            <a:ext cx="7869890" cy="488970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	Global </a:t>
            </a:r>
            <a:r>
              <a:rPr lang="en-US" dirty="0" err="1"/>
              <a:t>o’zgaruvchi</a:t>
            </a:r>
            <a:r>
              <a:rPr lang="en-US" dirty="0"/>
              <a:t> –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dastur</a:t>
            </a:r>
            <a:r>
              <a:rPr lang="en-US" dirty="0"/>
              <a:t> </a:t>
            </a:r>
            <a:r>
              <a:rPr lang="en-US" dirty="0" err="1"/>
              <a:t>bo’ylab</a:t>
            </a:r>
            <a:r>
              <a:rPr lang="en-US" dirty="0"/>
              <a:t> </a:t>
            </a:r>
            <a:r>
              <a:rPr lang="en-US" dirty="0" err="1"/>
              <a:t>hamma</a:t>
            </a:r>
            <a:r>
              <a:rPr lang="en-US" dirty="0"/>
              <a:t> </a:t>
            </a:r>
            <a:r>
              <a:rPr lang="en-US" dirty="0" err="1"/>
              <a:t>funksiyalarda</a:t>
            </a:r>
            <a:r>
              <a:rPr lang="en-US" dirty="0"/>
              <a:t> </a:t>
            </a:r>
            <a:r>
              <a:rPr lang="en-US" dirty="0" err="1"/>
              <a:t>ko’rinadigan</a:t>
            </a:r>
            <a:r>
              <a:rPr lang="en-US" dirty="0"/>
              <a:t> </a:t>
            </a:r>
            <a:r>
              <a:rPr lang="en-US" dirty="0" err="1"/>
              <a:t>o’zgaruvchi</a:t>
            </a:r>
            <a:r>
              <a:rPr lang="en-US" dirty="0"/>
              <a:t>. </a:t>
            </a:r>
            <a:r>
              <a:rPr lang="en-US" dirty="0" err="1"/>
              <a:t>Kod</a:t>
            </a:r>
            <a:r>
              <a:rPr lang="en-US" dirty="0"/>
              <a:t> </a:t>
            </a:r>
            <a:r>
              <a:rPr lang="en-US" dirty="0" err="1"/>
              <a:t>boshida</a:t>
            </a:r>
            <a:r>
              <a:rPr lang="en-US" dirty="0"/>
              <a:t> </a:t>
            </a:r>
            <a:r>
              <a:rPr lang="en-US" dirty="0" err="1"/>
              <a:t>e’lon</a:t>
            </a:r>
            <a:r>
              <a:rPr lang="en-US" dirty="0"/>
              <a:t> </a:t>
            </a:r>
            <a:r>
              <a:rPr lang="en-US" dirty="0" err="1"/>
              <a:t>qilinib</a:t>
            </a:r>
            <a:r>
              <a:rPr lang="en-US" dirty="0"/>
              <a:t> </a:t>
            </a:r>
            <a:r>
              <a:rPr lang="en-US" dirty="0" err="1"/>
              <a:t>dastur</a:t>
            </a:r>
            <a:r>
              <a:rPr lang="en-US" dirty="0"/>
              <a:t> </a:t>
            </a:r>
            <a:r>
              <a:rPr lang="en-US" dirty="0" err="1"/>
              <a:t>tugaguncha</a:t>
            </a:r>
            <a:r>
              <a:rPr lang="en-US" dirty="0"/>
              <a:t> </a:t>
            </a:r>
            <a:r>
              <a:rPr lang="en-US" dirty="0" err="1"/>
              <a:t>xotirada</a:t>
            </a:r>
            <a:r>
              <a:rPr lang="en-US" dirty="0"/>
              <a:t> </a:t>
            </a:r>
            <a:r>
              <a:rPr lang="en-US" dirty="0" err="1"/>
              <a:t>saqlanadi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barch</a:t>
            </a:r>
            <a:r>
              <a:rPr lang="en-US" dirty="0"/>
              <a:t> </a:t>
            </a:r>
            <a:r>
              <a:rPr lang="en-US" dirty="0" err="1"/>
              <a:t>funksiyalar</a:t>
            </a:r>
            <a:r>
              <a:rPr lang="en-US" dirty="0"/>
              <a:t> </a:t>
            </a:r>
            <a:r>
              <a:rPr lang="en-US" dirty="0" err="1"/>
              <a:t>tomonidan</a:t>
            </a:r>
            <a:r>
              <a:rPr lang="en-US" dirty="0"/>
              <a:t> </a:t>
            </a:r>
            <a:r>
              <a:rPr lang="en-US" dirty="0" err="1"/>
              <a:t>ishlatilishi</a:t>
            </a:r>
            <a:r>
              <a:rPr lang="en-US" dirty="0"/>
              <a:t> </a:t>
            </a:r>
            <a:r>
              <a:rPr lang="en-US" dirty="0" err="1"/>
              <a:t>mumkin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Global </a:t>
            </a:r>
            <a:r>
              <a:rPr lang="en-US" dirty="0" err="1"/>
              <a:t>o’zgaruvchining</a:t>
            </a:r>
            <a:r>
              <a:rPr lang="en-US" dirty="0"/>
              <a:t> </a:t>
            </a:r>
            <a:r>
              <a:rPr lang="en-US" dirty="0" err="1"/>
              <a:t>funksiyalari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-</a:t>
            </a:r>
            <a:r>
              <a:rPr lang="en-US" dirty="0" err="1"/>
              <a:t>Umumiy</a:t>
            </a:r>
            <a:r>
              <a:rPr lang="en-US" dirty="0"/>
              <a:t> </a:t>
            </a:r>
            <a:r>
              <a:rPr lang="en-US" dirty="0" err="1"/>
              <a:t>ma’lumotlarni</a:t>
            </a:r>
            <a:r>
              <a:rPr lang="en-US" dirty="0"/>
              <a:t> </a:t>
            </a:r>
            <a:r>
              <a:rPr lang="en-US" dirty="0" err="1"/>
              <a:t>saqlash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-</a:t>
            </a:r>
            <a:r>
              <a:rPr lang="en-US" dirty="0" err="1"/>
              <a:t>Jarayon</a:t>
            </a:r>
            <a:r>
              <a:rPr lang="en-US" dirty="0"/>
              <a:t> </a:t>
            </a:r>
            <a:r>
              <a:rPr lang="en-US" dirty="0" err="1"/>
              <a:t>holatini</a:t>
            </a:r>
            <a:r>
              <a:rPr lang="en-US" dirty="0"/>
              <a:t> </a:t>
            </a:r>
            <a:r>
              <a:rPr lang="en-US" dirty="0" err="1"/>
              <a:t>kuzatish</a:t>
            </a:r>
            <a:endParaRPr lang="en-US" dirty="0"/>
          </a:p>
          <a:p>
            <a:pPr>
              <a:buFontTx/>
              <a:buChar char="-"/>
            </a:pPr>
            <a:r>
              <a:rPr lang="en-US" dirty="0" err="1"/>
              <a:t>Modullararo</a:t>
            </a:r>
            <a:r>
              <a:rPr lang="en-US" dirty="0"/>
              <a:t> </a:t>
            </a:r>
            <a:r>
              <a:rPr lang="en-US" dirty="0" err="1"/>
              <a:t>aloqa</a:t>
            </a:r>
            <a:endParaRPr lang="en-US" dirty="0"/>
          </a:p>
          <a:p>
            <a:pPr>
              <a:buFontTx/>
              <a:buChar char="-"/>
            </a:pPr>
            <a:r>
              <a:rPr lang="en-US" dirty="0" err="1"/>
              <a:t>Xotira</a:t>
            </a:r>
            <a:r>
              <a:rPr lang="en-US" dirty="0"/>
              <a:t> </a:t>
            </a:r>
            <a:r>
              <a:rPr lang="en-US" dirty="0" err="1"/>
              <a:t>manzillarini</a:t>
            </a:r>
            <a:r>
              <a:rPr lang="en-US" dirty="0"/>
              <a:t> </a:t>
            </a:r>
            <a:r>
              <a:rPr lang="en-US" dirty="0" err="1"/>
              <a:t>o’zgarmas</a:t>
            </a:r>
            <a:r>
              <a:rPr lang="en-US" dirty="0"/>
              <a:t> </a:t>
            </a:r>
            <a:r>
              <a:rPr lang="en-US" dirty="0" err="1"/>
              <a:t>bo’lishi</a:t>
            </a:r>
            <a:endParaRPr lang="en-US" dirty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9E34C12-24F1-4A97-B245-23D2C37D90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0924" y="2274952"/>
            <a:ext cx="3238952" cy="3439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574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84A95F-D183-41D1-AEBE-C2B0BD027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Muhim shell buyruqlari va flaglari</a:t>
            </a:r>
            <a:endParaRPr lang="ru-RU" dirty="0"/>
          </a:p>
        </p:txBody>
      </p:sp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5E339AFA-577B-4F30-AAAB-1324B219A1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7287132"/>
              </p:ext>
            </p:extLst>
          </p:nvPr>
        </p:nvGraphicFramePr>
        <p:xfrm>
          <a:off x="1139252" y="982068"/>
          <a:ext cx="6865495" cy="549249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24786">
                  <a:extLst>
                    <a:ext uri="{9D8B030D-6E8A-4147-A177-3AD203B41FA5}">
                      <a16:colId xmlns:a16="http://schemas.microsoft.com/office/drawing/2014/main" val="2614346317"/>
                    </a:ext>
                  </a:extLst>
                </a:gridCol>
                <a:gridCol w="2649423">
                  <a:extLst>
                    <a:ext uri="{9D8B030D-6E8A-4147-A177-3AD203B41FA5}">
                      <a16:colId xmlns:a16="http://schemas.microsoft.com/office/drawing/2014/main" val="2596702067"/>
                    </a:ext>
                  </a:extLst>
                </a:gridCol>
                <a:gridCol w="3191286">
                  <a:extLst>
                    <a:ext uri="{9D8B030D-6E8A-4147-A177-3AD203B41FA5}">
                      <a16:colId xmlns:a16="http://schemas.microsoft.com/office/drawing/2014/main" val="2111295777"/>
                    </a:ext>
                  </a:extLst>
                </a:gridCol>
              </a:tblGrid>
              <a:tr h="29042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Buyruq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Vazifasi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Asosiy flaglari / Misollar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05742500"/>
                  </a:ext>
                </a:extLst>
              </a:tr>
              <a:tr h="21123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pwd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 dirty="0" err="1">
                          <a:effectLst/>
                        </a:rPr>
                        <a:t>Joriy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r>
                        <a:rPr lang="ru-RU" sz="1800" dirty="0" err="1">
                          <a:effectLst/>
                        </a:rPr>
                        <a:t>katalogni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r>
                        <a:rPr lang="ru-RU" sz="1800" dirty="0" err="1">
                          <a:effectLst/>
                        </a:rPr>
                        <a:t>ko‘rsatadi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pwd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7821469"/>
                  </a:ext>
                </a:extLst>
              </a:tr>
              <a:tr h="84449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ls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Fayllar va kataloglarni chiqaradi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ls -l (uzun format), ls -a (yashirin fayllar), ls -lh (odam o‘qiy oladigan format)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792636434"/>
                  </a:ext>
                </a:extLst>
              </a:tr>
              <a:tr h="29042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cd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Katalogni almashtiradi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cd /home/user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6824127"/>
                  </a:ext>
                </a:extLst>
              </a:tr>
              <a:tr h="56745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echo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Matn yoki o‘zgaruvchini chiqaradi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echo $PATH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68963250"/>
                  </a:ext>
                </a:extLst>
              </a:tr>
              <a:tr h="29042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cat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Faylni ko‘rsatadi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cat file.txt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71053259"/>
                  </a:ext>
                </a:extLst>
              </a:tr>
              <a:tr h="56745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cp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Fayl/katalogni nusxalaydi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cp -r dir1 dir2 (rekursiv), cp -i a.txt b.txt (tasdiq bilan)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696318344"/>
                  </a:ext>
                </a:extLst>
              </a:tr>
              <a:tr h="56745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mv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Faylni ko‘chirish yoki nomini o‘zgartirish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mv a.txt /tmp/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545143997"/>
                  </a:ext>
                </a:extLst>
              </a:tr>
              <a:tr h="56745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rm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Fayl/katalogni o‘chiradi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rm -i (tasdiq bilan), rm -r (rekursiv), rm -rf (majburiy)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09483367"/>
                  </a:ext>
                </a:extLst>
              </a:tr>
              <a:tr h="56745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touch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Yangi bo‘sh fayl yaratish yoki vaqtni yangilash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touch new.txt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10175399"/>
                  </a:ext>
                </a:extLst>
              </a:tr>
              <a:tr h="29042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man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Buyruqlar uchun qo‘llanma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 dirty="0" err="1">
                          <a:effectLst/>
                        </a:rPr>
                        <a:t>man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r>
                        <a:rPr lang="ru-RU" sz="1800" dirty="0" err="1">
                          <a:effectLst/>
                        </a:rPr>
                        <a:t>ls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1879678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9901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6C8952F6-EE72-4860-BC31-23D4CF08C7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6038558"/>
              </p:ext>
            </p:extLst>
          </p:nvPr>
        </p:nvGraphicFramePr>
        <p:xfrm>
          <a:off x="1034321" y="914400"/>
          <a:ext cx="7285220" cy="487540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87437">
                  <a:extLst>
                    <a:ext uri="{9D8B030D-6E8A-4147-A177-3AD203B41FA5}">
                      <a16:colId xmlns:a16="http://schemas.microsoft.com/office/drawing/2014/main" val="2080891316"/>
                    </a:ext>
                  </a:extLst>
                </a:gridCol>
                <a:gridCol w="2811397">
                  <a:extLst>
                    <a:ext uri="{9D8B030D-6E8A-4147-A177-3AD203B41FA5}">
                      <a16:colId xmlns:a16="http://schemas.microsoft.com/office/drawing/2014/main" val="821968812"/>
                    </a:ext>
                  </a:extLst>
                </a:gridCol>
                <a:gridCol w="3386386">
                  <a:extLst>
                    <a:ext uri="{9D8B030D-6E8A-4147-A177-3AD203B41FA5}">
                      <a16:colId xmlns:a16="http://schemas.microsoft.com/office/drawing/2014/main" val="1082177141"/>
                    </a:ext>
                  </a:extLst>
                </a:gridCol>
              </a:tblGrid>
              <a:tr h="82445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grep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 dirty="0" err="1">
                          <a:effectLst/>
                        </a:rPr>
                        <a:t>Matn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r>
                        <a:rPr lang="ru-RU" sz="1800" dirty="0" err="1">
                          <a:effectLst/>
                        </a:rPr>
                        <a:t>ichidan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r>
                        <a:rPr lang="ru-RU" sz="1800" dirty="0" err="1">
                          <a:effectLst/>
                        </a:rPr>
                        <a:t>qidiradi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grep -</a:t>
                      </a:r>
                      <a:r>
                        <a:rPr lang="en-US" sz="1800" dirty="0" err="1">
                          <a:effectLst/>
                        </a:rPr>
                        <a:t>i</a:t>
                      </a:r>
                      <a:r>
                        <a:rPr lang="en-US" sz="1800" dirty="0">
                          <a:effectLst/>
                        </a:rPr>
                        <a:t> "text" file.txt (</a:t>
                      </a:r>
                      <a:r>
                        <a:rPr lang="en-US" sz="1800" dirty="0" err="1">
                          <a:effectLst/>
                        </a:rPr>
                        <a:t>katta-kichik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farqsiz</a:t>
                      </a:r>
                      <a:r>
                        <a:rPr lang="en-US" sz="1800" dirty="0">
                          <a:effectLst/>
                        </a:rPr>
                        <a:t>), grep -r "pattern" </a:t>
                      </a:r>
                      <a:r>
                        <a:rPr lang="en-US" sz="1800" dirty="0" err="1">
                          <a:effectLst/>
                        </a:rPr>
                        <a:t>dir</a:t>
                      </a:r>
                      <a:r>
                        <a:rPr lang="en-US" sz="1800" dirty="0">
                          <a:effectLst/>
                        </a:rPr>
                        <a:t>/ (</a:t>
                      </a:r>
                      <a:r>
                        <a:rPr lang="en-US" sz="1800" dirty="0" err="1">
                          <a:effectLst/>
                        </a:rPr>
                        <a:t>rekursiv</a:t>
                      </a:r>
                      <a:r>
                        <a:rPr lang="en-US" sz="1800" dirty="0">
                          <a:effectLst/>
                        </a:rPr>
                        <a:t>)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00758502"/>
                  </a:ext>
                </a:extLst>
              </a:tr>
              <a:tr h="40091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find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Fayl qidiradi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find . -name "*.txt"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66847637"/>
                  </a:ext>
                </a:extLst>
              </a:tr>
              <a:tr h="78333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chmod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 err="1">
                          <a:effectLst/>
                        </a:rPr>
                        <a:t>Fayl</a:t>
                      </a:r>
                      <a:r>
                        <a:rPr lang="en-US" sz="1800" dirty="0">
                          <a:effectLst/>
                        </a:rPr>
                        <a:t>/</a:t>
                      </a:r>
                      <a:r>
                        <a:rPr lang="en-US" sz="1800" dirty="0" err="1">
                          <a:effectLst/>
                        </a:rPr>
                        <a:t>katalog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huquqlarini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o‘zgartirish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chmod 755 file.sh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0472267"/>
                  </a:ext>
                </a:extLst>
              </a:tr>
              <a:tr h="40091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ps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Protsesslarni ko‘rsatadi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ps -aux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8776171"/>
                  </a:ext>
                </a:extLst>
              </a:tr>
              <a:tr h="40091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kill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Protsessni to‘xtatadi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kill -9 PID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075812768"/>
                  </a:ext>
                </a:extLst>
              </a:tr>
              <a:tr h="40277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top / htop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Tizim resurslarini ko‘rsatadi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top, htop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72061540"/>
                  </a:ext>
                </a:extLst>
              </a:tr>
              <a:tr h="40277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tar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Arxivlash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tar -cvf a.tar dir/, tar -xvf a.tar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79003501"/>
                  </a:ext>
                </a:extLst>
              </a:tr>
              <a:tr h="78333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gzip / gunzip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Faylni siqish va ochish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gzip file.txt, gunzip file.txt.gz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018346214"/>
                  </a:ext>
                </a:extLst>
              </a:tr>
              <a:tr h="40091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unzip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Zip faylni ochish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 dirty="0" err="1">
                          <a:effectLst/>
                        </a:rPr>
                        <a:t>unzip</a:t>
                      </a:r>
                      <a:r>
                        <a:rPr lang="ru-RU" sz="1800" dirty="0">
                          <a:effectLst/>
                        </a:rPr>
                        <a:t> archive.zip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7154509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9762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499ADE-76C2-4252-A7D3-BA11C4A10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kern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Shell </a:t>
            </a:r>
            <a:r>
              <a:rPr lang="ru-RU" sz="3600" kern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skriptlari</a:t>
            </a:r>
            <a:r>
              <a:rPr lang="ru-RU" sz="3600" kern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kern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asoslari</a:t>
            </a:r>
            <a:r>
              <a:rPr lang="ru-RU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ru-RU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5039160-2BFE-4B67-89AB-41B1B6C1A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lnSpc>
                <a:spcPct val="107000"/>
              </a:lnSpc>
              <a:spcBef>
                <a:spcPts val="1800"/>
              </a:spcBef>
              <a:spcAft>
                <a:spcPts val="800"/>
              </a:spcAft>
              <a:buNone/>
            </a:pPr>
            <a:r>
              <a:rPr lang="en-US" sz="1800" dirty="0" smtClean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1800" dirty="0" err="1" smtClean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Shell</a:t>
            </a:r>
            <a:r>
              <a:rPr lang="ru-RU" sz="1800" dirty="0" smtClean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skripti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Unix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qobig'idagi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vazifalarni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avtomatlashtirish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usuli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skript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faylida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buyruqlar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yozishni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o'z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ichiga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oladi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keyinchalik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ular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qator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vazifalarni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bajarish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qobiq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tomonidan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bajarilishi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ru-RU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en-US" sz="1800" dirty="0" smtClean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Shell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skriptini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o'rganishda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tushunishingiz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kerak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bo'lgan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nechta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tushunchalar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dirty="0" smtClean="0">
                <a:solidFill>
                  <a:srgbClr val="55555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Shebang </a:t>
            </a:r>
            <a:r>
              <a:rPr lang="en-US" sz="1800" b="1" dirty="0" err="1">
                <a:solidFill>
                  <a:srgbClr val="55555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liniyalaridan</a:t>
            </a:r>
            <a:r>
              <a:rPr lang="en-US" sz="1800" b="1" dirty="0">
                <a:solidFill>
                  <a:srgbClr val="55555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55555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foydalaning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: Shebang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chizig'i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skript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boshida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ishlatiladigan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tarjimonni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belgilaydigan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maxsus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qatordir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Masalan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shebang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qatori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1800" b="1" dirty="0">
                <a:solidFill>
                  <a:srgbClr val="C7254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#!/bin/bash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tizimga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skriptni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ishga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tushirish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Bash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tarjimonidan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foydalanishni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aytadi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en-US" sz="1800" b="1" dirty="0" err="1">
                <a:solidFill>
                  <a:srgbClr val="55555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Skript</a:t>
            </a:r>
            <a:r>
              <a:rPr lang="en-US" sz="1800" b="1" dirty="0">
                <a:solidFill>
                  <a:srgbClr val="55555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Skript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qobiq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tomonidan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bajariladigan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qator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buyruqlarni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o'z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ichiga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olgan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matnli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fayl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Skriptlar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odatda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qobiq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tushunadigan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tilda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yoziladi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masalan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Bash,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lekin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ular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Python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Ruby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kabi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boshqa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tillarda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yozilgan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buyruqlarni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ham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o'z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ichiga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olishi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en-US" sz="1800" b="1" dirty="0" err="1">
                <a:solidFill>
                  <a:srgbClr val="55555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O'zgaruvchilar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: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O'zgaruvchilar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ma'lumotlarni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saqlaydigan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saqlash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joylari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deb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nomlanadi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Siz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satrlar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raqamlar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massivlar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kabi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ma'lumotlarni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saqlash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boshqarish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qobiq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skriptidagi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o'zgaruvchilardan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foydalanishingiz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US" sz="1800" dirty="0">
                <a:solidFill>
                  <a:srgbClr val="373D3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6166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DAEC6F-9D99-471F-82AE-2EAC99BD5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Xulosa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52FAB1-8D0F-46C4-B231-A890A1443A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460" y="1287256"/>
            <a:ext cx="7869890" cy="52161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Shell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skripti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qobiq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tomonidan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bajarilishi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bo'lgan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skript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faylida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buyruqlar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yozish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Unix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qobig'idagi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vazifalarni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avtomatlashtirish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usuli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 Shell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skriptlarida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siz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foydalaniladigan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tarjimonni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ma'lumotlarni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saqlash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boshqarish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o'zgaruvchilarni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skript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oqimini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boshqarish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shartli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bayonotlarni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kod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blokini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takrorlash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tsikllarni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fayllar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dasturlardan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o'qish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yozish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kiritish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chiqarishni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xatolarni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qayta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ishlash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chiqish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holati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kodlarini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hujjat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kodiga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sharhlarni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kodni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qayta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tartibga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solishni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belgilash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shebang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qatorlaridan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foydalanishingiz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000" dirty="0" smtClean="0">
              <a:solidFill>
                <a:srgbClr val="373D3F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373D3F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000" dirty="0" err="1" smtClean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Bash</a:t>
            </a:r>
            <a:r>
              <a:rPr lang="ru-RU" sz="2000" dirty="0" smtClean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Linux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tizimlarida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ishlatiladigan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mashhur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Unix-ga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o'xshash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qobiq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bo'lib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u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foydalanuvchi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skript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faylidan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buyruqlarni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o'qiydi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bajaradi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Siz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skript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faylining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nomidan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keyin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bash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buyrug'ini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ishlatib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Bash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skriptini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ishga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tushirishingiz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skript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faylini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bajariladigan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qilib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to'g'ridan-to'g'ri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ishga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tushirishingiz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ru-RU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Bash-da </a:t>
            </a:r>
            <a:r>
              <a:rPr lang="en-US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siz</a:t>
            </a:r>
            <a:r>
              <a:rPr lang="en-US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qayta</a:t>
            </a:r>
            <a:r>
              <a:rPr lang="en-US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yo'naltirish</a:t>
            </a:r>
            <a:r>
              <a:rPr lang="en-US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almashtirish</a:t>
            </a:r>
            <a:r>
              <a:rPr lang="en-US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kengaytirish</a:t>
            </a:r>
            <a:r>
              <a:rPr lang="en-US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kabi</a:t>
            </a:r>
            <a:r>
              <a:rPr lang="en-US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vazifalarni</a:t>
            </a:r>
            <a:r>
              <a:rPr lang="en-US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bajarish</a:t>
            </a:r>
            <a:r>
              <a:rPr lang="en-US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maxsus</a:t>
            </a:r>
            <a:r>
              <a:rPr lang="en-US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belgilar</a:t>
            </a:r>
            <a:r>
              <a:rPr lang="en-US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operatorlardan</a:t>
            </a:r>
            <a:r>
              <a:rPr lang="en-US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ham </a:t>
            </a:r>
            <a:r>
              <a:rPr lang="en-US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foydalanishingiz</a:t>
            </a:r>
            <a:r>
              <a:rPr lang="en-US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US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 Shell </a:t>
            </a:r>
            <a:r>
              <a:rPr lang="en-US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skripti</a:t>
            </a:r>
            <a:r>
              <a:rPr lang="en-US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Unix </a:t>
            </a:r>
            <a:r>
              <a:rPr lang="en-US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qobig'ida</a:t>
            </a:r>
            <a:r>
              <a:rPr lang="en-US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vazifalarni</a:t>
            </a:r>
            <a:r>
              <a:rPr lang="en-US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avtomatlashtirish</a:t>
            </a:r>
            <a:r>
              <a:rPr lang="en-US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dasturlarni</a:t>
            </a:r>
            <a:r>
              <a:rPr lang="en-US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yaratish</a:t>
            </a:r>
            <a:r>
              <a:rPr lang="en-US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foydali</a:t>
            </a:r>
            <a:r>
              <a:rPr lang="en-US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vositadir</a:t>
            </a:r>
            <a:r>
              <a:rPr lang="en-US" sz="2000" dirty="0">
                <a:solidFill>
                  <a:srgbClr val="373D3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60120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6489" y="160387"/>
            <a:ext cx="8181984" cy="1143000"/>
          </a:xfrm>
        </p:spPr>
        <p:txBody>
          <a:bodyPr/>
          <a:lstStyle/>
          <a:p>
            <a:pPr marL="0" indent="0" algn="ctr" fontAlgn="auto">
              <a:spcAft>
                <a:spcPts val="0"/>
              </a:spcAft>
              <a:buNone/>
              <a:defRPr/>
            </a:pPr>
            <a:r>
              <a:rPr lang="uz-Latn-UZ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Foydalanilgan adabiyotlar</a:t>
            </a:r>
            <a:endParaRPr lang="ru-RU" i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770" name="Content Placeholder 2"/>
          <p:cNvSpPr>
            <a:spLocks noGrp="1"/>
          </p:cNvSpPr>
          <p:nvPr>
            <p:ph sz="quarter" idx="13"/>
          </p:nvPr>
        </p:nvSpPr>
        <p:spPr>
          <a:xfrm>
            <a:off x="167425" y="1216428"/>
            <a:ext cx="8802710" cy="5481185"/>
          </a:xfrm>
        </p:spPr>
        <p:txBody>
          <a:bodyPr>
            <a:normAutofit fontScale="92500" lnSpcReduction="10000"/>
          </a:bodyPr>
          <a:lstStyle/>
          <a:p>
            <a:pPr marL="388620" indent="-342900">
              <a:spcBef>
                <a:spcPts val="0"/>
              </a:spcBef>
              <a:buFont typeface="+mj-lt"/>
              <a:buAutoNum type="arabicPeriod"/>
            </a:pPr>
            <a:r>
              <a:rPr lang="en-US" sz="1800" b="1" i="1" dirty="0">
                <a:solidFill>
                  <a:srgbClr val="002060"/>
                </a:solidFill>
              </a:rPr>
              <a:t>Andrew S. </a:t>
            </a:r>
            <a:r>
              <a:rPr lang="en-US" sz="1800" b="1" i="1" dirty="0" err="1">
                <a:solidFill>
                  <a:srgbClr val="002060"/>
                </a:solidFill>
              </a:rPr>
              <a:t>Tanenbaum</a:t>
            </a:r>
            <a:r>
              <a:rPr lang="en-US" sz="1800" b="1" i="1" dirty="0">
                <a:solidFill>
                  <a:srgbClr val="002060"/>
                </a:solidFill>
              </a:rPr>
              <a:t>, Albert S. Woodhull</a:t>
            </a:r>
            <a:r>
              <a:rPr lang="en-US" sz="1800" i="1" dirty="0">
                <a:solidFill>
                  <a:srgbClr val="002060"/>
                </a:solidFill>
              </a:rPr>
              <a:t>. Operating Systems: Design and Implementation,</a:t>
            </a:r>
            <a:r>
              <a:rPr lang="uz-Latn-UZ" sz="1800" i="1" dirty="0">
                <a:solidFill>
                  <a:srgbClr val="002060"/>
                </a:solidFill>
              </a:rPr>
              <a:t> </a:t>
            </a:r>
            <a:r>
              <a:rPr lang="en-US" sz="1800" i="1" dirty="0">
                <a:solidFill>
                  <a:srgbClr val="002060"/>
                </a:solidFill>
              </a:rPr>
              <a:t>Chapter </a:t>
            </a:r>
            <a:r>
              <a:rPr lang="uz-Latn-UZ" sz="1800" i="1" dirty="0">
                <a:solidFill>
                  <a:srgbClr val="002060"/>
                </a:solidFill>
              </a:rPr>
              <a:t>8. Multipleprocessor systems,   8.1 Multiprosessors</a:t>
            </a:r>
          </a:p>
          <a:p>
            <a:pPr marL="388620" indent="-342900">
              <a:spcBef>
                <a:spcPts val="0"/>
              </a:spcBef>
              <a:buFont typeface="+mj-lt"/>
              <a:buAutoNum type="arabicPeriod"/>
            </a:pPr>
            <a:r>
              <a:rPr lang="en-US" sz="1800" i="1" dirty="0">
                <a:solidFill>
                  <a:srgbClr val="002060"/>
                </a:solidFill>
                <a:hlinkClick r:id="rId3"/>
              </a:rPr>
              <a:t>https://coderlessons.com/tutorials/akademicheskii/osnovy-operatsionnykh-sistem/15-upravlenie-protsessami-v-os</a:t>
            </a:r>
            <a:endParaRPr lang="en-US" sz="1800" i="1" dirty="0">
              <a:solidFill>
                <a:srgbClr val="002060"/>
              </a:solidFill>
            </a:endParaRPr>
          </a:p>
          <a:p>
            <a:pPr marL="388620" indent="-342900">
              <a:spcBef>
                <a:spcPts val="0"/>
              </a:spcBef>
              <a:buFont typeface="+mj-lt"/>
              <a:buAutoNum type="arabicPeriod"/>
            </a:pPr>
            <a:r>
              <a:rPr lang="en-US" sz="1800" i="1" dirty="0">
                <a:solidFill>
                  <a:srgbClr val="002060"/>
                </a:solidFill>
              </a:rPr>
              <a:t>https://vseloved.github.io/pdf/proc-ru.pdf</a:t>
            </a: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en-US" b="1" i="1" dirty="0" err="1">
                <a:solidFill>
                  <a:srgbClr val="002060"/>
                </a:solidFill>
              </a:rPr>
              <a:t>Silberschatz</a:t>
            </a:r>
            <a:r>
              <a:rPr lang="en-US" b="1" i="1" dirty="0">
                <a:solidFill>
                  <a:srgbClr val="002060"/>
                </a:solidFill>
              </a:rPr>
              <a:t>, A., Galvin, P., Gagne, G.</a:t>
            </a:r>
            <a:r>
              <a:rPr lang="en-US" i="1" dirty="0">
                <a:solidFill>
                  <a:srgbClr val="002060"/>
                </a:solidFill>
              </a:rPr>
              <a:t/>
            </a:r>
            <a:br>
              <a:rPr lang="en-US" i="1" dirty="0">
                <a:solidFill>
                  <a:srgbClr val="002060"/>
                </a:solidFill>
              </a:rPr>
            </a:br>
            <a:r>
              <a:rPr lang="en-US" i="1" dirty="0">
                <a:solidFill>
                  <a:srgbClr val="002060"/>
                </a:solidFill>
              </a:rPr>
              <a:t>Operating System Concepts (9th Edition). Wiley, 2018.</a:t>
            </a:r>
            <a:br>
              <a:rPr lang="en-US" i="1" dirty="0">
                <a:solidFill>
                  <a:srgbClr val="002060"/>
                </a:solidFill>
              </a:rPr>
            </a:br>
            <a:r>
              <a:rPr lang="en-US" i="1" dirty="0">
                <a:solidFill>
                  <a:srgbClr val="002060"/>
                </a:solidFill>
              </a:rPr>
              <a:t>– </a:t>
            </a:r>
            <a:r>
              <a:rPr lang="en-US" i="1" dirty="0" err="1">
                <a:solidFill>
                  <a:srgbClr val="002060"/>
                </a:solidFill>
              </a:rPr>
              <a:t>Jarayonlar</a:t>
            </a:r>
            <a:r>
              <a:rPr lang="en-US" i="1" dirty="0">
                <a:solidFill>
                  <a:srgbClr val="002060"/>
                </a:solidFill>
              </a:rPr>
              <a:t>, </a:t>
            </a:r>
            <a:r>
              <a:rPr lang="en-US" i="1" dirty="0" err="1">
                <a:solidFill>
                  <a:srgbClr val="002060"/>
                </a:solidFill>
              </a:rPr>
              <a:t>xotira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boshqaruvi</a:t>
            </a:r>
            <a:r>
              <a:rPr lang="en-US" i="1" dirty="0">
                <a:solidFill>
                  <a:srgbClr val="002060"/>
                </a:solidFill>
              </a:rPr>
              <a:t>, stack </a:t>
            </a:r>
            <a:r>
              <a:rPr lang="en-US" i="1" dirty="0" err="1">
                <a:solidFill>
                  <a:srgbClr val="002060"/>
                </a:solidFill>
              </a:rPr>
              <a:t>va</a:t>
            </a:r>
            <a:r>
              <a:rPr lang="en-US" i="1" dirty="0">
                <a:solidFill>
                  <a:srgbClr val="002060"/>
                </a:solidFill>
              </a:rPr>
              <a:t> heap </a:t>
            </a:r>
            <a:r>
              <a:rPr lang="en-US" i="1" dirty="0" err="1">
                <a:solidFill>
                  <a:srgbClr val="002060"/>
                </a:solidFill>
              </a:rPr>
              <a:t>tushunchalari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batafsil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yoritilgan</a:t>
            </a:r>
            <a:r>
              <a:rPr lang="en-US" i="1" dirty="0">
                <a:solidFill>
                  <a:srgbClr val="002060"/>
                </a:solidFill>
              </a:rPr>
              <a:t>.</a:t>
            </a:r>
            <a:endParaRPr lang="ru-RU" i="1" dirty="0">
              <a:solidFill>
                <a:srgbClr val="002060"/>
              </a:solidFill>
            </a:endParaRP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en-US" b="1" i="1" dirty="0" err="1">
                <a:solidFill>
                  <a:srgbClr val="002060"/>
                </a:solidFill>
              </a:rPr>
              <a:t>Tanenbaum</a:t>
            </a:r>
            <a:r>
              <a:rPr lang="en-US" b="1" i="1" dirty="0">
                <a:solidFill>
                  <a:srgbClr val="002060"/>
                </a:solidFill>
              </a:rPr>
              <a:t>, A. S., </a:t>
            </a:r>
            <a:r>
              <a:rPr lang="en-US" b="1" i="1" dirty="0" err="1">
                <a:solidFill>
                  <a:srgbClr val="002060"/>
                </a:solidFill>
              </a:rPr>
              <a:t>Bos</a:t>
            </a:r>
            <a:r>
              <a:rPr lang="en-US" b="1" i="1" dirty="0">
                <a:solidFill>
                  <a:srgbClr val="002060"/>
                </a:solidFill>
              </a:rPr>
              <a:t>, H.</a:t>
            </a:r>
            <a:r>
              <a:rPr lang="en-US" i="1" dirty="0">
                <a:solidFill>
                  <a:srgbClr val="002060"/>
                </a:solidFill>
              </a:rPr>
              <a:t/>
            </a:r>
            <a:br>
              <a:rPr lang="en-US" i="1" dirty="0">
                <a:solidFill>
                  <a:srgbClr val="002060"/>
                </a:solidFill>
              </a:rPr>
            </a:br>
            <a:r>
              <a:rPr lang="en-US" i="1" dirty="0">
                <a:solidFill>
                  <a:srgbClr val="002060"/>
                </a:solidFill>
              </a:rPr>
              <a:t>Modern Operating Systems (4th Edition). Pearson, 2014.</a:t>
            </a:r>
            <a:br>
              <a:rPr lang="en-US" i="1" dirty="0">
                <a:solidFill>
                  <a:srgbClr val="002060"/>
                </a:solidFill>
              </a:rPr>
            </a:br>
            <a:r>
              <a:rPr lang="en-US" i="1" dirty="0">
                <a:solidFill>
                  <a:srgbClr val="002060"/>
                </a:solidFill>
              </a:rPr>
              <a:t>– </a:t>
            </a:r>
            <a:r>
              <a:rPr lang="en-US" i="1" dirty="0" err="1">
                <a:solidFill>
                  <a:srgbClr val="002060"/>
                </a:solidFill>
              </a:rPr>
              <a:t>Jarayon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modeli</a:t>
            </a:r>
            <a:r>
              <a:rPr lang="en-US" i="1" dirty="0">
                <a:solidFill>
                  <a:srgbClr val="002060"/>
                </a:solidFill>
              </a:rPr>
              <a:t>, </a:t>
            </a:r>
            <a:r>
              <a:rPr lang="en-US" i="1" dirty="0" err="1">
                <a:solidFill>
                  <a:srgbClr val="002060"/>
                </a:solidFill>
              </a:rPr>
              <a:t>xotira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segmentlari</a:t>
            </a:r>
            <a:r>
              <a:rPr lang="en-US" i="1" dirty="0">
                <a:solidFill>
                  <a:srgbClr val="002060"/>
                </a:solidFill>
              </a:rPr>
              <a:t>, </a:t>
            </a:r>
            <a:r>
              <a:rPr lang="en-US" i="1" dirty="0" err="1">
                <a:solidFill>
                  <a:srgbClr val="002060"/>
                </a:solidFill>
              </a:rPr>
              <a:t>kontekst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almashinuvi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haqida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chuqur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izohlar</a:t>
            </a:r>
            <a:r>
              <a:rPr lang="en-US" i="1" dirty="0">
                <a:solidFill>
                  <a:srgbClr val="002060"/>
                </a:solidFill>
              </a:rPr>
              <a:t> bor.</a:t>
            </a:r>
            <a:endParaRPr lang="ru-RU" i="1" dirty="0">
              <a:solidFill>
                <a:srgbClr val="002060"/>
              </a:solidFill>
            </a:endParaRP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en-US" b="1" i="1" dirty="0">
                <a:solidFill>
                  <a:srgbClr val="002060"/>
                </a:solidFill>
              </a:rPr>
              <a:t>Stallings, W.</a:t>
            </a:r>
            <a:r>
              <a:rPr lang="en-US" i="1" dirty="0">
                <a:solidFill>
                  <a:srgbClr val="002060"/>
                </a:solidFill>
              </a:rPr>
              <a:t/>
            </a:r>
            <a:br>
              <a:rPr lang="en-US" i="1" dirty="0">
                <a:solidFill>
                  <a:srgbClr val="002060"/>
                </a:solidFill>
              </a:rPr>
            </a:br>
            <a:r>
              <a:rPr lang="en-US" i="1" dirty="0">
                <a:solidFill>
                  <a:srgbClr val="002060"/>
                </a:solidFill>
              </a:rPr>
              <a:t>Operating Systems: Internals and Design Principles (9th Edition). Pearson, 2018.</a:t>
            </a:r>
            <a:br>
              <a:rPr lang="en-US" i="1" dirty="0">
                <a:solidFill>
                  <a:srgbClr val="002060"/>
                </a:solidFill>
              </a:rPr>
            </a:br>
            <a:r>
              <a:rPr lang="en-US" i="1" dirty="0">
                <a:solidFill>
                  <a:srgbClr val="002060"/>
                </a:solidFill>
              </a:rPr>
              <a:t>– </a:t>
            </a:r>
            <a:r>
              <a:rPr lang="en-US" i="1" dirty="0" err="1">
                <a:solidFill>
                  <a:srgbClr val="002060"/>
                </a:solidFill>
              </a:rPr>
              <a:t>Jarayonlarni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boshqarish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va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xotira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strukturalari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asoslari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tushuntirilgan</a:t>
            </a:r>
            <a:r>
              <a:rPr lang="en-US" i="1" dirty="0">
                <a:solidFill>
                  <a:srgbClr val="002060"/>
                </a:solidFill>
              </a:rPr>
              <a:t>.</a:t>
            </a:r>
            <a:endParaRPr lang="ru-RU" i="1" dirty="0">
              <a:solidFill>
                <a:srgbClr val="002060"/>
              </a:solidFill>
            </a:endParaRP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en-US" b="1" i="1" dirty="0">
                <a:solidFill>
                  <a:srgbClr val="002060"/>
                </a:solidFill>
              </a:rPr>
              <a:t>Bryant, R., </a:t>
            </a:r>
            <a:r>
              <a:rPr lang="en-US" b="1" i="1" dirty="0" err="1">
                <a:solidFill>
                  <a:srgbClr val="002060"/>
                </a:solidFill>
              </a:rPr>
              <a:t>O’Hallaron</a:t>
            </a:r>
            <a:r>
              <a:rPr lang="en-US" b="1" i="1" dirty="0">
                <a:solidFill>
                  <a:srgbClr val="002060"/>
                </a:solidFill>
              </a:rPr>
              <a:t>, D.</a:t>
            </a:r>
            <a:r>
              <a:rPr lang="en-US" i="1" dirty="0">
                <a:solidFill>
                  <a:srgbClr val="002060"/>
                </a:solidFill>
              </a:rPr>
              <a:t/>
            </a:r>
            <a:br>
              <a:rPr lang="en-US" i="1" dirty="0">
                <a:solidFill>
                  <a:srgbClr val="002060"/>
                </a:solidFill>
              </a:rPr>
            </a:br>
            <a:r>
              <a:rPr lang="en-US" i="1" dirty="0">
                <a:solidFill>
                  <a:srgbClr val="002060"/>
                </a:solidFill>
              </a:rPr>
              <a:t>Computer Systems: A Programmer’s Perspective (3rd Edition). Pearson, 2016.</a:t>
            </a:r>
            <a:br>
              <a:rPr lang="en-US" i="1" dirty="0">
                <a:solidFill>
                  <a:srgbClr val="002060"/>
                </a:solidFill>
              </a:rPr>
            </a:br>
            <a:r>
              <a:rPr lang="en-US" i="1" dirty="0">
                <a:solidFill>
                  <a:srgbClr val="002060"/>
                </a:solidFill>
              </a:rPr>
              <a:t>– Stack </a:t>
            </a:r>
            <a:r>
              <a:rPr lang="en-US" i="1" dirty="0" err="1">
                <a:solidFill>
                  <a:srgbClr val="002060"/>
                </a:solidFill>
              </a:rPr>
              <a:t>va</a:t>
            </a:r>
            <a:r>
              <a:rPr lang="en-US" i="1" dirty="0">
                <a:solidFill>
                  <a:srgbClr val="002060"/>
                </a:solidFill>
              </a:rPr>
              <a:t> heap </a:t>
            </a:r>
            <a:r>
              <a:rPr lang="en-US" i="1" dirty="0" err="1">
                <a:solidFill>
                  <a:srgbClr val="002060"/>
                </a:solidFill>
              </a:rPr>
              <a:t>xotiralarining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jarayondagi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o‘rni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va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amaliy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misollar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bilan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ko‘rsatilgan</a:t>
            </a:r>
            <a:r>
              <a:rPr lang="en-US" i="1" dirty="0">
                <a:solidFill>
                  <a:srgbClr val="002060"/>
                </a:solidFill>
              </a:rPr>
              <a:t>.</a:t>
            </a:r>
            <a:endParaRPr lang="ru-RU" i="1" dirty="0">
              <a:solidFill>
                <a:srgbClr val="002060"/>
              </a:solidFill>
            </a:endParaRP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en-US" b="1" i="1" dirty="0" err="1">
                <a:solidFill>
                  <a:srgbClr val="002060"/>
                </a:solidFill>
              </a:rPr>
              <a:t>Cormen</a:t>
            </a:r>
            <a:r>
              <a:rPr lang="en-US" b="1" i="1" dirty="0">
                <a:solidFill>
                  <a:srgbClr val="002060"/>
                </a:solidFill>
              </a:rPr>
              <a:t>, T. H., </a:t>
            </a:r>
            <a:r>
              <a:rPr lang="en-US" b="1" i="1" dirty="0" err="1">
                <a:solidFill>
                  <a:srgbClr val="002060"/>
                </a:solidFill>
              </a:rPr>
              <a:t>Leiserson</a:t>
            </a:r>
            <a:r>
              <a:rPr lang="en-US" b="1" i="1" dirty="0">
                <a:solidFill>
                  <a:srgbClr val="002060"/>
                </a:solidFill>
              </a:rPr>
              <a:t>, C. E., </a:t>
            </a:r>
            <a:r>
              <a:rPr lang="en-US" b="1" i="1" dirty="0" err="1">
                <a:solidFill>
                  <a:srgbClr val="002060"/>
                </a:solidFill>
              </a:rPr>
              <a:t>Rivest</a:t>
            </a:r>
            <a:r>
              <a:rPr lang="en-US" b="1" i="1" dirty="0">
                <a:solidFill>
                  <a:srgbClr val="002060"/>
                </a:solidFill>
              </a:rPr>
              <a:t>, R. L., Stein, C.</a:t>
            </a:r>
            <a:r>
              <a:rPr lang="en-US" i="1" dirty="0">
                <a:solidFill>
                  <a:srgbClr val="002060"/>
                </a:solidFill>
              </a:rPr>
              <a:t/>
            </a:r>
            <a:br>
              <a:rPr lang="en-US" i="1" dirty="0">
                <a:solidFill>
                  <a:srgbClr val="002060"/>
                </a:solidFill>
              </a:rPr>
            </a:br>
            <a:r>
              <a:rPr lang="en-US" i="1" dirty="0">
                <a:solidFill>
                  <a:srgbClr val="002060"/>
                </a:solidFill>
              </a:rPr>
              <a:t>Introduction to Algorithms (CLRS), MIT Press, 2009.</a:t>
            </a:r>
            <a:br>
              <a:rPr lang="en-US" i="1" dirty="0">
                <a:solidFill>
                  <a:srgbClr val="002060"/>
                </a:solidFill>
              </a:rPr>
            </a:br>
            <a:r>
              <a:rPr lang="en-US" i="1" dirty="0">
                <a:solidFill>
                  <a:srgbClr val="002060"/>
                </a:solidFill>
              </a:rPr>
              <a:t>– </a:t>
            </a:r>
            <a:r>
              <a:rPr lang="en-US" i="1" dirty="0" err="1">
                <a:solidFill>
                  <a:srgbClr val="002060"/>
                </a:solidFill>
              </a:rPr>
              <a:t>Dinamik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xotira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ajratish</a:t>
            </a:r>
            <a:r>
              <a:rPr lang="en-US" i="1" dirty="0">
                <a:solidFill>
                  <a:srgbClr val="002060"/>
                </a:solidFill>
              </a:rPr>
              <a:t> (</a:t>
            </a:r>
            <a:r>
              <a:rPr lang="en-US" i="1" dirty="0" err="1">
                <a:solidFill>
                  <a:srgbClr val="002060"/>
                </a:solidFill>
              </a:rPr>
              <a:t>malloc</a:t>
            </a:r>
            <a:r>
              <a:rPr lang="en-US" i="1" dirty="0">
                <a:solidFill>
                  <a:srgbClr val="002060"/>
                </a:solidFill>
              </a:rPr>
              <a:t>, new) </a:t>
            </a:r>
            <a:r>
              <a:rPr lang="en-US" i="1" dirty="0" err="1">
                <a:solidFill>
                  <a:srgbClr val="002060"/>
                </a:solidFill>
              </a:rPr>
              <a:t>algoritmlari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i="1" dirty="0" err="1">
                <a:solidFill>
                  <a:srgbClr val="002060"/>
                </a:solidFill>
              </a:rPr>
              <a:t>haqida</a:t>
            </a:r>
            <a:r>
              <a:rPr lang="en-US" i="1" dirty="0">
                <a:solidFill>
                  <a:srgbClr val="002060"/>
                </a:solidFill>
              </a:rPr>
              <a:t>.</a:t>
            </a:r>
            <a:endParaRPr lang="ru-RU" i="1" dirty="0">
              <a:solidFill>
                <a:srgbClr val="002060"/>
              </a:solidFill>
            </a:endParaRPr>
          </a:p>
          <a:p>
            <a:pPr marL="388620" indent="-342900">
              <a:spcBef>
                <a:spcPts val="0"/>
              </a:spcBef>
              <a:buFont typeface="+mj-lt"/>
              <a:buAutoNum type="arabicPeriod"/>
            </a:pPr>
            <a:endParaRPr lang="ru-RU" sz="1800" i="1" dirty="0">
              <a:solidFill>
                <a:srgbClr val="002060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Slipstream</Template>
  <TotalTime>2982</TotalTime>
  <Words>526</Words>
  <Application>Microsoft Office PowerPoint</Application>
  <PresentationFormat>Экран (4:3)</PresentationFormat>
  <Paragraphs>145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17</vt:i4>
      </vt:variant>
    </vt:vector>
  </HeadingPairs>
  <TitlesOfParts>
    <vt:vector size="27" baseType="lpstr">
      <vt:lpstr>Arial</vt:lpstr>
      <vt:lpstr>Calibri</vt:lpstr>
      <vt:lpstr>Cambria</vt:lpstr>
      <vt:lpstr>Montserrat Medium</vt:lpstr>
      <vt:lpstr>Nunito</vt:lpstr>
      <vt:lpstr>Open Sans</vt:lpstr>
      <vt:lpstr>Symbol</vt:lpstr>
      <vt:lpstr>Times New Roman</vt:lpstr>
      <vt:lpstr>Office Theme</vt:lpstr>
      <vt:lpstr>1_Office Theme</vt:lpstr>
      <vt:lpstr>Презентация PowerPoint</vt:lpstr>
      <vt:lpstr>Reja </vt:lpstr>
      <vt:lpstr>Linux Shell va Shell skriptlariga kirish </vt:lpstr>
      <vt:lpstr>Kernel </vt:lpstr>
      <vt:lpstr>Shell — foydalanuvchi va operatsion tizim yadrosi (Linux kernel) o‘rtasidagi buyruq tarjimoni. Terminal orqali buyruq qabul qiladi, bajaradi va natijani qaytaradi. </vt:lpstr>
      <vt:lpstr>Shell sessiyalari turlari Login shell: tizimga kirishda ishga tushadi (SSH, TTY). Non-login shell: ochilgan terminal ichida yangi shell (masalan, GNOME Terminal). Interactive: foydalanuvchi bilan o‘zaro muloqot (prompt, readline). Non-interactive: skript ishga tushganda (stdin orqali buyruqlar oqimi). </vt:lpstr>
      <vt:lpstr>Презентация PowerPoint</vt:lpstr>
      <vt:lpstr>Linux tizimlari uchun qobiqlar</vt:lpstr>
      <vt:lpstr>Teminal </vt:lpstr>
      <vt:lpstr>Презентация PowerPoint</vt:lpstr>
      <vt:lpstr> Local o’zgaruvchi</vt:lpstr>
      <vt:lpstr>Global o’zgaruvchi</vt:lpstr>
      <vt:lpstr>Muhim shell buyruqlari va flaglari</vt:lpstr>
      <vt:lpstr>Презентация PowerPoint</vt:lpstr>
      <vt:lpstr>Shell skriptlari asoslari </vt:lpstr>
      <vt:lpstr>Xulosa</vt:lpstr>
      <vt:lpstr>Foydalanilgan adabiyotlar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Operatsion tizimlar tushunchasi va</dc:title>
  <dc:creator>Temurbek</dc:creator>
  <cp:lastModifiedBy>exper</cp:lastModifiedBy>
  <cp:revision>301</cp:revision>
  <dcterms:created xsi:type="dcterms:W3CDTF">2015-02-05T07:15:58Z</dcterms:created>
  <dcterms:modified xsi:type="dcterms:W3CDTF">2025-10-05T17:42:29Z</dcterms:modified>
</cp:coreProperties>
</file>