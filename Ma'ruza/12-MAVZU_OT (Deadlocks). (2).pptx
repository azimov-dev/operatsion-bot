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264" r:id="rId2"/>
    <p:sldId id="263" r:id="rId3"/>
    <p:sldId id="298" r:id="rId4"/>
    <p:sldId id="299" r:id="rId5"/>
    <p:sldId id="308" r:id="rId6"/>
    <p:sldId id="300" r:id="rId7"/>
    <p:sldId id="313" r:id="rId8"/>
    <p:sldId id="309" r:id="rId9"/>
    <p:sldId id="286" r:id="rId10"/>
    <p:sldId id="287" r:id="rId11"/>
    <p:sldId id="288" r:id="rId12"/>
    <p:sldId id="290" r:id="rId13"/>
    <p:sldId id="291" r:id="rId14"/>
    <p:sldId id="314" r:id="rId15"/>
    <p:sldId id="307" r:id="rId16"/>
    <p:sldId id="312" r:id="rId17"/>
    <p:sldId id="304" r:id="rId18"/>
    <p:sldId id="305" r:id="rId19"/>
    <p:sldId id="316" r:id="rId20"/>
    <p:sldId id="317" r:id="rId21"/>
    <p:sldId id="319" r:id="rId22"/>
    <p:sldId id="320" r:id="rId23"/>
    <p:sldId id="321" r:id="rId24"/>
    <p:sldId id="322" r:id="rId25"/>
    <p:sldId id="26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2C7C62C-6075-426B-B9CE-B65FA7FF71B9}">
          <p14:sldIdLst>
            <p14:sldId id="264"/>
            <p14:sldId id="263"/>
            <p14:sldId id="298"/>
            <p14:sldId id="299"/>
            <p14:sldId id="308"/>
            <p14:sldId id="300"/>
            <p14:sldId id="313"/>
            <p14:sldId id="309"/>
            <p14:sldId id="286"/>
            <p14:sldId id="287"/>
            <p14:sldId id="288"/>
            <p14:sldId id="290"/>
            <p14:sldId id="291"/>
            <p14:sldId id="314"/>
            <p14:sldId id="307"/>
            <p14:sldId id="312"/>
            <p14:sldId id="304"/>
            <p14:sldId id="305"/>
            <p14:sldId id="316"/>
            <p14:sldId id="317"/>
            <p14:sldId id="319"/>
            <p14:sldId id="320"/>
            <p14:sldId id="321"/>
            <p14:sldId id="322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2" clrIdx="0">
    <p:extLst>
      <p:ext uri="{19B8F6BF-5375-455C-9EA6-DF929625EA0E}">
        <p15:presenceInfo xmlns:p15="http://schemas.microsoft.com/office/powerpoint/2012/main" userId="f2f9b344bf3702e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3AA1"/>
    <a:srgbClr val="FFCE33"/>
    <a:srgbClr val="3A5896"/>
    <a:srgbClr val="ECF10B"/>
    <a:srgbClr val="F1F1F1"/>
    <a:srgbClr val="C6D4DF"/>
    <a:srgbClr val="F3F0ED"/>
    <a:srgbClr val="E1DAD2"/>
    <a:srgbClr val="FEFEFE"/>
    <a:srgbClr val="C1C9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39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295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DD1C9-4BB6-422A-8F34-C157EA500BD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997E4-EE34-411C-9FF1-22B934EF5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4113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7120AF-D066-4185-AB2D-8C6EF4775D8B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15E77-75F2-4727-8AD9-31CF774A4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3515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4B4B3F-22A1-4C21-B9F9-9DA9C569E155}" type="slidenum">
              <a:rPr kumimoji="0" lang="ru-RU" alt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alt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003131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B37DDE-3E07-4B6C-BD21-F033625B336A}" type="slidenum">
              <a:rPr kumimoji="0" lang="ru-RU" alt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alt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29046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661E46-6A07-48F8-9258-978EF32A3B15}" type="slidenum">
              <a:rPr kumimoji="0" lang="ru-RU" alt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ru-RU" alt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33077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45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94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67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50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137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67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46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897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39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25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81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36" r="62442"/>
          <a:stretch/>
        </p:blipFill>
        <p:spPr>
          <a:xfrm>
            <a:off x="0" y="5144"/>
            <a:ext cx="9144000" cy="6852856"/>
          </a:xfrm>
          <a:prstGeom prst="rect">
            <a:avLst/>
          </a:prstGeom>
        </p:spPr>
      </p:pic>
      <p:sp>
        <p:nvSpPr>
          <p:cNvPr id="56" name="Rectangle 55"/>
          <p:cNvSpPr/>
          <p:nvPr userDrawn="1"/>
        </p:nvSpPr>
        <p:spPr>
          <a:xfrm>
            <a:off x="180753" y="163209"/>
            <a:ext cx="8803760" cy="655826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8000"/>
                </a:schemeClr>
              </a:gs>
              <a:gs pos="100000">
                <a:schemeClr val="bg1">
                  <a:alpha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459" y="1287254"/>
            <a:ext cx="7869890" cy="4889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D9794-A4CC-42D0-9A65-24C6B9EF407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163208"/>
            <a:ext cx="7886698" cy="9987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332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6BD51-17E7-9432-6598-CEC94D09B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E87C95D-A949-8018-EAD4-7E662E967B8B}"/>
              </a:ext>
            </a:extLst>
          </p:cNvPr>
          <p:cNvSpPr/>
          <p:nvPr/>
        </p:nvSpPr>
        <p:spPr>
          <a:xfrm>
            <a:off x="0" y="3487479"/>
            <a:ext cx="9144000" cy="1953201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33918A5-27FD-349C-6983-A65476E561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335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0BDA083-1089-17DE-92D5-E22E26580D4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9"/>
          <a:stretch/>
        </p:blipFill>
        <p:spPr>
          <a:xfrm rot="10800000">
            <a:off x="3039360" y="4259020"/>
            <a:ext cx="6104640" cy="238125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6F9FD5B-390B-137A-1885-467EFF8A83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55" y="1467935"/>
            <a:ext cx="1086710" cy="1086710"/>
          </a:xfrm>
          <a:prstGeom prst="rect">
            <a:avLst/>
          </a:prstGeom>
        </p:spPr>
      </p:pic>
      <p:sp>
        <p:nvSpPr>
          <p:cNvPr id="7" name="POWERPOINT TEMPLATE">
            <a:extLst>
              <a:ext uri="{FF2B5EF4-FFF2-40B4-BE49-F238E27FC236}">
                <a16:creationId xmlns:a16="http://schemas.microsoft.com/office/drawing/2014/main" id="{7870EBB8-599A-243C-22AB-6F2350B68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906" y="2467602"/>
            <a:ext cx="1897432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38100" tIns="38100" rIns="38100" bIns="3810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Arial" panose="020B0604020202020204" pitchFamily="34" charset="0"/>
              </a:rPr>
              <a:t>OSYS16MBK</a:t>
            </a:r>
            <a:endParaRPr lang="ru-RU" altLang="ru-RU" sz="16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B7CEA3-5F12-F926-5225-E322607396DD}"/>
              </a:ext>
            </a:extLst>
          </p:cNvPr>
          <p:cNvSpPr txBox="1"/>
          <p:nvPr/>
        </p:nvSpPr>
        <p:spPr>
          <a:xfrm>
            <a:off x="1413889" y="1677655"/>
            <a:ext cx="2777340" cy="726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OPERASION TIZIMLAR</a:t>
            </a:r>
          </a:p>
        </p:txBody>
      </p:sp>
      <p:sp>
        <p:nvSpPr>
          <p:cNvPr id="18" name="TextBox 79">
            <a:extLst>
              <a:ext uri="{FF2B5EF4-FFF2-40B4-BE49-F238E27FC236}">
                <a16:creationId xmlns:a16="http://schemas.microsoft.com/office/drawing/2014/main" id="{CE219CBA-0AE5-C36B-3FF0-32A77837B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8166" y="5377166"/>
            <a:ext cx="378067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ru-RU" sz="1800" b="1" spc="36" dirty="0">
                <a:solidFill>
                  <a:srgbClr val="452721"/>
                </a:solidFill>
                <a:latin typeface="Montserrat Medium"/>
              </a:rPr>
              <a:t> </a:t>
            </a:r>
            <a:r>
              <a:rPr lang="en-US" altLang="ru-RU" sz="1800" b="1" spc="36" dirty="0" err="1">
                <a:solidFill>
                  <a:srgbClr val="452721"/>
                </a:solidFill>
                <a:latin typeface="Montserrat Medium"/>
              </a:rPr>
              <a:t>Axborot</a:t>
            </a:r>
            <a:r>
              <a:rPr lang="en-US" altLang="ru-RU" sz="1800" b="1" spc="36" dirty="0">
                <a:solidFill>
                  <a:srgbClr val="452721"/>
                </a:solidFill>
                <a:latin typeface="Montserrat Medium"/>
              </a:rPr>
              <a:t> </a:t>
            </a:r>
            <a:r>
              <a:rPr lang="en-US" altLang="ru-RU" sz="1800" b="1" spc="36" dirty="0" err="1">
                <a:solidFill>
                  <a:srgbClr val="452721"/>
                </a:solidFill>
                <a:latin typeface="Montserrat Medium"/>
              </a:rPr>
              <a:t>texnologiyalarining</a:t>
            </a:r>
            <a:r>
              <a:rPr lang="en-US" altLang="ru-RU" sz="1800" b="1" spc="36" dirty="0">
                <a:solidFill>
                  <a:srgbClr val="452721"/>
                </a:solidFill>
                <a:latin typeface="Montserrat Medium"/>
              </a:rPr>
              <a:t> </a:t>
            </a:r>
            <a:r>
              <a:rPr lang="en-US" altLang="ru-RU" sz="1800" b="1" spc="36" dirty="0" err="1">
                <a:solidFill>
                  <a:srgbClr val="452721"/>
                </a:solidFill>
                <a:latin typeface="Montserrat Medium"/>
              </a:rPr>
              <a:t>dasturiy</a:t>
            </a:r>
            <a:r>
              <a:rPr lang="en-US" altLang="ru-RU" sz="1800" b="1" spc="36" dirty="0">
                <a:solidFill>
                  <a:srgbClr val="452721"/>
                </a:solidFill>
                <a:latin typeface="Montserrat Medium"/>
              </a:rPr>
              <a:t> </a:t>
            </a:r>
            <a:r>
              <a:rPr lang="en-US" altLang="ru-RU" sz="1800" b="1" spc="36" dirty="0" err="1">
                <a:solidFill>
                  <a:srgbClr val="452721"/>
                </a:solidFill>
                <a:latin typeface="Montserrat Medium"/>
              </a:rPr>
              <a:t>ta’minoti</a:t>
            </a:r>
            <a:r>
              <a:rPr lang="en-US" altLang="ru-RU" sz="1800" b="1" spc="36" dirty="0">
                <a:solidFill>
                  <a:srgbClr val="452721"/>
                </a:solidFill>
                <a:latin typeface="Montserrat Medium"/>
              </a:rPr>
              <a:t> </a:t>
            </a:r>
            <a:r>
              <a:rPr lang="en-US" altLang="ru-RU" sz="1800" b="1" spc="36" dirty="0" err="1">
                <a:solidFill>
                  <a:srgbClr val="452721"/>
                </a:solidFill>
                <a:latin typeface="Montserrat Medium"/>
              </a:rPr>
              <a:t>kafedrasi</a:t>
            </a:r>
            <a:br>
              <a:rPr lang="en-US" altLang="ru-RU" sz="1800" b="1" spc="36" dirty="0">
                <a:solidFill>
                  <a:srgbClr val="452721"/>
                </a:solidFill>
                <a:latin typeface="Montserrat Medium"/>
              </a:rPr>
            </a:br>
            <a:endParaRPr lang="en-US" altLang="ru-RU" sz="1800" b="1" spc="36" dirty="0">
              <a:solidFill>
                <a:srgbClr val="452721"/>
              </a:solidFill>
              <a:latin typeface="Montserrat Medium"/>
            </a:endParaRPr>
          </a:p>
        </p:txBody>
      </p:sp>
      <p:pic>
        <p:nvPicPr>
          <p:cNvPr id="20" name="Рисунок 13" descr="Преподаватель">
            <a:extLst>
              <a:ext uri="{FF2B5EF4-FFF2-40B4-BE49-F238E27FC236}">
                <a16:creationId xmlns:a16="http://schemas.microsoft.com/office/drawing/2014/main" id="{8A0F662C-40CF-2A8F-51F1-8D4313D17CA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650" y="4715131"/>
            <a:ext cx="660029" cy="66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Рисунок 15" descr="Суд">
            <a:extLst>
              <a:ext uri="{FF2B5EF4-FFF2-40B4-BE49-F238E27FC236}">
                <a16:creationId xmlns:a16="http://schemas.microsoft.com/office/drawing/2014/main" id="{4E175628-FB7D-59C0-6606-952FA6AAD46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523" y="5604273"/>
            <a:ext cx="533479" cy="53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9D3BF0D-4A5E-EED0-0945-DFB845A9D3EE}"/>
              </a:ext>
            </a:extLst>
          </p:cNvPr>
          <p:cNvCxnSpPr>
            <a:cxnSpLocks/>
          </p:cNvCxnSpPr>
          <p:nvPr/>
        </p:nvCxnSpPr>
        <p:spPr>
          <a:xfrm>
            <a:off x="4808167" y="4599824"/>
            <a:ext cx="0" cy="180497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60">
            <a:extLst>
              <a:ext uri="{FF2B5EF4-FFF2-40B4-BE49-F238E27FC236}">
                <a16:creationId xmlns:a16="http://schemas.microsoft.com/office/drawing/2014/main" id="{FF2D45A0-CC38-F829-682A-4C98BA0F561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8" y="152930"/>
            <a:ext cx="1086710" cy="108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B87285E1-AEB3-23F8-1174-DB88C42A560B}"/>
              </a:ext>
            </a:extLst>
          </p:cNvPr>
          <p:cNvSpPr txBox="1"/>
          <p:nvPr/>
        </p:nvSpPr>
        <p:spPr>
          <a:xfrm>
            <a:off x="1208703" y="388508"/>
            <a:ext cx="789796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b="1" spc="179" dirty="0">
                <a:solidFill>
                  <a:srgbClr val="FFCE33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 panose="020B0604020202020204" pitchFamily="34" charset="0"/>
              </a:rPr>
              <a:t>MUHAMMAD AL-XORAZMIY NOMIDAGI TOSHKENT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b="1" spc="179" dirty="0">
                <a:solidFill>
                  <a:srgbClr val="FFCE33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 panose="020B0604020202020204" pitchFamily="34" charset="0"/>
              </a:rPr>
              <a:t> AXBOROT TEXNOLOGIYALARI UNIVERSITETI</a:t>
            </a:r>
            <a:endParaRPr lang="en-US" sz="2000" b="1" spc="179" dirty="0">
              <a:solidFill>
                <a:srgbClr val="FFCE33"/>
              </a:solidFill>
              <a:latin typeface="Cambria" panose="02040503050406030204" pitchFamily="18" charset="0"/>
              <a:ea typeface="Cambria" panose="02040503050406030204" pitchFamily="18" charset="0"/>
              <a:sym typeface="Open San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A2F7FF0B-9AC3-B317-9576-8ED42CA87CB6}"/>
              </a:ext>
            </a:extLst>
          </p:cNvPr>
          <p:cNvCxnSpPr>
            <a:cxnSpLocks/>
          </p:cNvCxnSpPr>
          <p:nvPr/>
        </p:nvCxnSpPr>
        <p:spPr>
          <a:xfrm>
            <a:off x="1320708" y="1004061"/>
            <a:ext cx="7823292" cy="997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120827B-DD1A-3DA0-2759-8387DCA07B1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3851" r="13851"/>
          <a:stretch>
            <a:fillRect/>
          </a:stretch>
        </p:blipFill>
        <p:spPr>
          <a:xfrm>
            <a:off x="5007255" y="588711"/>
            <a:ext cx="4099410" cy="4142124"/>
          </a:xfrm>
          <a:prstGeom prst="ellipse">
            <a:avLst/>
          </a:prstGeom>
          <a:effectLst>
            <a:softEdge rad="406400"/>
          </a:effec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78D7FA1-AD08-02BA-CDAF-08E2921C0C0F}"/>
              </a:ext>
            </a:extLst>
          </p:cNvPr>
          <p:cNvSpPr>
            <a:spLocks noChangeAspect="1"/>
          </p:cNvSpPr>
          <p:nvPr/>
        </p:nvSpPr>
        <p:spPr>
          <a:xfrm>
            <a:off x="2085613" y="2404649"/>
            <a:ext cx="6973707" cy="1745305"/>
          </a:xfrm>
          <a:prstGeom prst="rect">
            <a:avLst/>
          </a:prstGeom>
          <a:solidFill>
            <a:srgbClr val="01DEE9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8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9" name="POWERPOINT TEMPLATE">
            <a:extLst>
              <a:ext uri="{FF2B5EF4-FFF2-40B4-BE49-F238E27FC236}">
                <a16:creationId xmlns:a16="http://schemas.microsoft.com/office/drawing/2014/main" id="{7CD0029B-D3DB-28E9-041C-AAB66D072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1021" y="2705281"/>
            <a:ext cx="5834311" cy="11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38100" tIns="38100" rIns="38100" bIns="3810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Tupiklar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(Deadlock).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Muammoli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xususiyatlar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Tupiklarga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oid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misollar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Tupiklar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zaruriy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shartlar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Tupiklar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oldini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olish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: 1-inkor,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Tupiklar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oldini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olish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: 2-inkor,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Harmonyda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bir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vaqtning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o‘zida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bajarish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Tupiklar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oldini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olish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: 3-inkor,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Tupik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nuqtani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aniqlash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Tupik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nuqtani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tiklash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Xavfsiz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holat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misoli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Bankir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algoritmi</a:t>
            </a:r>
            <a:endParaRPr lang="en-US" sz="2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1" name="POWERPOINT TEMPLATE">
            <a:extLst>
              <a:ext uri="{FF2B5EF4-FFF2-40B4-BE49-F238E27FC236}">
                <a16:creationId xmlns:a16="http://schemas.microsoft.com/office/drawing/2014/main" id="{092A10CE-F77B-D793-A0BC-5D07F0349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7752" y="2723303"/>
            <a:ext cx="982854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38100" tIns="38100" rIns="38100" bIns="3810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ru-RU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Arial" panose="020B0604020202020204" pitchFamily="34" charset="0"/>
              </a:rPr>
              <a:t>MAVZU</a:t>
            </a:r>
            <a:endParaRPr lang="ru-RU" altLang="ru-RU" sz="1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2287D3F1-887C-5A61-A782-EFFB84A48856}"/>
              </a:ext>
            </a:extLst>
          </p:cNvPr>
          <p:cNvCxnSpPr>
            <a:cxnSpLocks/>
          </p:cNvCxnSpPr>
          <p:nvPr/>
        </p:nvCxnSpPr>
        <p:spPr>
          <a:xfrm>
            <a:off x="3150606" y="2467602"/>
            <a:ext cx="0" cy="168338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333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REJA</a:t>
            </a:r>
          </a:p>
        </p:txBody>
      </p:sp>
      <p:grpSp>
        <p:nvGrpSpPr>
          <p:cNvPr id="42" name="Group 7"/>
          <p:cNvGrpSpPr>
            <a:grpSpLocks/>
          </p:cNvGrpSpPr>
          <p:nvPr/>
        </p:nvGrpSpPr>
        <p:grpSpPr bwMode="auto">
          <a:xfrm>
            <a:off x="1116629" y="1086408"/>
            <a:ext cx="5162552" cy="744538"/>
            <a:chOff x="1212" y="1911"/>
            <a:chExt cx="3252" cy="469"/>
          </a:xfrm>
        </p:grpSpPr>
        <p:sp>
          <p:nvSpPr>
            <p:cNvPr id="43" name="Line 8"/>
            <p:cNvSpPr>
              <a:spLocks noChangeShapeType="1"/>
            </p:cNvSpPr>
            <p:nvPr/>
          </p:nvSpPr>
          <p:spPr bwMode="gray">
            <a:xfrm>
              <a:off x="1440" y="2380"/>
              <a:ext cx="3024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4" name="Rectangle 9"/>
            <p:cNvSpPr>
              <a:spLocks noChangeArrowheads="1"/>
            </p:cNvSpPr>
            <p:nvPr/>
          </p:nvSpPr>
          <p:spPr bwMode="gray">
            <a:xfrm rot="3419336">
              <a:off x="1225" y="2018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99CC00"/>
                </a:gs>
                <a:gs pos="100000">
                  <a:srgbClr val="99CC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CC0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5" name="Text Box 10"/>
            <p:cNvSpPr txBox="1">
              <a:spLocks noChangeArrowheads="1"/>
            </p:cNvSpPr>
            <p:nvPr/>
          </p:nvSpPr>
          <p:spPr bwMode="gray">
            <a:xfrm>
              <a:off x="1736" y="1911"/>
              <a:ext cx="218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Deadlocks(</a:t>
              </a:r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Qulflanishlar</a:t>
              </a:r>
              <a:r>
                <a:rPr lang="en-US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)</a:t>
              </a:r>
            </a:p>
          </p:txBody>
        </p:sp>
        <p:sp>
          <p:nvSpPr>
            <p:cNvPr id="46" name="Text Box 11"/>
            <p:cNvSpPr txBox="1">
              <a:spLocks noChangeArrowheads="1"/>
            </p:cNvSpPr>
            <p:nvPr/>
          </p:nvSpPr>
          <p:spPr bwMode="gray">
            <a:xfrm>
              <a:off x="1269" y="2036"/>
              <a:ext cx="2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1</a:t>
              </a:r>
            </a:p>
          </p:txBody>
        </p:sp>
      </p:grpSp>
      <p:grpSp>
        <p:nvGrpSpPr>
          <p:cNvPr id="47" name="Group 12"/>
          <p:cNvGrpSpPr>
            <a:grpSpLocks/>
          </p:cNvGrpSpPr>
          <p:nvPr/>
        </p:nvGrpSpPr>
        <p:grpSpPr bwMode="auto">
          <a:xfrm>
            <a:off x="1072846" y="5086103"/>
            <a:ext cx="5514979" cy="558800"/>
            <a:chOff x="1248" y="2638"/>
            <a:chExt cx="3474" cy="352"/>
          </a:xfrm>
        </p:grpSpPr>
        <p:sp>
          <p:nvSpPr>
            <p:cNvPr id="48" name="Line 13"/>
            <p:cNvSpPr>
              <a:spLocks noChangeShapeType="1"/>
            </p:cNvSpPr>
            <p:nvPr/>
          </p:nvSpPr>
          <p:spPr bwMode="gray">
            <a:xfrm>
              <a:off x="1440" y="2990"/>
              <a:ext cx="3024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9" name="Rectangle 14"/>
            <p:cNvSpPr>
              <a:spLocks noChangeArrowheads="1"/>
            </p:cNvSpPr>
            <p:nvPr/>
          </p:nvSpPr>
          <p:spPr bwMode="gray">
            <a:xfrm rot="3419336">
              <a:off x="1261" y="2627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006699"/>
                </a:gs>
                <a:gs pos="100000">
                  <a:srgbClr val="0066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6699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0" name="Text Box 15"/>
            <p:cNvSpPr txBox="1">
              <a:spLocks noChangeArrowheads="1"/>
            </p:cNvSpPr>
            <p:nvPr/>
          </p:nvSpPr>
          <p:spPr bwMode="gray">
            <a:xfrm>
              <a:off x="1736" y="2638"/>
              <a:ext cx="298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Qulflanishlarni</a:t>
              </a:r>
              <a:r>
                <a:rPr lang="en-US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 </a:t>
              </a:r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oldini</a:t>
              </a:r>
              <a:r>
                <a:rPr lang="en-US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 </a:t>
              </a:r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olish</a:t>
              </a:r>
              <a:r>
                <a:rPr lang="en-US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 </a:t>
              </a:r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usullari</a:t>
              </a:r>
              <a:endParaRPr lang="en-US" sz="24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1" name="Text Box 16"/>
            <p:cNvSpPr txBox="1">
              <a:spLocks noChangeArrowheads="1"/>
            </p:cNvSpPr>
            <p:nvPr/>
          </p:nvSpPr>
          <p:spPr bwMode="gray">
            <a:xfrm>
              <a:off x="1296" y="2654"/>
              <a:ext cx="2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5</a:t>
              </a:r>
            </a:p>
          </p:txBody>
        </p:sp>
      </p:grpSp>
      <p:grpSp>
        <p:nvGrpSpPr>
          <p:cNvPr id="52" name="Group 17"/>
          <p:cNvGrpSpPr>
            <a:grpSpLocks/>
          </p:cNvGrpSpPr>
          <p:nvPr/>
        </p:nvGrpSpPr>
        <p:grpSpPr bwMode="auto">
          <a:xfrm>
            <a:off x="1085213" y="3170963"/>
            <a:ext cx="5105400" cy="555625"/>
            <a:chOff x="1248" y="3230"/>
            <a:chExt cx="3216" cy="350"/>
          </a:xfrm>
        </p:grpSpPr>
        <p:sp>
          <p:nvSpPr>
            <p:cNvPr id="53" name="Line 18"/>
            <p:cNvSpPr>
              <a:spLocks noChangeShapeType="1"/>
            </p:cNvSpPr>
            <p:nvPr/>
          </p:nvSpPr>
          <p:spPr bwMode="gray">
            <a:xfrm>
              <a:off x="1441" y="3579"/>
              <a:ext cx="3023" cy="1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4" name="Rectangle 19"/>
            <p:cNvSpPr>
              <a:spLocks noChangeArrowheads="1"/>
            </p:cNvSpPr>
            <p:nvPr/>
          </p:nvSpPr>
          <p:spPr bwMode="gray">
            <a:xfrm rot="3419336">
              <a:off x="1261" y="3217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FF9933"/>
                </a:gs>
                <a:gs pos="100000">
                  <a:srgbClr val="FF993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9933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5" name="Text Box 20"/>
            <p:cNvSpPr txBox="1">
              <a:spLocks noChangeArrowheads="1"/>
            </p:cNvSpPr>
            <p:nvPr/>
          </p:nvSpPr>
          <p:spPr bwMode="gray">
            <a:xfrm>
              <a:off x="1736" y="3246"/>
              <a:ext cx="258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Resurslarni</a:t>
              </a:r>
              <a:r>
                <a:rPr lang="en-US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 </a:t>
              </a:r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taqsimlash</a:t>
              </a:r>
              <a:r>
                <a:rPr lang="en-US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 </a:t>
              </a:r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grafigi</a:t>
              </a:r>
              <a:endParaRPr lang="en-US" sz="24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6" name="Text Box 21"/>
            <p:cNvSpPr txBox="1">
              <a:spLocks noChangeArrowheads="1"/>
            </p:cNvSpPr>
            <p:nvPr/>
          </p:nvSpPr>
          <p:spPr bwMode="gray">
            <a:xfrm>
              <a:off x="1296" y="3244"/>
              <a:ext cx="2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3</a:t>
              </a:r>
            </a:p>
          </p:txBody>
        </p:sp>
      </p:grpSp>
      <p:sp>
        <p:nvSpPr>
          <p:cNvPr id="58" name="Line 23"/>
          <p:cNvSpPr>
            <a:spLocks noChangeShapeType="1"/>
          </p:cNvSpPr>
          <p:nvPr/>
        </p:nvSpPr>
        <p:spPr bwMode="gray">
          <a:xfrm>
            <a:off x="2374602" y="14211"/>
            <a:ext cx="4800600" cy="0"/>
          </a:xfrm>
          <a:prstGeom prst="line">
            <a:avLst/>
          </a:prstGeom>
          <a:noFill/>
          <a:ln w="25400">
            <a:solidFill>
              <a:srgbClr val="969696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29" name="Group 2"/>
          <p:cNvGrpSpPr>
            <a:grpSpLocks/>
          </p:cNvGrpSpPr>
          <p:nvPr/>
        </p:nvGrpSpPr>
        <p:grpSpPr bwMode="auto">
          <a:xfrm>
            <a:off x="1085212" y="4089153"/>
            <a:ext cx="5583241" cy="852488"/>
            <a:chOff x="1248" y="1440"/>
            <a:chExt cx="3517" cy="537"/>
          </a:xfrm>
        </p:grpSpPr>
        <p:sp>
          <p:nvSpPr>
            <p:cNvPr id="30" name="Line 3"/>
            <p:cNvSpPr>
              <a:spLocks noChangeShapeType="1"/>
            </p:cNvSpPr>
            <p:nvPr/>
          </p:nvSpPr>
          <p:spPr bwMode="gray">
            <a:xfrm>
              <a:off x="1440" y="1790"/>
              <a:ext cx="3024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1" name="Rectangle 4"/>
            <p:cNvSpPr>
              <a:spLocks noChangeArrowheads="1"/>
            </p:cNvSpPr>
            <p:nvPr/>
          </p:nvSpPr>
          <p:spPr bwMode="gray">
            <a:xfrm rot="3419336">
              <a:off x="1261" y="1427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FF7C80"/>
                </a:gs>
                <a:gs pos="100000">
                  <a:srgbClr val="FF7C8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2" name="Text Box 5"/>
            <p:cNvSpPr txBox="1">
              <a:spLocks noChangeArrowheads="1"/>
            </p:cNvSpPr>
            <p:nvPr/>
          </p:nvSpPr>
          <p:spPr bwMode="gray">
            <a:xfrm>
              <a:off x="1775" y="1454"/>
              <a:ext cx="2990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Qulflanishlarni</a:t>
              </a:r>
              <a:r>
                <a:rPr lang="en-US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 </a:t>
              </a:r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boshqarish</a:t>
              </a:r>
              <a:r>
                <a:rPr lang="en-US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 </a:t>
              </a:r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usullari</a:t>
              </a:r>
              <a:endParaRPr lang="en-US" sz="24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endParaRPr lang="en-US" sz="24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3" name="Text Box 6"/>
            <p:cNvSpPr txBox="1">
              <a:spLocks noChangeArrowheads="1"/>
            </p:cNvSpPr>
            <p:nvPr/>
          </p:nvSpPr>
          <p:spPr bwMode="gray">
            <a:xfrm>
              <a:off x="1296" y="1454"/>
              <a:ext cx="2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4</a:t>
              </a:r>
            </a:p>
          </p:txBody>
        </p:sp>
      </p:grpSp>
      <p:grpSp>
        <p:nvGrpSpPr>
          <p:cNvPr id="34" name="Group 12"/>
          <p:cNvGrpSpPr>
            <a:grpSpLocks/>
          </p:cNvGrpSpPr>
          <p:nvPr/>
        </p:nvGrpSpPr>
        <p:grpSpPr bwMode="auto">
          <a:xfrm>
            <a:off x="1085212" y="2191253"/>
            <a:ext cx="5105401" cy="558800"/>
            <a:chOff x="1248" y="2638"/>
            <a:chExt cx="3216" cy="352"/>
          </a:xfrm>
        </p:grpSpPr>
        <p:sp>
          <p:nvSpPr>
            <p:cNvPr id="35" name="Line 13"/>
            <p:cNvSpPr>
              <a:spLocks noChangeShapeType="1"/>
            </p:cNvSpPr>
            <p:nvPr/>
          </p:nvSpPr>
          <p:spPr bwMode="gray">
            <a:xfrm>
              <a:off x="1440" y="2990"/>
              <a:ext cx="3024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6" name="Rectangle 14"/>
            <p:cNvSpPr>
              <a:spLocks noChangeArrowheads="1"/>
            </p:cNvSpPr>
            <p:nvPr/>
          </p:nvSpPr>
          <p:spPr bwMode="gray">
            <a:xfrm rot="3419336">
              <a:off x="1261" y="2627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006699"/>
                </a:gs>
                <a:gs pos="100000">
                  <a:srgbClr val="0066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6699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7" name="Text Box 15"/>
            <p:cNvSpPr txBox="1">
              <a:spLocks noChangeArrowheads="1"/>
            </p:cNvSpPr>
            <p:nvPr/>
          </p:nvSpPr>
          <p:spPr bwMode="gray">
            <a:xfrm>
              <a:off x="1736" y="2638"/>
              <a:ext cx="249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Qulflanishlar</a:t>
              </a:r>
              <a:r>
                <a:rPr lang="en-US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(System model)</a:t>
              </a:r>
            </a:p>
          </p:txBody>
        </p:sp>
        <p:sp>
          <p:nvSpPr>
            <p:cNvPr id="59" name="Text Box 16"/>
            <p:cNvSpPr txBox="1">
              <a:spLocks noChangeArrowheads="1"/>
            </p:cNvSpPr>
            <p:nvPr/>
          </p:nvSpPr>
          <p:spPr bwMode="gray">
            <a:xfrm>
              <a:off x="1296" y="2654"/>
              <a:ext cx="2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2</a:t>
              </a:r>
            </a:p>
          </p:txBody>
        </p:sp>
      </p:grpSp>
      <p:grpSp>
        <p:nvGrpSpPr>
          <p:cNvPr id="60" name="Group 7"/>
          <p:cNvGrpSpPr>
            <a:grpSpLocks/>
          </p:cNvGrpSpPr>
          <p:nvPr/>
        </p:nvGrpSpPr>
        <p:grpSpPr bwMode="auto">
          <a:xfrm>
            <a:off x="1149046" y="5954420"/>
            <a:ext cx="5105403" cy="581025"/>
            <a:chOff x="1248" y="2014"/>
            <a:chExt cx="3216" cy="366"/>
          </a:xfrm>
        </p:grpSpPr>
        <p:sp>
          <p:nvSpPr>
            <p:cNvPr id="61" name="Line 8"/>
            <p:cNvSpPr>
              <a:spLocks noChangeShapeType="1"/>
            </p:cNvSpPr>
            <p:nvPr/>
          </p:nvSpPr>
          <p:spPr bwMode="gray">
            <a:xfrm>
              <a:off x="1440" y="2380"/>
              <a:ext cx="3024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2" name="Rectangle 9"/>
            <p:cNvSpPr>
              <a:spLocks noChangeArrowheads="1"/>
            </p:cNvSpPr>
            <p:nvPr/>
          </p:nvSpPr>
          <p:spPr bwMode="gray">
            <a:xfrm rot="3419336">
              <a:off x="1261" y="2017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99CC00"/>
                </a:gs>
                <a:gs pos="100000">
                  <a:srgbClr val="99CC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CC0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gray">
            <a:xfrm>
              <a:off x="1766" y="2014"/>
              <a:ext cx="15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Banker </a:t>
              </a:r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algoritmi</a:t>
              </a:r>
              <a:endParaRPr lang="en-US" sz="24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4" name="Text Box 11"/>
            <p:cNvSpPr txBox="1">
              <a:spLocks noChangeArrowheads="1"/>
            </p:cNvSpPr>
            <p:nvPr/>
          </p:nvSpPr>
          <p:spPr bwMode="gray">
            <a:xfrm>
              <a:off x="1296" y="2044"/>
              <a:ext cx="2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2410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60486" y="433473"/>
            <a:ext cx="826476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ru-RU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DEADLOCKS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(QULFLANISHLAR)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06679" y="1207307"/>
            <a:ext cx="7886700" cy="2805894"/>
          </a:xfrm>
        </p:spPr>
        <p:txBody>
          <a:bodyPr>
            <a:noAutofit/>
          </a:bodyPr>
          <a:lstStyle/>
          <a:p>
            <a:pPr algn="just"/>
            <a:r>
              <a:rPr lang="en-US" altLang="ru-RU" sz="20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DEADLOCK(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Qulflanish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—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jarayonlar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to‘plami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resurslarni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ushlab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turgani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shu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birga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boshqa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jarayon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ushlab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turgan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resursni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kutayotgani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sababli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bloklanib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qolgan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holatdir</a:t>
            </a:r>
            <a:r>
              <a:rPr lang="en-US" alt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Agar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bitta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yo'lda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 ta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poyezd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bir-biriga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qarab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kelsa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faqat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bitta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yo'l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bo'lsa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poezdlarning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hech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bir-birining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oldida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turgandan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keyin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harakatlana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olmaydi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Ikki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yoki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undan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ortiq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jarayon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mavjud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bo'lganda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ba'zi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resurslarni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ushlab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turganda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boshqa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(lar)da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resurslarni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kutayotganda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operatsion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tizimlarda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ham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xuddi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shunday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holat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yuzaga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keladi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6BBC429-7005-41FC-A1F9-17DA564E5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132" y="4013201"/>
            <a:ext cx="6975475" cy="232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239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72140" y="322044"/>
            <a:ext cx="8357189" cy="407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  <a:spcAft>
                <a:spcPts val="0"/>
              </a:spcAft>
            </a:pPr>
            <a:r>
              <a:rPr lang="en-US" sz="2000" b="1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</a:t>
            </a:r>
            <a:endParaRPr lang="ru-RU" sz="20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778834" y="-228599"/>
            <a:ext cx="7886700" cy="1536700"/>
          </a:xfrm>
        </p:spPr>
        <p:txBody>
          <a:bodyPr>
            <a:normAutofit/>
          </a:bodyPr>
          <a:lstStyle/>
          <a:p>
            <a:r>
              <a:rPr lang="en-US" sz="2400" b="1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modeli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(System Model)</a:t>
            </a:r>
            <a:b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ru-RU" sz="2400" dirty="0"/>
          </a:p>
        </p:txBody>
      </p:sp>
      <p:sp>
        <p:nvSpPr>
          <p:cNvPr id="7" name="Объект 6"/>
          <p:cNvSpPr>
            <a:spLocks noGrp="1"/>
          </p:cNvSpPr>
          <p:nvPr>
            <p:ph sz="half" idx="2"/>
          </p:nvPr>
        </p:nvSpPr>
        <p:spPr>
          <a:xfrm>
            <a:off x="268335" y="1914250"/>
            <a:ext cx="5586365" cy="4791349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3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AU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Resursni</a:t>
            </a:r>
            <a:r>
              <a:rPr lang="en-A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so‘raydi</a:t>
            </a:r>
            <a:r>
              <a:rPr lang="en-A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(request)</a:t>
            </a:r>
            <a:b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band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kutadi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ru-RU" sz="3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malloc</a:t>
            </a:r>
            <a:r>
              <a:rPr lang="ru-RU" sz="3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ru-RU" sz="3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funksiyalari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3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AU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Resursdan</a:t>
            </a:r>
            <a:r>
              <a:rPr lang="en-A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foydalanadi</a:t>
            </a:r>
            <a:r>
              <a:rPr lang="en-A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(use)</a:t>
            </a:r>
            <a:b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printerga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chop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etadi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fayldan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o‘qiydi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AU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Resursni</a:t>
            </a:r>
            <a:r>
              <a:rPr lang="en-A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bo‘shatadi</a:t>
            </a:r>
            <a:r>
              <a:rPr lang="en-A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(release)</a:t>
            </a:r>
            <a:b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3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close()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3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free()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3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delete()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funksiyalari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egallab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turgan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resursni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kutayotgan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</a:t>
            </a:r>
            <a:r>
              <a:rPr lang="en-A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holatidir</a:t>
            </a:r>
            <a:r>
              <a:rPr lang="en-A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ru-RU" sz="3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DF2C3AF-D6D6-4FB9-9891-0E253B827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084" y="1914251"/>
            <a:ext cx="3279555" cy="32649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82A806-33ED-4B66-A4C6-A4D12B411C87}"/>
              </a:ext>
            </a:extLst>
          </p:cNvPr>
          <p:cNvSpPr txBox="1"/>
          <p:nvPr/>
        </p:nvSpPr>
        <p:spPr>
          <a:xfrm>
            <a:off x="543589" y="649447"/>
            <a:ext cx="8014290" cy="125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cheklangan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miqdordagi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resurslardan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tashkil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topadi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xotira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printer,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protsessor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boshqalar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Jarayonlar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resurslardan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foydalanadi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196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BC75FF-6347-428D-A823-BE03CC3B7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470" y="449262"/>
            <a:ext cx="7886700" cy="896937"/>
          </a:xfrm>
        </p:spPr>
        <p:txBody>
          <a:bodyPr>
            <a:normAutofit fontScale="90000"/>
          </a:bodyPr>
          <a:lstStyle/>
          <a:p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Qulflanishni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tavsiflash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(Deadlock Characterization)</a:t>
            </a:r>
            <a:br>
              <a:rPr lang="ru-RU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55EDAF1-ABDA-47D9-82C9-F1BF14B92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955800"/>
            <a:ext cx="7886700" cy="4233863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ro‘y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berishi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AU" sz="2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A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vaqtda</a:t>
            </a:r>
            <a:r>
              <a:rPr lang="en-A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bajarilishi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2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O‘zaro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istisno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(Mutual Exclusion)</a:t>
            </a:r>
            <a:b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Kamida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paytda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jarayonga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tegishli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bo‘lishi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2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Ushlab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turish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kutish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(Hold and Wait)</a:t>
            </a:r>
            <a:b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kamida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resursni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ushlab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turgan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resursni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kutayotgan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2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Majburlab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tortib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yo‘qligi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(No </a:t>
            </a: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Preemption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Jarayonga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resursni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majburan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olib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qo‘ya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olmaydi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bo‘shatadi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2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Aylana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kutish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(Circular Wait)</a:t>
            </a:r>
            <a:b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Jarayonlar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halqa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bir-birining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resursini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kutadi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P0 → P1 → P2 → … </a:t>
            </a:r>
            <a:r>
              <a:rPr lang="ru-RU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ru-RU" sz="2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Pn</a:t>
            </a:r>
            <a:r>
              <a:rPr lang="ru-RU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P0</a:t>
            </a:r>
            <a:endParaRPr lang="ru-RU" sz="22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F63331-248F-4C2B-927A-2DE1349D59EA}"/>
              </a:ext>
            </a:extLst>
          </p:cNvPr>
          <p:cNvSpPr txBox="1"/>
          <p:nvPr/>
        </p:nvSpPr>
        <p:spPr>
          <a:xfrm>
            <a:off x="775098" y="940305"/>
            <a:ext cx="77390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 err="1"/>
              <a:t>Tugallangan</a:t>
            </a:r>
            <a:r>
              <a:rPr lang="ru-RU" sz="2000" dirty="0"/>
              <a:t> </a:t>
            </a:r>
            <a:r>
              <a:rPr lang="ru-RU" sz="2000" dirty="0" err="1"/>
              <a:t>holatda</a:t>
            </a:r>
            <a:r>
              <a:rPr lang="ru-RU" sz="2000" dirty="0"/>
              <a:t> </a:t>
            </a:r>
            <a:r>
              <a:rPr lang="ru-RU" sz="2000" dirty="0" err="1"/>
              <a:t>jarayonlar</a:t>
            </a:r>
            <a:r>
              <a:rPr lang="ru-RU" sz="2000" dirty="0"/>
              <a:t> </a:t>
            </a:r>
            <a:r>
              <a:rPr lang="ru-RU" sz="2000" dirty="0" err="1"/>
              <a:t>hech</a:t>
            </a:r>
            <a:r>
              <a:rPr lang="ru-RU" sz="2000" dirty="0"/>
              <a:t> </a:t>
            </a:r>
            <a:r>
              <a:rPr lang="ru-RU" sz="2000" dirty="0" err="1"/>
              <a:t>qachon</a:t>
            </a:r>
            <a:r>
              <a:rPr lang="ru-RU" sz="2000" dirty="0"/>
              <a:t> </a:t>
            </a:r>
            <a:r>
              <a:rPr lang="ru-RU" sz="2000" dirty="0" err="1"/>
              <a:t>bajarilishini</a:t>
            </a:r>
            <a:r>
              <a:rPr lang="ru-RU" sz="2000" dirty="0"/>
              <a:t> </a:t>
            </a:r>
            <a:r>
              <a:rPr lang="ru-RU" sz="2000" dirty="0" err="1"/>
              <a:t>tugatmaydi</a:t>
            </a:r>
            <a:r>
              <a:rPr lang="ru-RU" sz="2000" dirty="0"/>
              <a:t> </a:t>
            </a:r>
            <a:r>
              <a:rPr lang="ru-RU" sz="2000" dirty="0" err="1"/>
              <a:t>va</a:t>
            </a:r>
            <a:r>
              <a:rPr lang="ru-RU" sz="2000" dirty="0"/>
              <a:t> </a:t>
            </a:r>
            <a:r>
              <a:rPr lang="ru-RU" sz="2000" dirty="0" err="1"/>
              <a:t>tizim</a:t>
            </a:r>
            <a:r>
              <a:rPr lang="ru-RU" sz="2000" dirty="0"/>
              <a:t> </a:t>
            </a:r>
            <a:r>
              <a:rPr lang="ru-RU" sz="2000" dirty="0" err="1"/>
              <a:t>resurslari</a:t>
            </a:r>
            <a:r>
              <a:rPr lang="ru-RU" sz="2000" dirty="0"/>
              <a:t> </a:t>
            </a:r>
            <a:r>
              <a:rPr lang="ru-RU" sz="2000" dirty="0" err="1"/>
              <a:t>bog'langan</a:t>
            </a:r>
            <a:r>
              <a:rPr lang="ru-RU" sz="2000" dirty="0"/>
              <a:t> </a:t>
            </a:r>
            <a:r>
              <a:rPr lang="ru-RU" sz="2000" dirty="0" err="1"/>
              <a:t>bo'lib</a:t>
            </a:r>
            <a:r>
              <a:rPr lang="ru-RU" sz="2000" dirty="0"/>
              <a:t>, </a:t>
            </a:r>
            <a:r>
              <a:rPr lang="ru-RU" sz="2000" dirty="0" err="1"/>
              <a:t>boshqa</a:t>
            </a:r>
            <a:r>
              <a:rPr lang="ru-RU" sz="2000" dirty="0"/>
              <a:t> </a:t>
            </a:r>
            <a:r>
              <a:rPr lang="ru-RU" sz="2000" dirty="0" err="1"/>
              <a:t>ishlarni</a:t>
            </a:r>
            <a:r>
              <a:rPr lang="ru-RU" sz="2000" dirty="0"/>
              <a:t> </a:t>
            </a:r>
            <a:r>
              <a:rPr lang="ru-RU" sz="2000" dirty="0" err="1"/>
              <a:t>boshlashga</a:t>
            </a:r>
            <a:r>
              <a:rPr lang="ru-RU" sz="2000" dirty="0"/>
              <a:t> </a:t>
            </a:r>
            <a:r>
              <a:rPr lang="ru-RU" sz="2000" dirty="0" err="1"/>
              <a:t>to'sqinlik</a:t>
            </a:r>
            <a:r>
              <a:rPr lang="ru-RU" sz="2000" dirty="0"/>
              <a:t> </a:t>
            </a:r>
            <a:r>
              <a:rPr lang="ru-RU" sz="2000" dirty="0" err="1"/>
              <a:t>qiladi</a:t>
            </a:r>
            <a:r>
              <a:rPr lang="ru-RU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9685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Resurs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taqsimlash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grafigi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(Resource Allocation Graph)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4223" y="1161950"/>
            <a:ext cx="7869890" cy="4889709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yo‘nalgan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graf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tizimdagi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jarayonlar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resurslar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o‘rtasidagi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munosabatni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ko‘rsatadi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Tugunlar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= {P1, P2, …,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 —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jarayonlar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to‘plami</a:t>
            </a:r>
            <a:endParaRPr lang="ru-RU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 = {R1, R2, …, Rm} —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resurslar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to‘plami</a:t>
            </a:r>
            <a:endParaRPr lang="en-US" sz="18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Yo‘nalishlar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 →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Rj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Rj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resursini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so‘ramoqda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(request edge)</a:t>
            </a:r>
            <a:endParaRPr lang="ru-RU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Rj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Pi →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Pi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jarayonga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ajratilgan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(assignment edge)</a:t>
            </a:r>
            <a:endParaRPr lang="ru-RU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grafda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aylana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yo‘q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qulflanmagan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aylana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bo‘lishi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165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A91F6-1EB2-40A5-9A2A-28D465B7E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Resurslarni</a:t>
            </a:r>
            <a:r>
              <a:rPr lang="en-US" dirty="0"/>
              <a:t> </a:t>
            </a:r>
            <a:r>
              <a:rPr lang="en-US" dirty="0" err="1"/>
              <a:t>taqsimlash</a:t>
            </a:r>
            <a:r>
              <a:rPr lang="en-US" dirty="0"/>
              <a:t> </a:t>
            </a:r>
            <a:r>
              <a:rPr lang="en-US" dirty="0" err="1"/>
              <a:t>grafiklari</a:t>
            </a:r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69C1AACC-651C-42A5-ADE2-65F8572BEC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5101" y="2032000"/>
            <a:ext cx="8797144" cy="36957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A2BB10-71FF-4F48-9D6A-295AC02F3430}"/>
              </a:ext>
            </a:extLst>
          </p:cNvPr>
          <p:cNvSpPr txBox="1"/>
          <p:nvPr/>
        </p:nvSpPr>
        <p:spPr>
          <a:xfrm>
            <a:off x="431800" y="5727700"/>
            <a:ext cx="83693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(a) </a:t>
            </a:r>
            <a:r>
              <a:rPr lang="ru-RU" sz="2400" dirty="0" err="1"/>
              <a:t>Resurs</a:t>
            </a:r>
            <a:r>
              <a:rPr lang="ru-RU" sz="2400" dirty="0"/>
              <a:t> </a:t>
            </a:r>
            <a:r>
              <a:rPr lang="ru-RU" sz="2400" dirty="0" err="1"/>
              <a:t>taqsimoti</a:t>
            </a:r>
            <a:r>
              <a:rPr lang="ru-RU" sz="2400" dirty="0"/>
              <a:t> </a:t>
            </a:r>
            <a:r>
              <a:rPr lang="ru-RU" sz="2400" dirty="0" err="1"/>
              <a:t>grafigi</a:t>
            </a:r>
            <a:r>
              <a:rPr lang="ru-RU" sz="2400" dirty="0"/>
              <a:t> (b) </a:t>
            </a:r>
            <a:r>
              <a:rPr lang="ru-RU" sz="2400" dirty="0" err="1"/>
              <a:t>Tugallangan</a:t>
            </a:r>
            <a:r>
              <a:rPr lang="ru-RU" sz="2400" dirty="0"/>
              <a:t> </a:t>
            </a:r>
            <a:r>
              <a:rPr lang="ru-RU" sz="2400" dirty="0" err="1"/>
              <a:t>holda</a:t>
            </a:r>
            <a:r>
              <a:rPr lang="ru-RU" sz="2400" dirty="0"/>
              <a:t> (c) </a:t>
            </a:r>
            <a:r>
              <a:rPr lang="ru-RU" sz="2400" dirty="0" err="1"/>
              <a:t>sikl</a:t>
            </a:r>
            <a:r>
              <a:rPr lang="ru-RU" sz="2400" dirty="0"/>
              <a:t> </a:t>
            </a:r>
            <a:r>
              <a:rPr lang="ru-RU" sz="2400" dirty="0" err="1"/>
              <a:t>bilan</a:t>
            </a:r>
            <a:r>
              <a:rPr lang="ru-RU" sz="2400" dirty="0"/>
              <a:t>, </a:t>
            </a:r>
            <a:r>
              <a:rPr lang="ru-RU" sz="2400" dirty="0" err="1"/>
              <a:t>lekin</a:t>
            </a:r>
            <a:r>
              <a:rPr lang="ru-RU" sz="2400" dirty="0"/>
              <a:t> </a:t>
            </a:r>
            <a:r>
              <a:rPr lang="ru-RU" sz="2400" dirty="0" err="1"/>
              <a:t>boshi</a:t>
            </a:r>
            <a:r>
              <a:rPr lang="ru-RU" sz="2400" dirty="0"/>
              <a:t> </a:t>
            </a:r>
            <a:r>
              <a:rPr lang="ru-RU" sz="2400" dirty="0" err="1"/>
              <a:t>berk</a:t>
            </a:r>
            <a:r>
              <a:rPr lang="ru-RU" sz="2400" dirty="0"/>
              <a:t> </a:t>
            </a:r>
            <a:r>
              <a:rPr lang="ru-RU" sz="2400" dirty="0" err="1"/>
              <a:t>ko'chaga</a:t>
            </a:r>
            <a:r>
              <a:rPr lang="ru-RU" sz="2400" dirty="0"/>
              <a:t> </a:t>
            </a:r>
            <a:r>
              <a:rPr lang="ru-RU" sz="2400" dirty="0" err="1"/>
              <a:t>ega</a:t>
            </a:r>
            <a:r>
              <a:rPr lang="ru-RU" sz="2400" dirty="0"/>
              <a:t> </a:t>
            </a:r>
            <a:r>
              <a:rPr lang="ru-RU" sz="2400" dirty="0" err="1"/>
              <a:t>emas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81397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060F0E-56F8-4856-9439-C3F28B95C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Qulflanishlarni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boshqarish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usullari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(Methods for Handling Deadlocks)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E95A25-5417-4A12-8F06-69DBCD2D9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boshqarishning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uchta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yo‘li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Oldini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chetlab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o‘tish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(Prevention/Avoidance)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holatiga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keltirmaslik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tiklash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(Detection and Recovery)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aniqlangach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to‘xtatish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tortib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E’tiborsiz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qoldirish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(Ignore)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agar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kamdan-kam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sodir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yuklash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kifoya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21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Qulflanishning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oldini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olish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(Deadlock Prevention)</a:t>
            </a:r>
            <a:endParaRPr lang="ru-RU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DEC32A-D19B-4A0C-ADE8-90B980FB96A9}"/>
              </a:ext>
            </a:extLst>
          </p:cNvPr>
          <p:cNvSpPr txBox="1"/>
          <p:nvPr/>
        </p:nvSpPr>
        <p:spPr>
          <a:xfrm>
            <a:off x="628650" y="1161950"/>
            <a:ext cx="7886697" cy="67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Qulflanishni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yo‘qotish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yuqoridagi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zarur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shartdan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kamida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bittasini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buzish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DFDA24-B7A1-4750-8861-BF62ADAAB45C}"/>
              </a:ext>
            </a:extLst>
          </p:cNvPr>
          <p:cNvSpPr txBox="1"/>
          <p:nvPr/>
        </p:nvSpPr>
        <p:spPr>
          <a:xfrm>
            <a:off x="628650" y="2085620"/>
            <a:ext cx="7702550" cy="179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AU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O‘zaro</a:t>
            </a:r>
            <a:r>
              <a:rPr lang="en-A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istisno</a:t>
            </a:r>
            <a:r>
              <a:rPr lang="en-A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(Mutual Exclusion)</a:t>
            </a:r>
            <a:endParaRPr lang="ru-RU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Ayrim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resurslar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printer)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tabiatan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jarayonga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tegishli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bo‘lishi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shuning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shartni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butunlay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yo‘qotib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bo‘lmaydi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Lekin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bo‘lish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resurslar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o‘qish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xavfni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kamaytiradi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928546-846E-49CE-848F-E3D1FBE17283}"/>
              </a:ext>
            </a:extLst>
          </p:cNvPr>
          <p:cNvSpPr txBox="1"/>
          <p:nvPr/>
        </p:nvSpPr>
        <p:spPr>
          <a:xfrm>
            <a:off x="628651" y="3883292"/>
            <a:ext cx="7886696" cy="2094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2.Ushlab </a:t>
            </a:r>
            <a:r>
              <a:rPr lang="en-AU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turish</a:t>
            </a:r>
            <a:r>
              <a:rPr lang="en-A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A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kutish</a:t>
            </a:r>
            <a:r>
              <a:rPr lang="en-A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(Hold and Wait)</a:t>
            </a:r>
            <a:endParaRPr lang="ru-RU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Jarayonlarga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vaqtning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o‘zida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kerakli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resurslarni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dastlab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ajratish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Kamchiligi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resurslardan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foydalanish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samaradorligi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past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bo‘sh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resursga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bo‘lmaganda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so‘rov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yuboradi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Kamchiligi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och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qolish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starvation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holati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paydo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bo‘lishi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65100" y="266700"/>
            <a:ext cx="8410863" cy="6388099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Majburlab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tortib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(No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Preemption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Jarayonga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kerakli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bo‘lmasa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avval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egallab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turgan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resurslar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tortib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olinadi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keyinchalik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boshlanadi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Bu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usul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xotira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registr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saqlab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bo‘ladigan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resurslarga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lekin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printer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qurilmalarga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Aylana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kutish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Circular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A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resursga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tartib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raqami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beriladi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Jarayonlar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resurslarni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o‘suvchi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kamayuvchi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tartibda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so‘rashi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Bu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tartib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aylana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hosil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bo‘lmaydi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78465" y="1161950"/>
            <a:ext cx="8221035" cy="5015013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hech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qachon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holatiga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keltirmaslik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Buning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jarayonning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maksimal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ehtiyojini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oldindan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bilishi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xavfini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dinamik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tarzda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tekshirish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algoritmlar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qo‘llaniladi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Qulflanishni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chetlab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o‘tish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(Deadlock Avoidance)</a:t>
            </a:r>
            <a:endParaRPr lang="ru-RU" sz="3200" b="1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1" y="163208"/>
            <a:ext cx="7886698" cy="687692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Xavfsiz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holat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(Safe State)</a:t>
            </a:r>
            <a:endParaRPr lang="ru-RU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C3AEE6-E634-40E4-BAC4-359781C55960}"/>
              </a:ext>
            </a:extLst>
          </p:cNvPr>
          <p:cNvSpPr txBox="1"/>
          <p:nvPr/>
        </p:nvSpPr>
        <p:spPr>
          <a:xfrm>
            <a:off x="628651" y="991644"/>
            <a:ext cx="7886698" cy="1258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xavfsiz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(safe)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deyiladi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agar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jarayonlarning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so‘rovlarini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ketma-ket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bajarish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hech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qulflanishga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olib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kelmasa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9F7B3D6-4EC9-4FB6-A77B-C1836C430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2690076"/>
            <a:ext cx="3263900" cy="32071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CBE889-EE93-4B5C-8BD3-9780B98B26A4}"/>
              </a:ext>
            </a:extLst>
          </p:cNvPr>
          <p:cNvSpPr txBox="1"/>
          <p:nvPr/>
        </p:nvSpPr>
        <p:spPr>
          <a:xfrm>
            <a:off x="3797300" y="600477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Xavfsiz</a:t>
            </a:r>
            <a:r>
              <a:rPr lang="ru-RU" dirty="0"/>
              <a:t>, </a:t>
            </a:r>
            <a:r>
              <a:rPr lang="ru-RU" dirty="0" err="1"/>
              <a:t>xavfli</a:t>
            </a:r>
            <a:r>
              <a:rPr lang="ru-RU" dirty="0"/>
              <a:t> </a:t>
            </a:r>
            <a:r>
              <a:rPr lang="ru-RU" dirty="0" err="1"/>
              <a:t>va</a:t>
            </a:r>
            <a:r>
              <a:rPr lang="ru-RU" dirty="0"/>
              <a:t> </a:t>
            </a:r>
            <a:r>
              <a:rPr lang="ru-RU" dirty="0" err="1"/>
              <a:t>o'lik</a:t>
            </a:r>
            <a:r>
              <a:rPr lang="ru-RU" dirty="0"/>
              <a:t> </a:t>
            </a:r>
            <a:r>
              <a:rPr lang="ru-RU" dirty="0" err="1"/>
              <a:t>holatidagi</a:t>
            </a:r>
            <a:r>
              <a:rPr lang="ru-RU" dirty="0"/>
              <a:t> </a:t>
            </a:r>
            <a:r>
              <a:rPr lang="ru-RU" dirty="0" err="1"/>
              <a:t>bo'shliqlar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78ACB1-7188-454D-8534-FDB2CD40386C}"/>
              </a:ext>
            </a:extLst>
          </p:cNvPr>
          <p:cNvSpPr txBox="1"/>
          <p:nvPr/>
        </p:nvSpPr>
        <p:spPr>
          <a:xfrm>
            <a:off x="628651" y="2272729"/>
            <a:ext cx="3009900" cy="3732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Aks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xavfli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(unsafe)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holatda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xavfsiz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holatlar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qulflanishsiz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Lekin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xavfli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holatlar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qulflanishga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olib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kelmaydi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09598" y="1965498"/>
            <a:ext cx="7823201" cy="34394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2400" dirty="0"/>
              <a:t>	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resursning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nusxasi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u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grafikdagi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aylanalar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Bu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grafikda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talab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yo‘nalishi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(claim edge)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qo‘shimcha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kelajakda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so‘rashi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mumkinligini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bildiradi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Agar talab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yo‘nalishini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ajratilgan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yo‘nalishga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o‘zgartirish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aylana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hosil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qilsa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xavfli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ajratmaslik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B08EB-3D29-4655-A60C-DBF5F5C3E660}"/>
              </a:ext>
            </a:extLst>
          </p:cNvPr>
          <p:cNvSpPr txBox="1"/>
          <p:nvPr/>
        </p:nvSpPr>
        <p:spPr>
          <a:xfrm>
            <a:off x="609598" y="332791"/>
            <a:ext cx="8054975" cy="1120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taqsimlash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grafigi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algoritmi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(Resource Allocation Graph Algorithm)</a:t>
            </a:r>
            <a:endParaRPr lang="ru-RU" sz="32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0FC58A5-8A25-4157-B386-385EA1D6B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" y="1721661"/>
            <a:ext cx="7481888" cy="27463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9AA49F-CB9D-4E12-B2BF-CF692683911B}"/>
              </a:ext>
            </a:extLst>
          </p:cNvPr>
          <p:cNvSpPr txBox="1"/>
          <p:nvPr/>
        </p:nvSpPr>
        <p:spPr>
          <a:xfrm>
            <a:off x="906066" y="4430968"/>
            <a:ext cx="75469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1" dirty="0"/>
              <a:t>(</a:t>
            </a:r>
            <a:r>
              <a:rPr lang="ru-RU" sz="2000" b="1" i="1" dirty="0"/>
              <a:t>a) </a:t>
            </a:r>
            <a:r>
              <a:rPr lang="ru-RU" sz="2000" b="1" i="1" dirty="0" err="1"/>
              <a:t>Tugallanishdan</a:t>
            </a:r>
            <a:r>
              <a:rPr lang="ru-RU" sz="2000" b="1" i="1" dirty="0"/>
              <a:t> </a:t>
            </a:r>
            <a:r>
              <a:rPr lang="ru-RU" sz="2000" b="1" i="1" dirty="0" err="1"/>
              <a:t>qochish</a:t>
            </a:r>
            <a:r>
              <a:rPr lang="ru-RU" sz="2000" b="1" i="1" dirty="0"/>
              <a:t> </a:t>
            </a:r>
            <a:r>
              <a:rPr lang="ru-RU" sz="2000" b="1" i="1" dirty="0" err="1"/>
              <a:t>uchun</a:t>
            </a:r>
            <a:r>
              <a:rPr lang="ru-RU" sz="2000" b="1" i="1" dirty="0"/>
              <a:t> </a:t>
            </a:r>
            <a:r>
              <a:rPr lang="en-US" sz="2000" b="1" i="1" dirty="0"/>
              <a:t>                               </a:t>
            </a:r>
            <a:r>
              <a:rPr lang="ru-RU" sz="2000" b="1" i="1" dirty="0"/>
              <a:t>(b) </a:t>
            </a:r>
            <a:r>
              <a:rPr lang="ru-RU" sz="2000" b="1" i="1" dirty="0" err="1"/>
              <a:t>xavfli</a:t>
            </a:r>
            <a:r>
              <a:rPr lang="ru-RU" sz="2000" b="1" i="1" dirty="0"/>
              <a:t> </a:t>
            </a:r>
            <a:r>
              <a:rPr lang="ru-RU" sz="2000" b="1" i="1" dirty="0" err="1"/>
              <a:t>holat</a:t>
            </a:r>
            <a:endParaRPr lang="ru-RU" sz="2000" b="1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96FD2C-589C-4354-B866-FC8BE3FE6231}"/>
              </a:ext>
            </a:extLst>
          </p:cNvPr>
          <p:cNvSpPr txBox="1"/>
          <p:nvPr/>
        </p:nvSpPr>
        <p:spPr>
          <a:xfrm>
            <a:off x="519907" y="5022113"/>
            <a:ext cx="83192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 </a:t>
            </a:r>
            <a:r>
              <a:rPr lang="ru-RU" sz="2400" b="1" dirty="0" err="1"/>
              <a:t>Muammo</a:t>
            </a:r>
            <a:r>
              <a:rPr lang="ru-RU" sz="2400" b="1" dirty="0"/>
              <a:t>: </a:t>
            </a:r>
            <a:r>
              <a:rPr lang="ru-RU" sz="2400" dirty="0" err="1"/>
              <a:t>Resurslarni</a:t>
            </a:r>
            <a:r>
              <a:rPr lang="ru-RU" sz="2400" dirty="0"/>
              <a:t> </a:t>
            </a:r>
            <a:r>
              <a:rPr lang="ru-RU" sz="2400" dirty="0" err="1"/>
              <a:t>taqsimlash</a:t>
            </a:r>
            <a:r>
              <a:rPr lang="ru-RU" sz="2400" dirty="0"/>
              <a:t> </a:t>
            </a:r>
            <a:r>
              <a:rPr lang="ru-RU" sz="2400" dirty="0" err="1"/>
              <a:t>grafigi</a:t>
            </a:r>
            <a:r>
              <a:rPr lang="ru-RU" sz="2400" dirty="0"/>
              <a:t> </a:t>
            </a:r>
            <a:r>
              <a:rPr lang="ru-RU" sz="2400" dirty="0" err="1"/>
              <a:t>algoritmi</a:t>
            </a:r>
            <a:r>
              <a:rPr lang="ru-RU" sz="2400" dirty="0"/>
              <a:t> </a:t>
            </a:r>
            <a:r>
              <a:rPr lang="ru-RU" sz="2400" dirty="0" err="1"/>
              <a:t>har</a:t>
            </a:r>
            <a:r>
              <a:rPr lang="ru-RU" sz="2400" dirty="0"/>
              <a:t> </a:t>
            </a:r>
            <a:r>
              <a:rPr lang="ru-RU" sz="2400" dirty="0" err="1"/>
              <a:t>bir</a:t>
            </a:r>
            <a:r>
              <a:rPr lang="ru-RU" sz="2400" dirty="0"/>
              <a:t> </a:t>
            </a:r>
            <a:r>
              <a:rPr lang="ru-RU" sz="2400" dirty="0" err="1"/>
              <a:t>resurs</a:t>
            </a:r>
            <a:r>
              <a:rPr lang="ru-RU" sz="2400" dirty="0"/>
              <a:t> </a:t>
            </a:r>
            <a:r>
              <a:rPr lang="ru-RU" sz="2400" dirty="0" err="1"/>
              <a:t>uchun</a:t>
            </a:r>
            <a:r>
              <a:rPr lang="ru-RU" sz="2400" dirty="0"/>
              <a:t> </a:t>
            </a:r>
            <a:r>
              <a:rPr lang="ru-RU" sz="2400" dirty="0" err="1"/>
              <a:t>bir</a:t>
            </a:r>
            <a:r>
              <a:rPr lang="ru-RU" sz="2400" dirty="0"/>
              <a:t> </a:t>
            </a:r>
            <a:r>
              <a:rPr lang="ru-RU" sz="2400" dirty="0" err="1"/>
              <a:t>nechta</a:t>
            </a:r>
            <a:r>
              <a:rPr lang="ru-RU" sz="2400" dirty="0"/>
              <a:t> </a:t>
            </a:r>
            <a:r>
              <a:rPr lang="ru-RU" sz="2400" dirty="0" err="1"/>
              <a:t>misollar</a:t>
            </a:r>
            <a:r>
              <a:rPr lang="ru-RU" sz="2400" dirty="0"/>
              <a:t> </a:t>
            </a:r>
            <a:r>
              <a:rPr lang="ru-RU" sz="2400" dirty="0" err="1"/>
              <a:t>mavjud</a:t>
            </a:r>
            <a:r>
              <a:rPr lang="ru-RU" sz="2400" dirty="0"/>
              <a:t> </a:t>
            </a:r>
            <a:r>
              <a:rPr lang="ru-RU" sz="2400" dirty="0" err="1"/>
              <a:t>bo'lganda</a:t>
            </a:r>
            <a:r>
              <a:rPr lang="ru-RU" sz="2400" dirty="0"/>
              <a:t> </a:t>
            </a:r>
            <a:r>
              <a:rPr lang="ru-RU" sz="2400" dirty="0" err="1"/>
              <a:t>qo'llanilmaydi</a:t>
            </a:r>
            <a:r>
              <a:rPr lang="ru-RU" sz="2400" dirty="0"/>
              <a:t>. </a:t>
            </a:r>
            <a:endParaRPr lang="en-US" sz="2400" dirty="0"/>
          </a:p>
          <a:p>
            <a:r>
              <a:rPr lang="ru-RU" sz="2400" b="1" dirty="0"/>
              <a:t> </a:t>
            </a:r>
            <a:r>
              <a:rPr lang="ru-RU" sz="2400" b="1" dirty="0" err="1"/>
              <a:t>Yechim</a:t>
            </a:r>
            <a:r>
              <a:rPr lang="ru-RU" sz="2400" b="1" dirty="0"/>
              <a:t>: </a:t>
            </a:r>
            <a:r>
              <a:rPr lang="ru-RU" sz="2400" dirty="0" err="1"/>
              <a:t>Bankir</a:t>
            </a:r>
            <a:r>
              <a:rPr lang="ru-RU" sz="2400" dirty="0"/>
              <a:t> </a:t>
            </a:r>
            <a:r>
              <a:rPr lang="ru-RU" sz="2400" dirty="0" err="1"/>
              <a:t>algoritmidan</a:t>
            </a:r>
            <a:r>
              <a:rPr lang="ru-RU" sz="2400" dirty="0"/>
              <a:t> </a:t>
            </a:r>
            <a:r>
              <a:rPr lang="ru-RU" sz="2400" dirty="0" err="1"/>
              <a:t>foydalaning</a:t>
            </a:r>
            <a:r>
              <a:rPr lang="ru-RU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942E28-5140-43CB-86E5-BD01BB011061}"/>
              </a:ext>
            </a:extLst>
          </p:cNvPr>
          <p:cNvSpPr txBox="1"/>
          <p:nvPr/>
        </p:nvSpPr>
        <p:spPr>
          <a:xfrm>
            <a:off x="246856" y="356998"/>
            <a:ext cx="8312944" cy="1120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taqsimlash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grafigi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algoritmi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(Resource Allocation Graph Algorithm)</a:t>
            </a:r>
            <a:endParaRPr lang="ru-RU" sz="32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218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73759" y="308644"/>
            <a:ext cx="80488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	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Banker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algoritmi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(Banker’s Algorithm)</a:t>
            </a:r>
            <a:endParaRPr lang="ru-RU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3B7460-F57A-4985-844A-6E6D8302D7E2}"/>
              </a:ext>
            </a:extLst>
          </p:cNvPr>
          <p:cNvSpPr txBox="1"/>
          <p:nvPr/>
        </p:nvSpPr>
        <p:spPr>
          <a:xfrm>
            <a:off x="528418" y="989015"/>
            <a:ext cx="8327340" cy="5467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Bankir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algoritmi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-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bu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operatsion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tizimlarda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foydalaniladigan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resurslarni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taqsimlash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va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blokirovkadan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qochish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algoritmi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 Bu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jarayonlarga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resurslarni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ehtiyotkorlik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bilan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taqsimlash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orqali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tizimning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xavfsiz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holatda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qolishini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ta'minlaydi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shu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bilan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birga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boshi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berk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ko'chaga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olib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kelishi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mumkin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bo'lgan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xavfli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vaziyatlardan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qochadi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sz="2000" b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Ma’lumot</a:t>
            </a:r>
            <a:r>
              <a:rPr lang="ru-RU" sz="2000" b="1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tuzilmalari</a:t>
            </a:r>
            <a:r>
              <a:rPr lang="ru-RU" sz="2000" b="1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:</a:t>
            </a:r>
            <a:endParaRPr lang="en-US" sz="20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Total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—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tizimdagi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jami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resurslar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soni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masalan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10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dona</a:t>
            </a:r>
            <a:endParaRPr lang="en-US" altLang="ru-RU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Alloc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Ajratilgan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—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bir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jarayonga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hozirda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berilgan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resurslar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Max (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Maksimal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—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bir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jarayon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ko‘pi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bilan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qancha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resurs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so‘rashi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mumkin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Need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Ehtiyoj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—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yana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qancha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kerak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Need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Max −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Alloc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Available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Bo‘sh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—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hozir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berilmagan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resurs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endParaRPr kumimoji="0" lang="en-US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Available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Total −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ΣAlloc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853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018DC0-7431-41F8-8F47-BFFE8E2FF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Banker </a:t>
            </a:r>
            <a:r>
              <a:rPr lang="en-AU" sz="4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algoritmi</a:t>
            </a:r>
            <a:r>
              <a:rPr lang="en-A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(Banker’s Algorithm)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2612E3-BE42-475B-BA45-DDC0821EB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Banker (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Bankir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)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algoritmida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 2 ta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asosiy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g‘oya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bor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>
              <a:buFont typeface="+mj-lt"/>
              <a:buAutoNum type="arabicPeriod"/>
            </a:pPr>
            <a:r>
              <a:rPr lang="en-US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Xavfsiz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holat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(safe state) — “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Hamma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jarayonlar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oxir-oqibat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tugay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oladigan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taqsimot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bormi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?”</a:t>
            </a:r>
          </a:p>
          <a:p>
            <a:pPr>
              <a:buFont typeface="+mj-lt"/>
              <a:buAutoNum type="arabicPeriod"/>
            </a:pPr>
            <a:r>
              <a:rPr lang="en-US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Tekshir-berish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— “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Jarayon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hozir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so‘ragan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resursni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bersak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ham,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tizim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xavfsiz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bo‘lib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qoladimi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?”</a:t>
            </a:r>
          </a:p>
          <a:p>
            <a:pPr marL="0" indent="0">
              <a:buNone/>
            </a:pP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Bankir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mijozga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qarz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berishdan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oldin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tekshiradi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: “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Hozir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shu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summani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bersam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keyin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hamma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mijozlar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navbatma-navbat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)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qarzini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qaytara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oladimi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?” Agar ha —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beradi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yo‘q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—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kuting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deydi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b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Xuddi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shunday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, OS ham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resursni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avval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xavfsizlikni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tekshirib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keyin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beradi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7876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186318-F02C-409B-AACA-DCB6F62E32EC}"/>
              </a:ext>
            </a:extLst>
          </p:cNvPr>
          <p:cNvSpPr txBox="1"/>
          <p:nvPr/>
        </p:nvSpPr>
        <p:spPr>
          <a:xfrm>
            <a:off x="863600" y="443984"/>
            <a:ext cx="8712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Xavfsiz</a:t>
            </a: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holatni</a:t>
            </a: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tekshirish</a:t>
            </a: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 (Safety </a:t>
            </a:r>
            <a:r>
              <a:rPr lang="en-US" sz="3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tekshiruvi</a:t>
            </a: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endParaRPr lang="ru-RU" sz="3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7C57862-7BE6-4B5B-B4E1-82C93F76D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926" y="1563504"/>
            <a:ext cx="815414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Maqsad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shunday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tartib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ketma-ketlik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topsinmizki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jarayonlar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birma-bir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tugab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resurslarni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qaytarib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oxirida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hammasi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tugasin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Qadamlar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Available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hisobla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Tugashi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mumkin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jarayonni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sharti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uning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Need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≤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Available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Shu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jarayonni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tugadi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faraz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qilamiz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o‘zidagi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Alloc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qaytaradi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Available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oshadi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2–3-qadamni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hamma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jarayonlar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tugaguncha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takrorla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biror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hech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shartni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qanoatlantirmasa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xavfsiz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ketma-ketlik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yo‘q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holat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xavfsiz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294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0CA6C902-A37D-4E2C-8E07-B817D236E55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02659" y="1214728"/>
            <a:ext cx="66607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ru-RU" dirty="0">
                <a:latin typeface="Arial" panose="020B0604020202020204" pitchFamily="34" charset="0"/>
              </a:rPr>
              <a:t>J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ami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resurs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= 10</a:t>
            </a:r>
            <a:r>
              <a:rPr kumimoji="0" lang="en-US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Jarayonlar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(P1, P2, P3):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75AECDC1-39C5-40FC-A64D-8CC46F1FC6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251284"/>
              </p:ext>
            </p:extLst>
          </p:nvPr>
        </p:nvGraphicFramePr>
        <p:xfrm>
          <a:off x="646113" y="1551084"/>
          <a:ext cx="7869236" cy="1737360"/>
        </p:xfrm>
        <a:graphic>
          <a:graphicData uri="http://schemas.openxmlformats.org/drawingml/2006/table">
            <a:tbl>
              <a:tblPr/>
              <a:tblGrid>
                <a:gridCol w="1967309">
                  <a:extLst>
                    <a:ext uri="{9D8B030D-6E8A-4147-A177-3AD203B41FA5}">
                      <a16:colId xmlns:a16="http://schemas.microsoft.com/office/drawing/2014/main" val="982477754"/>
                    </a:ext>
                  </a:extLst>
                </a:gridCol>
                <a:gridCol w="1967309">
                  <a:extLst>
                    <a:ext uri="{9D8B030D-6E8A-4147-A177-3AD203B41FA5}">
                      <a16:colId xmlns:a16="http://schemas.microsoft.com/office/drawing/2014/main" val="2241311321"/>
                    </a:ext>
                  </a:extLst>
                </a:gridCol>
                <a:gridCol w="1967309">
                  <a:extLst>
                    <a:ext uri="{9D8B030D-6E8A-4147-A177-3AD203B41FA5}">
                      <a16:colId xmlns:a16="http://schemas.microsoft.com/office/drawing/2014/main" val="1986736533"/>
                    </a:ext>
                  </a:extLst>
                </a:gridCol>
                <a:gridCol w="1967309">
                  <a:extLst>
                    <a:ext uri="{9D8B030D-6E8A-4147-A177-3AD203B41FA5}">
                      <a16:colId xmlns:a16="http://schemas.microsoft.com/office/drawing/2014/main" val="1404351406"/>
                    </a:ext>
                  </a:extLst>
                </a:gridCol>
              </a:tblGrid>
              <a:tr h="636778">
                <a:tc>
                  <a:txBody>
                    <a:bodyPr/>
                    <a:lstStyle/>
                    <a:p>
                      <a:r>
                        <a:rPr lang="en-US" dirty="0" err="1"/>
                        <a:t>Jarayon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Alloc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Need = Max − Alloc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17412"/>
                  </a:ext>
                </a:extLst>
              </a:tr>
              <a:tr h="363872">
                <a:tc>
                  <a:txBody>
                    <a:bodyPr/>
                    <a:lstStyle/>
                    <a:p>
                      <a:r>
                        <a:rPr lang="en-US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3302928"/>
                  </a:ext>
                </a:extLst>
              </a:tr>
              <a:tr h="363872">
                <a:tc>
                  <a:txBody>
                    <a:bodyPr/>
                    <a:lstStyle/>
                    <a:p>
                      <a:r>
                        <a:rPr lang="en-US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460386"/>
                  </a:ext>
                </a:extLst>
              </a:tr>
              <a:tr h="363872">
                <a:tc>
                  <a:txBody>
                    <a:bodyPr/>
                    <a:lstStyle/>
                    <a:p>
                      <a:r>
                        <a:rPr lang="en-US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356866"/>
                  </a:ext>
                </a:extLst>
              </a:tr>
            </a:tbl>
          </a:graphicData>
        </a:graphic>
      </p:graphicFrame>
      <p:sp>
        <p:nvSpPr>
          <p:cNvPr id="12" name="Rectangle 8">
            <a:extLst>
              <a:ext uri="{FF2B5EF4-FFF2-40B4-BE49-F238E27FC236}">
                <a16:creationId xmlns:a16="http://schemas.microsoft.com/office/drawing/2014/main" id="{6F9B7D09-288E-4CF1-BF84-C39BD253F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3" y="3283078"/>
            <a:ext cx="7233134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1-qadam: 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Available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=8. 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Tugashi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mumkinlar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br>
              <a:rPr kumimoji="0" lang="ru-RU" altLang="ru-RU" sz="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P1: 7 ≤ 8 , P2: 4 ≤ 8 , P3: 2 ≤ 8  → </a:t>
            </a:r>
            <a:r>
              <a:rPr kumimoji="0" lang="ru-RU" altLang="ru-RU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xohlaganimizdan</a:t>
            </a:r>
            <a:endParaRPr lang="en-US" altLang="ru-RU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boshlash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mumkin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kumimoji="0" lang="ru-RU" altLang="ru-RU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eng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kichigidan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boshamiz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 P3.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P3 “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tugadi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”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deb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faraz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qilamiz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→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o‘zidagi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1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resursni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qaytardi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endParaRPr kumimoji="0" lang="en-US" altLang="ru-RU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Available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=8+1=9.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Endi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P2: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Need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=4 ≤ 9 →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tugashi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mumkin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Tugadi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1+4=5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ni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qaytardi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endParaRPr kumimoji="0" lang="en-US" altLang="ru-RU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Available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=9+5=14.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Endi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P1: </a:t>
            </a:r>
            <a:r>
              <a:rPr kumimoji="0" lang="ru-RU" altLang="ru-RU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Need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=7 ≤ 14 →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tugadi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b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Xulosa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xavfsiz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ketma-ketlik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bor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(P3 → P2 → P1).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Holat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xavfsiz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2E983D-CC0D-45D6-95A9-EF7D022C97AE}"/>
              </a:ext>
            </a:extLst>
          </p:cNvPr>
          <p:cNvSpPr txBox="1"/>
          <p:nvPr/>
        </p:nvSpPr>
        <p:spPr>
          <a:xfrm>
            <a:off x="923364" y="492551"/>
            <a:ext cx="72076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b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Banker </a:t>
            </a:r>
            <a:r>
              <a:rPr lang="en-AU" sz="3200" b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algoritmi</a:t>
            </a:r>
            <a:r>
              <a:rPr lang="en-AU" sz="3200" b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(Banker’s Algorithm) </a:t>
            </a:r>
          </a:p>
        </p:txBody>
      </p:sp>
    </p:spTree>
    <p:extLst>
      <p:ext uri="{BB962C8B-B14F-4D97-AF65-F5344CB8AC3E}">
        <p14:creationId xmlns:p14="http://schemas.microsoft.com/office/powerpoint/2010/main" val="588256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29840" y="260877"/>
            <a:ext cx="7567391" cy="535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850"/>
              </a:lnSpc>
            </a:pPr>
            <a:r>
              <a:rPr lang="en-US" sz="2000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Tupiklarni</a:t>
            </a:r>
            <a:r>
              <a:rPr lang="en-US" sz="20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000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Oldini</a:t>
            </a:r>
            <a:r>
              <a:rPr lang="en-US" sz="20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000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Olish</a:t>
            </a:r>
            <a:r>
              <a:rPr lang="en-US" sz="20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: 1-</a:t>
            </a:r>
            <a:r>
              <a:rPr lang="en-US" sz="2000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Inkor</a:t>
            </a:r>
            <a:r>
              <a:rPr lang="en-US" sz="20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 (Mutual Exclusion)</a:t>
            </a:r>
            <a:endParaRPr lang="en-US" sz="2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54303" y="787431"/>
            <a:ext cx="7642927" cy="1416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ru-RU" sz="2000" dirty="0">
                <a:latin typeface="Cabin" pitchFamily="34" charset="0"/>
                <a:ea typeface="Cabin" pitchFamily="34" charset="-122"/>
                <a:cs typeface="Cabin" pitchFamily="34" charset="-120"/>
              </a:rPr>
              <a:t>	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Birinchi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shart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–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oʻzaro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inkor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–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tupiklarning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paydo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boʻlishi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uchun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asosiy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shartdir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 Uni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inkor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etish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har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doim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ham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mumkin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emas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,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chunki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ayrim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resurslar</a:t>
            </a:r>
            <a:r>
              <a:rPr lang="en-US" sz="200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, bir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vaqtning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oʻzida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bir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nechta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jarayon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tomonidan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ishlatilishi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mumkin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emas</a:t>
            </a:r>
            <a:r>
              <a:rPr lang="en-US" sz="2000" dirty="0">
                <a:solidFill>
                  <a:srgbClr val="CAD6DE"/>
                </a:solidFill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</a:t>
            </a:r>
            <a:endParaRPr lang="en-US" sz="2000" dirty="0">
              <a:latin typeface="Bell MT" panose="02020503060305020303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65525" y="2270656"/>
            <a:ext cx="393258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sz="2000" b="1" dirty="0" err="1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Cheklovlar</a:t>
            </a:r>
            <a:r>
              <a:rPr lang="en-US" sz="2000" b="1" dirty="0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000" b="1" dirty="0" err="1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va</a:t>
            </a:r>
            <a:r>
              <a:rPr lang="en-US" sz="2000" b="1" dirty="0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000" b="1" dirty="0" err="1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Istisnolar</a:t>
            </a:r>
            <a:r>
              <a:rPr lang="en-AU" sz="2000" b="1" dirty="0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:</a:t>
            </a:r>
          </a:p>
          <a:p>
            <a:pPr>
              <a:lnSpc>
                <a:spcPts val="2400"/>
              </a:lnSpc>
            </a:pPr>
            <a:r>
              <a:rPr lang="en-US" sz="2000" b="1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Apparat</a:t>
            </a:r>
            <a:r>
              <a:rPr lang="en-US" sz="2000" b="1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b="1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Resurslari</a:t>
            </a:r>
            <a:r>
              <a:rPr lang="en-US" sz="2000" b="1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: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Jismoniy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</a:p>
          <a:p>
            <a:pPr>
              <a:lnSpc>
                <a:spcPts val="2400"/>
              </a:lnSpc>
            </a:pP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resurslar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(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masalan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, printer,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lenta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)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ketma-ket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ishlatilishni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talab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qiladi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</a:t>
            </a:r>
          </a:p>
          <a:p>
            <a:pPr>
              <a:lnSpc>
                <a:spcPts val="2400"/>
              </a:lnSpc>
            </a:pP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Ularda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oʻzaro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inkorni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bekor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qilish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imkonsiz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</a:t>
            </a:r>
            <a:endParaRPr lang="en-US" sz="2000" dirty="0">
              <a:latin typeface="Bell MT" panose="02020503060305020303" pitchFamily="18" charset="0"/>
            </a:endParaRPr>
          </a:p>
          <a:p>
            <a:pPr>
              <a:lnSpc>
                <a:spcPts val="2400"/>
              </a:lnSpc>
            </a:pPr>
            <a:r>
              <a:rPr lang="en-US" sz="2000" b="1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Fayl</a:t>
            </a:r>
            <a:r>
              <a:rPr lang="en-US" sz="2000" b="1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b="1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Yozish</a:t>
            </a:r>
            <a:r>
              <a:rPr lang="en-US" sz="2000" b="1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: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Ma’lumotlar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butunligini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ta’minlash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uchun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faylga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yozish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operatsiyasi</a:t>
            </a:r>
            <a:r>
              <a:rPr lang="ru-RU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bir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vaqtning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oʻzida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faqat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bitta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jarayonga</a:t>
            </a:r>
            <a:endParaRPr lang="en-US" sz="2000" dirty="0">
              <a:latin typeface="Bell MT" panose="02020503060305020303" pitchFamily="18" charset="0"/>
              <a:ea typeface="Cabin" pitchFamily="34" charset="-122"/>
              <a:cs typeface="Cabin" pitchFamily="34" charset="-120"/>
            </a:endParaRPr>
          </a:p>
          <a:p>
            <a:pPr>
              <a:lnSpc>
                <a:spcPts val="2400"/>
              </a:lnSpc>
            </a:pP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ruxsat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berilishi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kerak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</a:t>
            </a:r>
            <a:endParaRPr lang="en-US" sz="2000" dirty="0">
              <a:latin typeface="Bell MT" panose="02020503060305020303" pitchFamily="18" charset="0"/>
            </a:endParaRPr>
          </a:p>
          <a:p>
            <a:pPr>
              <a:lnSpc>
                <a:spcPts val="2400"/>
              </a:lnSpc>
            </a:pPr>
            <a:endParaRPr lang="en-US" sz="2000" dirty="0">
              <a:latin typeface="Bell MT" panose="02020503060305020303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375766" y="2204357"/>
            <a:ext cx="4555170" cy="5000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b="1" dirty="0" err="1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Yechimga</a:t>
            </a:r>
            <a:r>
              <a:rPr lang="en-US" b="1" dirty="0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b="1" dirty="0" err="1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Yaqinlashuv</a:t>
            </a:r>
            <a:endParaRPr lang="en-US" b="1" dirty="0">
              <a:latin typeface="Bell MT" panose="02020503060305020303" pitchFamily="18" charset="0"/>
              <a:ea typeface="Unbounded" pitchFamily="34" charset="-122"/>
              <a:cs typeface="Unbounded" pitchFamily="34" charset="-120"/>
            </a:endParaRPr>
          </a:p>
          <a:p>
            <a:pPr>
              <a:lnSpc>
                <a:spcPts val="2400"/>
              </a:lnSpc>
            </a:pP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Biroq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, biz </a:t>
            </a:r>
            <a:r>
              <a:rPr lang="en-US" b="1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minimal </a:t>
            </a:r>
            <a:r>
              <a:rPr lang="en-US" b="1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oʻzaro</a:t>
            </a:r>
            <a:r>
              <a:rPr lang="en-US" b="1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b="1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inkor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tamoyilini</a:t>
            </a:r>
            <a:endParaRPr lang="en-US" dirty="0">
              <a:latin typeface="Bell MT" panose="02020503060305020303" pitchFamily="18" charset="0"/>
              <a:ea typeface="Cabin" pitchFamily="34" charset="-122"/>
              <a:cs typeface="Cabin" pitchFamily="34" charset="-120"/>
            </a:endParaRPr>
          </a:p>
          <a:p>
            <a:pPr>
              <a:lnSpc>
                <a:spcPts val="2400"/>
              </a:lnSpc>
            </a:pP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qoʻllashimiz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mumkin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Ya’ni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, agar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mumkin</a:t>
            </a:r>
            <a:endParaRPr lang="en-US" dirty="0">
              <a:latin typeface="Bell MT" panose="02020503060305020303" pitchFamily="18" charset="0"/>
              <a:ea typeface="Cabin" pitchFamily="34" charset="-122"/>
              <a:cs typeface="Cabin" pitchFamily="34" charset="-120"/>
            </a:endParaRPr>
          </a:p>
          <a:p>
            <a:pPr>
              <a:lnSpc>
                <a:spcPts val="2400"/>
              </a:lnSpc>
            </a:pP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boʻlsa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,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resursni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boʻlishishni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ta’minlashimiz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kerak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:</a:t>
            </a:r>
            <a:endParaRPr lang="en-US" dirty="0">
              <a:latin typeface="Bell MT" panose="02020503060305020303" pitchFamily="18" charset="0"/>
            </a:endParaRPr>
          </a:p>
          <a:p>
            <a:pPr>
              <a:lnSpc>
                <a:spcPts val="2400"/>
              </a:lnSpc>
            </a:pPr>
            <a:r>
              <a:rPr lang="en-US" b="1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Oʻqish</a:t>
            </a:r>
            <a:r>
              <a:rPr lang="en-US" b="1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/</a:t>
            </a:r>
            <a:r>
              <a:rPr lang="en-US" b="1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Yozish</a:t>
            </a:r>
            <a:r>
              <a:rPr lang="en-US" b="1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b="1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Blokirovkasi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(Read/Write Locks): </a:t>
            </a:r>
          </a:p>
          <a:p>
            <a:pPr>
              <a:lnSpc>
                <a:spcPts val="2400"/>
              </a:lnSpc>
            </a:pP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Oʻqish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uchun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bir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nechta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jarayonga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ruxsat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berish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,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yozish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uchun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faqat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bittasiga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</a:t>
            </a:r>
          </a:p>
          <a:p>
            <a:pPr>
              <a:lnSpc>
                <a:spcPts val="2400"/>
              </a:lnSpc>
            </a:pPr>
            <a:r>
              <a:rPr lang="en-US" b="1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Virtualizatsiya</a:t>
            </a:r>
            <a:r>
              <a:rPr lang="en-US" b="1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: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Printerlar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kabi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jismoniy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resurslarni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virtualizatsiya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qilish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(spooling)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orqali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tupik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xavfini</a:t>
            </a:r>
            <a:r>
              <a:rPr lang="ru-RU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kamaytirish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mumkin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 Bu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jarayon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resursni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tezda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egallab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,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ishini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yakunlaydi</a:t>
            </a:r>
            <a:r>
              <a:rPr lang="en-US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</a:t>
            </a:r>
            <a:endParaRPr lang="en-US" dirty="0">
              <a:latin typeface="Bell MT" panose="02020503060305020303" pitchFamily="18" charset="0"/>
            </a:endParaRPr>
          </a:p>
          <a:p>
            <a:pPr>
              <a:lnSpc>
                <a:spcPts val="2400"/>
              </a:lnSpc>
            </a:pPr>
            <a:endParaRPr lang="en-US" dirty="0"/>
          </a:p>
          <a:p>
            <a:pPr>
              <a:lnSpc>
                <a:spcPts val="24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166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7886700" cy="619041"/>
          </a:xfrm>
        </p:spPr>
        <p:txBody>
          <a:bodyPr>
            <a:noAutofit/>
          </a:bodyPr>
          <a:lstStyle/>
          <a:p>
            <a:r>
              <a:rPr lang="en-US" sz="2000" b="1" dirty="0" err="1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Tupiklarni</a:t>
            </a:r>
            <a:r>
              <a:rPr lang="en-US" sz="2000" b="1" dirty="0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000" b="1" dirty="0" err="1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Oldini</a:t>
            </a:r>
            <a:r>
              <a:rPr lang="en-US" sz="2000" b="1" dirty="0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000" b="1" dirty="0" err="1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Olish</a:t>
            </a:r>
            <a:r>
              <a:rPr lang="en-US" sz="2000" b="1" dirty="0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: 2-</a:t>
            </a:r>
            <a:r>
              <a:rPr lang="en-US" sz="2000" b="1" dirty="0" err="1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Inkor</a:t>
            </a:r>
            <a:r>
              <a:rPr lang="en-US" sz="2000" b="1" dirty="0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 (Hold and Wait)</a:t>
            </a:r>
            <a:br>
              <a:rPr lang="en-US" sz="2000" b="1" dirty="0">
                <a:latin typeface="Bell MT" panose="02020503060305020303" pitchFamily="18" charset="0"/>
              </a:rPr>
            </a:br>
            <a:endParaRPr lang="ru-RU" sz="20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54304" y="1088837"/>
            <a:ext cx="8023253" cy="1413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Ikkinchi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zaruriy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shart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—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jarayon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ushlab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turib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,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boshqasini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kutishi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 Bu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shartni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buzish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orqali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tupik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ehtimolini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sezilarli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darajada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kamaytirish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mumkin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Asosiy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strategiya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shuki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,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jarayon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soʻrov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qilganida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,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uning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barcha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resurslari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boʻsh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boʻlishi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kerak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</a:t>
            </a:r>
            <a:endParaRPr lang="en-US" sz="2000" dirty="0">
              <a:latin typeface="Bell MT" panose="02020503060305020303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92962" y="2601352"/>
            <a:ext cx="275100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sz="2000" b="1" dirty="0" err="1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Oldindan</a:t>
            </a:r>
            <a:r>
              <a:rPr lang="en-US" sz="2000" b="1" dirty="0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000" b="1" dirty="0" err="1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Soʻrov</a:t>
            </a:r>
            <a:r>
              <a:rPr lang="en-US" sz="2000" b="1" dirty="0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000" b="1" dirty="0" err="1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qilish</a:t>
            </a:r>
            <a:endParaRPr lang="en-US" sz="2000" b="1" dirty="0">
              <a:latin typeface="Bell MT" panose="02020503060305020303" pitchFamily="18" charset="0"/>
              <a:ea typeface="Unbounded" pitchFamily="34" charset="-122"/>
              <a:cs typeface="Unbounded" pitchFamily="34" charset="-120"/>
            </a:endParaRPr>
          </a:p>
          <a:p>
            <a:pPr>
              <a:lnSpc>
                <a:spcPts val="2400"/>
              </a:lnSpc>
            </a:pP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Jarayon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oʻz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ishini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boshlashdan</a:t>
            </a:r>
            <a:r>
              <a:rPr lang="ru-RU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oldin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b="1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barcha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kerakli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resurslarni</a:t>
            </a:r>
            <a:r>
              <a:rPr lang="ru-RU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bir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vaqtning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oʻzida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soʻrashi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shart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 </a:t>
            </a:r>
          </a:p>
          <a:p>
            <a:pPr>
              <a:lnSpc>
                <a:spcPts val="2400"/>
              </a:lnSpc>
            </a:pP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Agar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barcha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soʻralgan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resurslar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mavjud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boʻlsa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,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ular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ajratiladi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,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aks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holda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hech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biri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ajratilmaydi</a:t>
            </a:r>
            <a:r>
              <a:rPr lang="en-US" sz="2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2000" dirty="0"/>
          </a:p>
          <a:p>
            <a:pPr>
              <a:lnSpc>
                <a:spcPts val="2400"/>
              </a:lnSpc>
            </a:pPr>
            <a:endParaRPr lang="en-US" sz="20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043969" y="2601352"/>
            <a:ext cx="275171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sz="2000" b="1" dirty="0" err="1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Mavjud</a:t>
            </a:r>
            <a:r>
              <a:rPr lang="en-US" sz="2000" b="1" dirty="0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000" b="1" dirty="0" err="1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resurslarni</a:t>
            </a:r>
            <a:r>
              <a:rPr lang="en-US" sz="2000" b="1" dirty="0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000" b="1" dirty="0" err="1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Boʻshatish</a:t>
            </a:r>
            <a:endParaRPr lang="en-US" sz="2000" b="1" dirty="0">
              <a:latin typeface="Bell MT" panose="02020503060305020303" pitchFamily="18" charset="0"/>
              <a:ea typeface="Unbounded" pitchFamily="34" charset="-122"/>
              <a:cs typeface="Unbounded" pitchFamily="34" charset="-120"/>
            </a:endParaRPr>
          </a:p>
          <a:p>
            <a:pPr>
              <a:lnSpc>
                <a:spcPts val="2400"/>
              </a:lnSpc>
            </a:pP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Agar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jarayon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yangi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soʻrasa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va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ular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mavjud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boʻlmasa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,</a:t>
            </a:r>
          </a:p>
          <a:p>
            <a:pPr>
              <a:lnSpc>
                <a:spcPts val="2400"/>
              </a:lnSpc>
            </a:pP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jarayon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avval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ushlab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turgan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barcha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resurslarni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avtomatik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</a:p>
          <a:p>
            <a:pPr>
              <a:lnSpc>
                <a:spcPts val="2400"/>
              </a:lnSpc>
            </a:pP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ravishda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boʻshatishi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kerak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Keyinroq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barcha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resurslarni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(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eski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va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yangi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)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birgalikda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qayta</a:t>
            </a:r>
            <a:r>
              <a:rPr lang="ru-RU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soʻraydi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</a:t>
            </a:r>
            <a:endParaRPr lang="en-US" sz="2000" dirty="0">
              <a:latin typeface="Bell MT" panose="02020503060305020303" pitchFamily="18" charset="0"/>
            </a:endParaRPr>
          </a:p>
          <a:p>
            <a:pPr>
              <a:lnSpc>
                <a:spcPts val="2400"/>
              </a:lnSpc>
            </a:pPr>
            <a:endParaRPr lang="en-US" sz="20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5794976" y="2601352"/>
            <a:ext cx="298432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sz="2000" b="1" dirty="0" err="1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Samaradorlik</a:t>
            </a:r>
            <a:r>
              <a:rPr lang="en-US" sz="2000" b="1" dirty="0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000" b="1" dirty="0" err="1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Muammosi</a:t>
            </a:r>
            <a:endParaRPr lang="en-US" sz="2000" b="1" dirty="0">
              <a:latin typeface="Bell MT" panose="02020503060305020303" pitchFamily="18" charset="0"/>
              <a:ea typeface="Unbounded" pitchFamily="34" charset="-122"/>
              <a:cs typeface="Unbounded" pitchFamily="34" charset="-120"/>
            </a:endParaRPr>
          </a:p>
          <a:p>
            <a:pPr>
              <a:lnSpc>
                <a:spcPts val="2400"/>
              </a:lnSpc>
            </a:pP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Bu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yondashuv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tupiklarni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oldini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olsada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,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resurslardan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foydalanish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samaradorligini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pasaytiradi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,</a:t>
            </a:r>
            <a:r>
              <a:rPr lang="ru-RU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chunki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resurslar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uzoq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vaqt</a:t>
            </a:r>
            <a:endParaRPr lang="en-US" sz="2000" dirty="0">
              <a:latin typeface="Bell MT" panose="02020503060305020303" pitchFamily="18" charset="0"/>
              <a:ea typeface="Cabin" pitchFamily="34" charset="-122"/>
              <a:cs typeface="Cabin" pitchFamily="34" charset="-120"/>
            </a:endParaRPr>
          </a:p>
          <a:p>
            <a:pPr>
              <a:lnSpc>
                <a:spcPts val="2400"/>
              </a:lnSpc>
            </a:pP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davomida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ajratilgan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holatda</a:t>
            </a:r>
            <a:r>
              <a:rPr lang="ru-RU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boʻlib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,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ulardan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faol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foydalanilmasligi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mumkin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Shuningdek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,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ochligi</a:t>
            </a:r>
            <a:endParaRPr lang="en-US" sz="2000" dirty="0">
              <a:latin typeface="Bell MT" panose="02020503060305020303" pitchFamily="18" charset="0"/>
              <a:ea typeface="Cabin" pitchFamily="34" charset="-122"/>
              <a:cs typeface="Cabin" pitchFamily="34" charset="-120"/>
            </a:endParaRPr>
          </a:p>
          <a:p>
            <a:pPr>
              <a:lnSpc>
                <a:spcPts val="2400"/>
              </a:lnSpc>
            </a:pP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(starvation)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muammosiga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olib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kelishi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mumkin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</a:t>
            </a:r>
            <a:endParaRPr lang="en-US" sz="2000" dirty="0">
              <a:latin typeface="Bell MT" panose="02020503060305020303" pitchFamily="18" charset="0"/>
            </a:endParaRPr>
          </a:p>
          <a:p>
            <a:pPr>
              <a:lnSpc>
                <a:spcPts val="24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78611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29841" y="155681"/>
            <a:ext cx="7886700" cy="535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850"/>
              </a:lnSpc>
            </a:pPr>
            <a:r>
              <a:rPr lang="en-US" sz="2000" b="1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Tupiklarni</a:t>
            </a:r>
            <a:r>
              <a:rPr lang="en-US" sz="2000" b="1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000" b="1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Oldini</a:t>
            </a:r>
            <a:r>
              <a:rPr lang="en-US" sz="2000" b="1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000" b="1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Olish</a:t>
            </a:r>
            <a:r>
              <a:rPr lang="en-US" sz="2000" b="1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: 3-</a:t>
            </a:r>
            <a:r>
              <a:rPr lang="en-US" sz="2000" b="1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Inkor</a:t>
            </a:r>
            <a:r>
              <a:rPr lang="en-US" sz="2000" b="1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 (No Preemption) </a:t>
            </a:r>
            <a:r>
              <a:rPr lang="en-US" sz="2000" b="1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va</a:t>
            </a:r>
            <a:r>
              <a:rPr lang="en-US" sz="2000" b="1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000" b="1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Boshqarish</a:t>
            </a:r>
            <a:endParaRPr lang="en-US" sz="2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29840" y="682235"/>
            <a:ext cx="8125741" cy="1413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Uchinchi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shart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—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oldindan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tortib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olish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mumkin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emas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 Bu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shartni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inkor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etish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uchun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, agar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bir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jarayon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oʻziga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kerakli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ololmasa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,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undan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resurslarni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majburiy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ravishda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tortib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olish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mumkin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boʻlishi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kerak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 Bu,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ayniqsa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,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yuqori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ustuvorlikka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ega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jarayonlar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uchun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foydali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boʻlishi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mumkin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</a:t>
            </a:r>
            <a:endParaRPr lang="en-US" sz="2000" dirty="0">
              <a:latin typeface="Bell MT" panose="02020503060305020303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29840" y="2214716"/>
            <a:ext cx="248439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sz="2000" b="1" dirty="0" err="1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Resurs</a:t>
            </a:r>
            <a:r>
              <a:rPr lang="en-US" sz="2000" b="1" dirty="0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000" b="1" dirty="0" err="1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Soʻrovi</a:t>
            </a:r>
            <a:endParaRPr lang="en-US" sz="2000" b="1" dirty="0">
              <a:latin typeface="Bell MT" panose="02020503060305020303" pitchFamily="18" charset="0"/>
              <a:ea typeface="Unbounded" pitchFamily="34" charset="-122"/>
              <a:cs typeface="Unbounded" pitchFamily="34" charset="-120"/>
            </a:endParaRPr>
          </a:p>
          <a:p>
            <a:pPr>
              <a:lnSpc>
                <a:spcPts val="2400"/>
              </a:lnSpc>
            </a:pP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Jarayon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(P)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qoʻshimcha</a:t>
            </a:r>
            <a:endParaRPr lang="en-US" sz="2000" dirty="0">
              <a:latin typeface="Bell MT" panose="02020503060305020303" pitchFamily="18" charset="0"/>
              <a:ea typeface="Cabin" pitchFamily="34" charset="-122"/>
              <a:cs typeface="Cabin" pitchFamily="34" charset="-120"/>
            </a:endParaRPr>
          </a:p>
          <a:p>
            <a:pPr>
              <a:lnSpc>
                <a:spcPts val="2400"/>
              </a:lnSpc>
            </a:pP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soʻraydi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 Agar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bu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</a:t>
            </a:r>
            <a:r>
              <a:rPr lang="ru-RU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boshqa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bir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jarayon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(Q)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tomonidan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ushlab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turilgan</a:t>
            </a:r>
            <a:r>
              <a:rPr lang="ru-RU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boʻlsa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va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Q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hozirda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kutish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</a:p>
          <a:p>
            <a:pPr>
              <a:lnSpc>
                <a:spcPts val="2400"/>
              </a:lnSpc>
            </a:pP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holatida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boʻlsa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...</a:t>
            </a:r>
            <a:endParaRPr lang="en-US" sz="2000" dirty="0">
              <a:latin typeface="Bell MT" panose="02020503060305020303" pitchFamily="18" charset="0"/>
            </a:endParaRPr>
          </a:p>
          <a:p>
            <a:pPr>
              <a:lnSpc>
                <a:spcPts val="2400"/>
              </a:lnSpc>
            </a:pPr>
            <a:endParaRPr lang="en-US" sz="20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196658" y="2214716"/>
            <a:ext cx="2582705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sz="2000" b="1" dirty="0" err="1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Majburiy</a:t>
            </a:r>
            <a:r>
              <a:rPr lang="en-US" sz="2000" b="1" dirty="0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000" b="1" dirty="0" err="1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Tortib</a:t>
            </a:r>
            <a:r>
              <a:rPr lang="en-US" sz="2000" b="1" dirty="0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000" b="1" dirty="0" err="1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Olish</a:t>
            </a:r>
            <a:r>
              <a:rPr lang="ru-RU" sz="2000" b="1" dirty="0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tizim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Q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jarayonidan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</a:p>
          <a:p>
            <a:pPr>
              <a:lnSpc>
                <a:spcPts val="2400"/>
              </a:lnSpc>
            </a:pP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majburiy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ravishda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tortib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olishi</a:t>
            </a:r>
            <a:r>
              <a:rPr lang="ru-RU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va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uni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P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jarayoniga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berishi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</a:p>
          <a:p>
            <a:pPr>
              <a:lnSpc>
                <a:spcPts val="2400"/>
              </a:lnSpc>
            </a:pP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mumkin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tortib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olingan</a:t>
            </a:r>
            <a:r>
              <a:rPr lang="ru-RU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jarayon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(Q)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kutish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holatiga</a:t>
            </a:r>
            <a:endParaRPr lang="en-US" sz="2000" dirty="0">
              <a:latin typeface="Bell MT" panose="02020503060305020303" pitchFamily="18" charset="0"/>
              <a:ea typeface="Cabin" pitchFamily="34" charset="-122"/>
              <a:cs typeface="Cabin" pitchFamily="34" charset="-120"/>
            </a:endParaRPr>
          </a:p>
          <a:p>
            <a:pPr>
              <a:lnSpc>
                <a:spcPts val="2400"/>
              </a:lnSpc>
            </a:pP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oʻtadi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</a:t>
            </a:r>
            <a:endParaRPr lang="en-US" sz="2000" dirty="0">
              <a:latin typeface="Bell MT" panose="02020503060305020303" pitchFamily="18" charset="0"/>
            </a:endParaRPr>
          </a:p>
          <a:p>
            <a:pPr>
              <a:lnSpc>
                <a:spcPts val="2400"/>
              </a:lnSpc>
            </a:pPr>
            <a:endParaRPr lang="en-US" sz="20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095323" y="2214716"/>
            <a:ext cx="276459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sz="2000" b="1" dirty="0" err="1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Qayta</a:t>
            </a:r>
            <a:r>
              <a:rPr lang="en-US" sz="2000" b="1" dirty="0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000" b="1" dirty="0" err="1">
                <a:latin typeface="Bell MT" panose="02020503060305020303" pitchFamily="18" charset="0"/>
                <a:ea typeface="Unbounded" pitchFamily="34" charset="-122"/>
                <a:cs typeface="Unbounded" pitchFamily="34" charset="-120"/>
              </a:rPr>
              <a:t>Soʻrov</a:t>
            </a:r>
            <a:endParaRPr lang="en-US" sz="2000" b="1" dirty="0">
              <a:latin typeface="Bell MT" panose="02020503060305020303" pitchFamily="18" charset="0"/>
              <a:ea typeface="Unbounded" pitchFamily="34" charset="-122"/>
              <a:cs typeface="Unbounded" pitchFamily="34" charset="-120"/>
            </a:endParaRPr>
          </a:p>
          <a:p>
            <a:pPr>
              <a:lnSpc>
                <a:spcPts val="2400"/>
              </a:lnSpc>
            </a:pP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Q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jarayoni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oʻz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ishini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davom</a:t>
            </a:r>
            <a:r>
              <a:rPr lang="ru-RU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ettirish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uchun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keyinroq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oʻz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resurslarini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(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tortib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olingan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ham)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qayta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soʻrashi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</a:p>
          <a:p>
            <a:pPr>
              <a:lnSpc>
                <a:spcPts val="2400"/>
              </a:lnSpc>
            </a:pP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kerak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boʻladi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 Bu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usul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tupik</a:t>
            </a:r>
            <a:r>
              <a:rPr lang="ru-RU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ehtimolini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kamaytiradi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</a:t>
            </a:r>
            <a:endParaRPr lang="en-US" sz="2000" dirty="0">
              <a:latin typeface="Bell MT" panose="02020503060305020303" pitchFamily="18" charset="0"/>
            </a:endParaRPr>
          </a:p>
          <a:p>
            <a:pPr>
              <a:lnSpc>
                <a:spcPts val="2400"/>
              </a:lnSpc>
            </a:pPr>
            <a:endParaRPr lang="en-US" sz="20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25653" y="5503639"/>
            <a:ext cx="8434262" cy="1080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Bu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yondashuv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resurslarning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holatini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saqlash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va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tiklash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qobiliyatini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talab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qiladi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 U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asosan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tezkor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kirish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/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chiqish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(I/O)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qurilmalari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kabi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holatni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saqlab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boʻladigan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resurslar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uchun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samarali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000" dirty="0" err="1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hisoblanadi</a:t>
            </a:r>
            <a:r>
              <a:rPr lang="en-US" sz="2000" dirty="0">
                <a:latin typeface="Bell MT" panose="02020503060305020303" pitchFamily="18" charset="0"/>
                <a:ea typeface="Cabin" pitchFamily="34" charset="-122"/>
                <a:cs typeface="Cabin" pitchFamily="34" charset="-120"/>
              </a:rPr>
              <a:t>.</a:t>
            </a:r>
            <a:endParaRPr lang="en-US" sz="20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3365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A8AE001-BF4A-42F0-BEEC-FF25AF10E5F5}"/>
              </a:ext>
            </a:extLst>
          </p:cNvPr>
          <p:cNvSpPr txBox="1"/>
          <p:nvPr/>
        </p:nvSpPr>
        <p:spPr>
          <a:xfrm>
            <a:off x="572608" y="560124"/>
            <a:ext cx="81541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Tupik</a:t>
            </a:r>
            <a:r>
              <a:rPr lang="en-US" b="1" dirty="0"/>
              <a:t> nuqta (Deadlock) </a:t>
            </a:r>
            <a:r>
              <a:rPr lang="en-US" b="1" dirty="0" err="1"/>
              <a:t>nima</a:t>
            </a:r>
            <a:r>
              <a:rPr lang="en-US" b="1" dirty="0"/>
              <a:t>?</a:t>
            </a:r>
          </a:p>
          <a:p>
            <a:r>
              <a:rPr lang="en-US" b="1" dirty="0" err="1"/>
              <a:t>Tupik</a:t>
            </a:r>
            <a:r>
              <a:rPr lang="en-US" b="1" dirty="0"/>
              <a:t> nuqta</a:t>
            </a:r>
            <a:r>
              <a:rPr lang="en-US" dirty="0"/>
              <a:t> —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operatsion</a:t>
            </a:r>
            <a:r>
              <a:rPr lang="en-US" dirty="0"/>
              <a:t> </a:t>
            </a:r>
            <a:r>
              <a:rPr lang="en-US" dirty="0" err="1"/>
              <a:t>tizim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dasturda</a:t>
            </a:r>
            <a:r>
              <a:rPr lang="en-US" dirty="0"/>
              <a:t> </a:t>
            </a:r>
            <a:r>
              <a:rPr lang="en-US" dirty="0" err="1"/>
              <a:t>ikki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undan</a:t>
            </a:r>
            <a:r>
              <a:rPr lang="en-US" dirty="0"/>
              <a:t> </a:t>
            </a:r>
            <a:r>
              <a:rPr lang="en-US" dirty="0" err="1"/>
              <a:t>ortiq</a:t>
            </a:r>
            <a:r>
              <a:rPr lang="en-US" dirty="0"/>
              <a:t> </a:t>
            </a:r>
            <a:r>
              <a:rPr lang="en-US" dirty="0" err="1"/>
              <a:t>jarayon</a:t>
            </a:r>
            <a:r>
              <a:rPr lang="en-US" dirty="0"/>
              <a:t> (process/thread) </a:t>
            </a:r>
            <a:r>
              <a:rPr lang="en-US" dirty="0" err="1"/>
              <a:t>bir-birining</a:t>
            </a:r>
            <a:r>
              <a:rPr lang="en-US" dirty="0"/>
              <a:t> </a:t>
            </a:r>
            <a:r>
              <a:rPr lang="en-US" dirty="0" err="1"/>
              <a:t>resursini</a:t>
            </a:r>
            <a:r>
              <a:rPr lang="en-US" dirty="0"/>
              <a:t> </a:t>
            </a:r>
            <a:r>
              <a:rPr lang="en-US" dirty="0" err="1"/>
              <a:t>kutib</a:t>
            </a:r>
            <a:r>
              <a:rPr lang="en-US" dirty="0"/>
              <a:t> </a:t>
            </a:r>
            <a:r>
              <a:rPr lang="en-US" dirty="0" err="1"/>
              <a:t>qolgan</a:t>
            </a:r>
            <a:r>
              <a:rPr lang="en-US" dirty="0"/>
              <a:t> </a:t>
            </a:r>
            <a:r>
              <a:rPr lang="en-US" dirty="0" err="1"/>
              <a:t>holatdir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Natijada</a:t>
            </a:r>
            <a:r>
              <a:rPr lang="en-US" dirty="0"/>
              <a:t> </a:t>
            </a:r>
            <a:r>
              <a:rPr lang="en-US" b="1" dirty="0" err="1"/>
              <a:t>hech</a:t>
            </a:r>
            <a:r>
              <a:rPr lang="en-US" b="1" dirty="0"/>
              <a:t> </a:t>
            </a:r>
            <a:r>
              <a:rPr lang="en-US" b="1" dirty="0" err="1"/>
              <a:t>biri</a:t>
            </a:r>
            <a:r>
              <a:rPr lang="en-US" b="1" dirty="0"/>
              <a:t> </a:t>
            </a:r>
            <a:r>
              <a:rPr lang="en-US" b="1" dirty="0" err="1"/>
              <a:t>harakatni</a:t>
            </a:r>
            <a:r>
              <a:rPr lang="en-US" b="1" dirty="0"/>
              <a:t> </a:t>
            </a:r>
            <a:r>
              <a:rPr lang="en-US" b="1" dirty="0" err="1"/>
              <a:t>davom</a:t>
            </a:r>
            <a:r>
              <a:rPr lang="en-US" b="1" dirty="0"/>
              <a:t> </a:t>
            </a:r>
            <a:r>
              <a:rPr lang="en-US" b="1" dirty="0" err="1"/>
              <a:t>ettira</a:t>
            </a:r>
            <a:r>
              <a:rPr lang="en-US" b="1" dirty="0"/>
              <a:t> </a:t>
            </a:r>
            <a:r>
              <a:rPr lang="en-US" b="1" dirty="0" err="1"/>
              <a:t>olmaydi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474A6A-EAF0-4494-A2CF-AF056C273EC0}"/>
              </a:ext>
            </a:extLst>
          </p:cNvPr>
          <p:cNvSpPr txBox="1"/>
          <p:nvPr/>
        </p:nvSpPr>
        <p:spPr>
          <a:xfrm>
            <a:off x="572608" y="1987676"/>
            <a:ext cx="7932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Tupik</a:t>
            </a:r>
            <a:r>
              <a:rPr lang="en-US" b="1" dirty="0"/>
              <a:t> </a:t>
            </a:r>
            <a:r>
              <a:rPr lang="en-US" b="1" dirty="0" err="1"/>
              <a:t>nuqtani</a:t>
            </a:r>
            <a:r>
              <a:rPr lang="en-US" b="1" dirty="0"/>
              <a:t> </a:t>
            </a:r>
            <a:r>
              <a:rPr lang="en-US" b="1" dirty="0" err="1"/>
              <a:t>aniqlash</a:t>
            </a:r>
            <a:r>
              <a:rPr lang="en-US" b="1" dirty="0"/>
              <a:t> (Deadlock Detection)</a:t>
            </a:r>
          </a:p>
          <a:p>
            <a:r>
              <a:rPr lang="en-US" dirty="0" err="1"/>
              <a:t>Tizimda</a:t>
            </a:r>
            <a:r>
              <a:rPr lang="en-US" dirty="0"/>
              <a:t> </a:t>
            </a:r>
            <a:r>
              <a:rPr lang="en-US" dirty="0" err="1"/>
              <a:t>tupik</a:t>
            </a:r>
            <a:r>
              <a:rPr lang="en-US" dirty="0"/>
              <a:t> </a:t>
            </a:r>
            <a:r>
              <a:rPr lang="en-US" dirty="0" err="1"/>
              <a:t>bor-yo‘qligini</a:t>
            </a:r>
            <a:r>
              <a:rPr lang="en-US" dirty="0"/>
              <a:t> </a:t>
            </a:r>
            <a:r>
              <a:rPr lang="en-US" dirty="0" err="1"/>
              <a:t>aniqlash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b="1" dirty="0" err="1"/>
              <a:t>resurslar</a:t>
            </a:r>
            <a:r>
              <a:rPr lang="en-US" b="1" dirty="0"/>
              <a:t> </a:t>
            </a:r>
            <a:r>
              <a:rPr lang="en-US" b="1" dirty="0" err="1"/>
              <a:t>taqsimoti</a:t>
            </a:r>
            <a:r>
              <a:rPr lang="en-US" b="1" dirty="0"/>
              <a:t> </a:t>
            </a:r>
            <a:r>
              <a:rPr lang="en-US" b="1" dirty="0" err="1"/>
              <a:t>jadvali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b="1" dirty="0" err="1"/>
              <a:t>kutish</a:t>
            </a:r>
            <a:r>
              <a:rPr lang="en-US" b="1" dirty="0"/>
              <a:t> </a:t>
            </a:r>
            <a:r>
              <a:rPr lang="en-US" b="1" dirty="0" err="1"/>
              <a:t>grafigi</a:t>
            </a:r>
            <a:r>
              <a:rPr lang="en-US" b="1" dirty="0"/>
              <a:t> (Wait-for graph)</a:t>
            </a:r>
            <a:r>
              <a:rPr lang="en-US" dirty="0"/>
              <a:t> </a:t>
            </a:r>
            <a:r>
              <a:rPr lang="en-US" dirty="0" err="1"/>
              <a:t>ishlatiladi</a:t>
            </a:r>
            <a:r>
              <a:rPr lang="en-US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7A6EA6-717A-43E9-A055-2F99AAB2E1F7}"/>
              </a:ext>
            </a:extLst>
          </p:cNvPr>
          <p:cNvSpPr txBox="1"/>
          <p:nvPr/>
        </p:nvSpPr>
        <p:spPr>
          <a:xfrm>
            <a:off x="572608" y="3138229"/>
            <a:ext cx="824735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Asosiy</a:t>
            </a:r>
            <a:r>
              <a:rPr lang="en-US" b="1" dirty="0"/>
              <a:t> </a:t>
            </a:r>
            <a:r>
              <a:rPr lang="en-US" b="1" dirty="0" err="1"/>
              <a:t>belgilar</a:t>
            </a:r>
            <a:r>
              <a:rPr lang="en-US" b="1" dirty="0"/>
              <a:t>:</a:t>
            </a:r>
          </a:p>
          <a:p>
            <a:r>
              <a:rPr lang="en-US" dirty="0" err="1"/>
              <a:t>Tupik</a:t>
            </a:r>
            <a:r>
              <a:rPr lang="en-US" dirty="0"/>
              <a:t> </a:t>
            </a:r>
            <a:r>
              <a:rPr lang="en-US" dirty="0" err="1"/>
              <a:t>to‘rt</a:t>
            </a:r>
            <a:r>
              <a:rPr lang="en-US" dirty="0"/>
              <a:t> </a:t>
            </a:r>
            <a:r>
              <a:rPr lang="en-US" dirty="0" err="1"/>
              <a:t>shart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vaqtda</a:t>
            </a:r>
            <a:r>
              <a:rPr lang="en-US" dirty="0"/>
              <a:t> </a:t>
            </a:r>
            <a:r>
              <a:rPr lang="en-US" dirty="0" err="1"/>
              <a:t>mavjud</a:t>
            </a:r>
            <a:r>
              <a:rPr lang="en-US" dirty="0"/>
              <a:t> </a:t>
            </a:r>
            <a:r>
              <a:rPr lang="en-US" dirty="0" err="1"/>
              <a:t>bo‘lganda</a:t>
            </a:r>
            <a:r>
              <a:rPr lang="en-US" dirty="0"/>
              <a:t> </a:t>
            </a:r>
            <a:r>
              <a:rPr lang="en-US" dirty="0" err="1"/>
              <a:t>yuz</a:t>
            </a:r>
            <a:r>
              <a:rPr lang="en-US" dirty="0"/>
              <a:t> </a:t>
            </a:r>
            <a:r>
              <a:rPr lang="en-US" dirty="0" err="1"/>
              <a:t>beradi</a:t>
            </a:r>
            <a:r>
              <a:rPr lang="en-US" dirty="0"/>
              <a:t>:</a:t>
            </a:r>
          </a:p>
          <a:p>
            <a:pPr>
              <a:buFont typeface="+mj-lt"/>
              <a:buAutoNum type="arabicPeriod"/>
            </a:pP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O‘zaro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istisno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/>
              <a:t>(Mutual Exclusion)</a:t>
            </a:r>
            <a:r>
              <a:rPr lang="en-US" dirty="0"/>
              <a:t> — </a:t>
            </a:r>
            <a:r>
              <a:rPr lang="en-US" dirty="0" err="1"/>
              <a:t>resurs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vaqtning</a:t>
            </a:r>
            <a:r>
              <a:rPr lang="en-US" dirty="0"/>
              <a:t> </a:t>
            </a:r>
            <a:r>
              <a:rPr lang="en-US" dirty="0" err="1"/>
              <a:t>o‘zida</a:t>
            </a:r>
            <a:r>
              <a:rPr lang="en-US" dirty="0"/>
              <a:t> </a:t>
            </a:r>
            <a:r>
              <a:rPr lang="en-US" dirty="0" err="1"/>
              <a:t>faqat</a:t>
            </a:r>
            <a:r>
              <a:rPr lang="en-US" dirty="0"/>
              <a:t> </a:t>
            </a:r>
            <a:r>
              <a:rPr lang="en-US" dirty="0" err="1"/>
              <a:t>bitta</a:t>
            </a:r>
            <a:r>
              <a:rPr lang="en-US" dirty="0"/>
              <a:t> </a:t>
            </a:r>
            <a:r>
              <a:rPr lang="en-US" dirty="0" err="1"/>
              <a:t>jarayonga</a:t>
            </a:r>
            <a:r>
              <a:rPr lang="en-US" dirty="0"/>
              <a:t> </a:t>
            </a:r>
            <a:r>
              <a:rPr lang="en-US" dirty="0" err="1"/>
              <a:t>berilgan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b="1" dirty="0" err="1"/>
              <a:t>Resursni</a:t>
            </a:r>
            <a:r>
              <a:rPr lang="en-US" b="1" dirty="0"/>
              <a:t> </a:t>
            </a:r>
            <a:r>
              <a:rPr lang="en-US" b="1" dirty="0" err="1"/>
              <a:t>ushlab</a:t>
            </a:r>
            <a:r>
              <a:rPr lang="en-US" b="1" dirty="0"/>
              <a:t> </a:t>
            </a:r>
            <a:r>
              <a:rPr lang="en-US" b="1" dirty="0" err="1"/>
              <a:t>turib</a:t>
            </a:r>
            <a:r>
              <a:rPr lang="en-US" b="1" dirty="0"/>
              <a:t> </a:t>
            </a:r>
            <a:r>
              <a:rPr lang="en-US" b="1" dirty="0" err="1"/>
              <a:t>kutish</a:t>
            </a:r>
            <a:r>
              <a:rPr lang="en-US" b="1" dirty="0"/>
              <a:t> (Hold and Wait)</a:t>
            </a:r>
            <a:r>
              <a:rPr lang="en-US" dirty="0"/>
              <a:t> — </a:t>
            </a:r>
            <a:r>
              <a:rPr lang="en-US" dirty="0" err="1"/>
              <a:t>jarayon</a:t>
            </a:r>
            <a:r>
              <a:rPr lang="en-US" dirty="0"/>
              <a:t> </a:t>
            </a:r>
            <a:r>
              <a:rPr lang="en-US" dirty="0" err="1"/>
              <a:t>bitta</a:t>
            </a:r>
            <a:r>
              <a:rPr lang="en-US" dirty="0"/>
              <a:t> </a:t>
            </a:r>
            <a:r>
              <a:rPr lang="en-US" dirty="0" err="1"/>
              <a:t>resursni</a:t>
            </a:r>
            <a:r>
              <a:rPr lang="en-US" dirty="0"/>
              <a:t> </a:t>
            </a:r>
            <a:r>
              <a:rPr lang="en-US" dirty="0" err="1"/>
              <a:t>ushlab</a:t>
            </a:r>
            <a:r>
              <a:rPr lang="en-US" dirty="0"/>
              <a:t>, </a:t>
            </a:r>
            <a:r>
              <a:rPr lang="en-US" dirty="0" err="1"/>
              <a:t>boshqasini</a:t>
            </a:r>
            <a:r>
              <a:rPr lang="en-US" dirty="0"/>
              <a:t> </a:t>
            </a:r>
            <a:r>
              <a:rPr lang="en-US" dirty="0" err="1"/>
              <a:t>kutyapti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b="1" dirty="0" err="1"/>
              <a:t>Majburiy</a:t>
            </a:r>
            <a:r>
              <a:rPr lang="en-US" b="1" dirty="0"/>
              <a:t> </a:t>
            </a:r>
            <a:r>
              <a:rPr lang="en-US" b="1" dirty="0" err="1"/>
              <a:t>qaytarish</a:t>
            </a:r>
            <a:r>
              <a:rPr lang="en-US" b="1" dirty="0"/>
              <a:t> </a:t>
            </a:r>
            <a:r>
              <a:rPr lang="en-US" b="1" dirty="0" err="1"/>
              <a:t>yo‘q</a:t>
            </a:r>
            <a:r>
              <a:rPr lang="en-US" b="1" dirty="0"/>
              <a:t> (No Preemption)</a:t>
            </a:r>
            <a:r>
              <a:rPr lang="en-US" dirty="0"/>
              <a:t> — </a:t>
            </a:r>
            <a:r>
              <a:rPr lang="en-US" dirty="0" err="1"/>
              <a:t>tizim</a:t>
            </a:r>
            <a:r>
              <a:rPr lang="en-US" dirty="0"/>
              <a:t> </a:t>
            </a:r>
            <a:r>
              <a:rPr lang="en-US" dirty="0" err="1"/>
              <a:t>resursni</a:t>
            </a:r>
            <a:r>
              <a:rPr lang="en-US" dirty="0"/>
              <a:t> </a:t>
            </a:r>
            <a:r>
              <a:rPr lang="en-US" dirty="0" err="1"/>
              <a:t>majburan</a:t>
            </a:r>
            <a:r>
              <a:rPr lang="en-US" dirty="0"/>
              <a:t> </a:t>
            </a:r>
            <a:r>
              <a:rPr lang="en-US" dirty="0" err="1"/>
              <a:t>tortib</a:t>
            </a:r>
            <a:r>
              <a:rPr lang="en-US" dirty="0"/>
              <a:t> </a:t>
            </a:r>
            <a:r>
              <a:rPr lang="en-US" dirty="0" err="1"/>
              <a:t>ololmaydi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b="1" dirty="0" err="1"/>
              <a:t>Doira</a:t>
            </a:r>
            <a:r>
              <a:rPr lang="en-US" b="1" dirty="0"/>
              <a:t> </a:t>
            </a:r>
            <a:r>
              <a:rPr lang="en-US" b="1" dirty="0" err="1"/>
              <a:t>bo‘ylab</a:t>
            </a:r>
            <a:r>
              <a:rPr lang="en-US" b="1" dirty="0"/>
              <a:t> </a:t>
            </a:r>
            <a:r>
              <a:rPr lang="en-US" b="1" dirty="0" err="1"/>
              <a:t>kutish</a:t>
            </a:r>
            <a:r>
              <a:rPr lang="en-US" b="1" dirty="0"/>
              <a:t> (Circular Wait)</a:t>
            </a:r>
            <a:r>
              <a:rPr lang="en-US" dirty="0"/>
              <a:t> — </a:t>
            </a:r>
            <a:r>
              <a:rPr lang="en-US" dirty="0" err="1"/>
              <a:t>jarayonlar</a:t>
            </a:r>
            <a:r>
              <a:rPr lang="en-US" dirty="0"/>
              <a:t> </a:t>
            </a:r>
            <a:r>
              <a:rPr lang="en-US" dirty="0" err="1"/>
              <a:t>doira</a:t>
            </a:r>
            <a:r>
              <a:rPr lang="en-US" dirty="0"/>
              <a:t> </a:t>
            </a:r>
            <a:r>
              <a:rPr lang="en-US" dirty="0" err="1"/>
              <a:t>bo‘lib</a:t>
            </a:r>
            <a:r>
              <a:rPr lang="en-US" dirty="0"/>
              <a:t> </a:t>
            </a:r>
            <a:r>
              <a:rPr lang="en-US" dirty="0" err="1"/>
              <a:t>bir-birining</a:t>
            </a:r>
            <a:r>
              <a:rPr lang="en-US" dirty="0"/>
              <a:t> </a:t>
            </a:r>
            <a:r>
              <a:rPr lang="en-US" dirty="0" err="1"/>
              <a:t>resursini</a:t>
            </a:r>
            <a:r>
              <a:rPr lang="en-US" dirty="0"/>
              <a:t> </a:t>
            </a:r>
            <a:r>
              <a:rPr lang="en-US" dirty="0" err="1"/>
              <a:t>kutishmoqda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5805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7E3191-DD38-4ECA-8348-3996CFA139FA}"/>
              </a:ext>
            </a:extLst>
          </p:cNvPr>
          <p:cNvSpPr txBox="1"/>
          <p:nvPr/>
        </p:nvSpPr>
        <p:spPr>
          <a:xfrm>
            <a:off x="497150" y="566678"/>
            <a:ext cx="517568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Tupikni</a:t>
            </a:r>
            <a:r>
              <a:rPr lang="en-US" b="1" dirty="0"/>
              <a:t> </a:t>
            </a:r>
            <a:r>
              <a:rPr lang="en-US" b="1" dirty="0" err="1"/>
              <a:t>tiklash</a:t>
            </a:r>
            <a:r>
              <a:rPr lang="en-US" b="1" dirty="0"/>
              <a:t> (Deadlock Recovery)</a:t>
            </a:r>
          </a:p>
          <a:p>
            <a:r>
              <a:rPr lang="en-US" dirty="0" err="1"/>
              <a:t>Tupik</a:t>
            </a:r>
            <a:r>
              <a:rPr lang="en-US" dirty="0"/>
              <a:t> </a:t>
            </a:r>
            <a:r>
              <a:rPr lang="en-US" dirty="0" err="1"/>
              <a:t>aniqlangandan</a:t>
            </a:r>
            <a:r>
              <a:rPr lang="en-US" dirty="0"/>
              <a:t> </a:t>
            </a:r>
            <a:r>
              <a:rPr lang="en-US" dirty="0" err="1"/>
              <a:t>so‘ng</a:t>
            </a:r>
            <a:r>
              <a:rPr lang="en-US" dirty="0"/>
              <a:t> </a:t>
            </a:r>
            <a:r>
              <a:rPr lang="en-US" dirty="0" err="1"/>
              <a:t>tizim</a:t>
            </a:r>
            <a:r>
              <a:rPr lang="en-US" dirty="0"/>
              <a:t> </a:t>
            </a:r>
            <a:r>
              <a:rPr lang="en-US" b="1" dirty="0" err="1"/>
              <a:t>uni</a:t>
            </a:r>
            <a:r>
              <a:rPr lang="en-US" b="1" dirty="0"/>
              <a:t> </a:t>
            </a:r>
            <a:r>
              <a:rPr lang="en-US" b="1" dirty="0" err="1"/>
              <a:t>bartaraf</a:t>
            </a:r>
            <a:r>
              <a:rPr lang="en-US" b="1" dirty="0"/>
              <a:t> </a:t>
            </a:r>
            <a:r>
              <a:rPr lang="en-US" b="1" dirty="0" err="1"/>
              <a:t>etishi</a:t>
            </a:r>
            <a:r>
              <a:rPr lang="en-US" b="1" dirty="0"/>
              <a:t> (</a:t>
            </a:r>
            <a:r>
              <a:rPr lang="en-US" b="1" dirty="0" err="1"/>
              <a:t>tiklashi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en-US" dirty="0" err="1"/>
              <a:t>kerak</a:t>
            </a:r>
            <a:r>
              <a:rPr lang="en-US" dirty="0"/>
              <a:t>. </a:t>
            </a:r>
            <a:r>
              <a:rPr lang="en-US" dirty="0" err="1"/>
              <a:t>Buning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nechta</a:t>
            </a:r>
            <a:r>
              <a:rPr lang="en-US" dirty="0"/>
              <a:t> </a:t>
            </a:r>
            <a:r>
              <a:rPr lang="en-US" dirty="0" err="1"/>
              <a:t>strategiyalar</a:t>
            </a:r>
            <a:r>
              <a:rPr lang="en-US" dirty="0"/>
              <a:t> </a:t>
            </a:r>
            <a:r>
              <a:rPr lang="en-US" dirty="0" err="1"/>
              <a:t>bor</a:t>
            </a:r>
            <a:r>
              <a:rPr lang="en-US" dirty="0"/>
              <a:t>:</a:t>
            </a:r>
          </a:p>
          <a:p>
            <a:r>
              <a:rPr lang="ru-RU" b="1" dirty="0"/>
              <a:t> 1. </a:t>
            </a:r>
            <a:r>
              <a:rPr lang="en-US" b="1" dirty="0" err="1"/>
              <a:t>Jarayonni</a:t>
            </a:r>
            <a:r>
              <a:rPr lang="en-US" b="1" dirty="0"/>
              <a:t> </a:t>
            </a:r>
            <a:r>
              <a:rPr lang="en-US" b="1" dirty="0" err="1"/>
              <a:t>tugatish</a:t>
            </a:r>
            <a:r>
              <a:rPr lang="en-US" b="1" dirty="0"/>
              <a:t> (Process termination):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Tupikka</a:t>
            </a:r>
            <a:r>
              <a:rPr lang="en-US" dirty="0"/>
              <a:t> </a:t>
            </a:r>
            <a:r>
              <a:rPr lang="en-US" dirty="0" err="1"/>
              <a:t>kirgan</a:t>
            </a:r>
            <a:r>
              <a:rPr lang="en-US" dirty="0"/>
              <a:t> </a:t>
            </a:r>
            <a:r>
              <a:rPr lang="en-US" dirty="0" err="1"/>
              <a:t>jarayon</a:t>
            </a:r>
            <a:r>
              <a:rPr lang="en-US" dirty="0"/>
              <a:t>(lar)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majburan</a:t>
            </a:r>
            <a:r>
              <a:rPr lang="en-US" dirty="0"/>
              <a:t> </a:t>
            </a:r>
            <a:r>
              <a:rPr lang="en-US" dirty="0" err="1"/>
              <a:t>to‘xtatish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Bir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nechta</a:t>
            </a:r>
            <a:r>
              <a:rPr lang="en-US" dirty="0"/>
              <a:t> </a:t>
            </a:r>
            <a:r>
              <a:rPr lang="en-US" dirty="0" err="1"/>
              <a:t>jarayonni</a:t>
            </a:r>
            <a:r>
              <a:rPr lang="en-US" dirty="0"/>
              <a:t> </a:t>
            </a:r>
            <a:r>
              <a:rPr lang="en-US" dirty="0" err="1"/>
              <a:t>tanlab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Eng</a:t>
            </a:r>
            <a:r>
              <a:rPr lang="en-US" dirty="0"/>
              <a:t> </a:t>
            </a:r>
            <a:r>
              <a:rPr lang="en-US" dirty="0" err="1"/>
              <a:t>kam</a:t>
            </a:r>
            <a:r>
              <a:rPr lang="en-US" dirty="0"/>
              <a:t> </a:t>
            </a:r>
            <a:r>
              <a:rPr lang="en-US" dirty="0" err="1"/>
              <a:t>ishlov</a:t>
            </a:r>
            <a:r>
              <a:rPr lang="en-US" dirty="0"/>
              <a:t> </a:t>
            </a:r>
            <a:r>
              <a:rPr lang="en-US" dirty="0" err="1"/>
              <a:t>berganini</a:t>
            </a:r>
            <a:r>
              <a:rPr lang="en-US" dirty="0"/>
              <a:t>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Eng</a:t>
            </a:r>
            <a:r>
              <a:rPr lang="en-US" dirty="0"/>
              <a:t> </a:t>
            </a:r>
            <a:r>
              <a:rPr lang="en-US" dirty="0" err="1"/>
              <a:t>kam</a:t>
            </a:r>
            <a:r>
              <a:rPr lang="en-US" dirty="0"/>
              <a:t> </a:t>
            </a:r>
            <a:r>
              <a:rPr lang="en-US" dirty="0" err="1"/>
              <a:t>resurs</a:t>
            </a:r>
            <a:r>
              <a:rPr lang="en-US" dirty="0"/>
              <a:t> </a:t>
            </a:r>
            <a:r>
              <a:rPr lang="en-US" dirty="0" err="1"/>
              <a:t>ishlatayotganini</a:t>
            </a:r>
            <a:r>
              <a:rPr lang="en-US" dirty="0"/>
              <a:t>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eng</a:t>
            </a:r>
            <a:r>
              <a:rPr lang="en-US" dirty="0"/>
              <a:t> </a:t>
            </a:r>
            <a:r>
              <a:rPr lang="en-US" dirty="0" err="1"/>
              <a:t>kam</a:t>
            </a:r>
            <a:r>
              <a:rPr lang="en-US" dirty="0"/>
              <a:t> </a:t>
            </a:r>
            <a:r>
              <a:rPr lang="en-US" dirty="0" err="1"/>
              <a:t>zarar</a:t>
            </a:r>
            <a:r>
              <a:rPr lang="en-US" dirty="0"/>
              <a:t> </a:t>
            </a:r>
            <a:r>
              <a:rPr lang="en-US" dirty="0" err="1"/>
              <a:t>keltiradiganini</a:t>
            </a:r>
            <a:r>
              <a:rPr lang="en-US" dirty="0"/>
              <a:t> </a:t>
            </a:r>
            <a:r>
              <a:rPr lang="en-US" dirty="0" err="1"/>
              <a:t>tugatish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CD685B-F028-4790-9A26-7CE3A4D41C97}"/>
              </a:ext>
            </a:extLst>
          </p:cNvPr>
          <p:cNvSpPr txBox="1"/>
          <p:nvPr/>
        </p:nvSpPr>
        <p:spPr>
          <a:xfrm>
            <a:off x="497150" y="3429000"/>
            <a:ext cx="482057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2. </a:t>
            </a:r>
            <a:r>
              <a:rPr lang="en-US" b="1" dirty="0" err="1"/>
              <a:t>Resursni</a:t>
            </a:r>
            <a:r>
              <a:rPr lang="en-US" b="1" dirty="0"/>
              <a:t> </a:t>
            </a:r>
            <a:r>
              <a:rPr lang="en-US" b="1" dirty="0" err="1"/>
              <a:t>majburan</a:t>
            </a:r>
            <a:r>
              <a:rPr lang="en-US" b="1" dirty="0"/>
              <a:t> </a:t>
            </a:r>
            <a:r>
              <a:rPr lang="en-US" b="1" dirty="0" err="1"/>
              <a:t>tortib</a:t>
            </a:r>
            <a:r>
              <a:rPr lang="en-US" b="1" dirty="0"/>
              <a:t> </a:t>
            </a:r>
            <a:r>
              <a:rPr lang="en-US" b="1" dirty="0" err="1"/>
              <a:t>olish</a:t>
            </a:r>
            <a:r>
              <a:rPr lang="en-US" b="1" dirty="0"/>
              <a:t> (Resource Preemption):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Resurslarni</a:t>
            </a:r>
            <a:r>
              <a:rPr lang="en-US" dirty="0"/>
              <a:t> </a:t>
            </a:r>
            <a:r>
              <a:rPr lang="en-US" dirty="0" err="1"/>
              <a:t>jarayondan</a:t>
            </a:r>
            <a:r>
              <a:rPr lang="en-US" dirty="0"/>
              <a:t> </a:t>
            </a:r>
            <a:r>
              <a:rPr lang="en-US" dirty="0" err="1"/>
              <a:t>vaqtincha</a:t>
            </a:r>
            <a:r>
              <a:rPr lang="en-US" dirty="0"/>
              <a:t> </a:t>
            </a:r>
            <a:r>
              <a:rPr lang="en-US" dirty="0" err="1"/>
              <a:t>tortib</a:t>
            </a:r>
            <a:r>
              <a:rPr lang="en-US" dirty="0"/>
              <a:t> </a:t>
            </a:r>
            <a:r>
              <a:rPr lang="en-US" dirty="0" err="1"/>
              <a:t>olib</a:t>
            </a:r>
            <a:r>
              <a:rPr lang="en-US" dirty="0"/>
              <a:t>, </a:t>
            </a:r>
            <a:r>
              <a:rPr lang="en-US" dirty="0" err="1"/>
              <a:t>boshqasiga</a:t>
            </a:r>
            <a:r>
              <a:rPr lang="en-US" dirty="0"/>
              <a:t> </a:t>
            </a:r>
            <a:r>
              <a:rPr lang="en-US" dirty="0" err="1"/>
              <a:t>berish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Jarayon</a:t>
            </a:r>
            <a:r>
              <a:rPr lang="en-US" dirty="0"/>
              <a:t> </a:t>
            </a:r>
            <a:r>
              <a:rPr lang="en-US" dirty="0" err="1"/>
              <a:t>keyinchalik</a:t>
            </a:r>
            <a:r>
              <a:rPr lang="en-US" dirty="0"/>
              <a:t> </a:t>
            </a:r>
            <a:r>
              <a:rPr lang="en-US" dirty="0" err="1"/>
              <a:t>davom</a:t>
            </a:r>
            <a:r>
              <a:rPr lang="en-US" dirty="0"/>
              <a:t> </a:t>
            </a:r>
            <a:r>
              <a:rPr lang="en-US" dirty="0" err="1"/>
              <a:t>ettiriladi</a:t>
            </a:r>
            <a:r>
              <a:rPr lang="en-US" dirty="0"/>
              <a:t>.</a:t>
            </a:r>
          </a:p>
          <a:p>
            <a:r>
              <a:rPr lang="ru-RU" b="1" dirty="0"/>
              <a:t>3. </a:t>
            </a:r>
            <a:r>
              <a:rPr lang="en-US" b="1" dirty="0" err="1"/>
              <a:t>Tizimni</a:t>
            </a:r>
            <a:r>
              <a:rPr lang="en-US" b="1" dirty="0"/>
              <a:t> </a:t>
            </a:r>
            <a:r>
              <a:rPr lang="en-US" b="1" dirty="0" err="1"/>
              <a:t>qayta</a:t>
            </a:r>
            <a:r>
              <a:rPr lang="en-US" b="1" dirty="0"/>
              <a:t> </a:t>
            </a:r>
            <a:r>
              <a:rPr lang="en-US" b="1" dirty="0" err="1"/>
              <a:t>ishga</a:t>
            </a:r>
            <a:r>
              <a:rPr lang="en-US" b="1" dirty="0"/>
              <a:t> </a:t>
            </a:r>
            <a:r>
              <a:rPr lang="en-US" b="1" dirty="0" err="1"/>
              <a:t>tushirish</a:t>
            </a:r>
            <a:r>
              <a:rPr lang="en-US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Eng</a:t>
            </a:r>
            <a:r>
              <a:rPr lang="en-US" dirty="0"/>
              <a:t> </a:t>
            </a:r>
            <a:r>
              <a:rPr lang="en-US" dirty="0" err="1"/>
              <a:t>sodda</a:t>
            </a:r>
            <a:r>
              <a:rPr lang="en-US" dirty="0"/>
              <a:t>, </a:t>
            </a:r>
            <a:r>
              <a:rPr lang="en-US" dirty="0" err="1"/>
              <a:t>lekin</a:t>
            </a:r>
            <a:r>
              <a:rPr lang="en-US" dirty="0"/>
              <a:t> </a:t>
            </a:r>
            <a:r>
              <a:rPr lang="en-US" dirty="0" err="1"/>
              <a:t>qo‘pol</a:t>
            </a:r>
            <a:r>
              <a:rPr lang="en-US" dirty="0"/>
              <a:t> </a:t>
            </a:r>
            <a:r>
              <a:rPr lang="en-US" dirty="0" err="1"/>
              <a:t>usul</a:t>
            </a:r>
            <a:r>
              <a:rPr lang="en-US" dirty="0"/>
              <a:t> — 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jarayonlarni</a:t>
            </a:r>
            <a:r>
              <a:rPr lang="en-US" dirty="0"/>
              <a:t> </a:t>
            </a:r>
            <a:r>
              <a:rPr lang="en-US" dirty="0" err="1"/>
              <a:t>to‘xtatib</a:t>
            </a:r>
            <a:r>
              <a:rPr lang="en-US" dirty="0"/>
              <a:t>, </a:t>
            </a:r>
            <a:r>
              <a:rPr lang="en-US" dirty="0" err="1"/>
              <a:t>tizimni</a:t>
            </a:r>
            <a:r>
              <a:rPr lang="en-US" dirty="0"/>
              <a:t> </a:t>
            </a:r>
            <a:r>
              <a:rPr lang="en-US" dirty="0" err="1"/>
              <a:t>qayta</a:t>
            </a:r>
            <a:r>
              <a:rPr lang="en-US" dirty="0"/>
              <a:t> </a:t>
            </a:r>
            <a:r>
              <a:rPr lang="en-US" dirty="0" err="1"/>
              <a:t>yoqish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Bu, </a:t>
            </a:r>
            <a:r>
              <a:rPr lang="en-US" dirty="0" err="1"/>
              <a:t>albatta</a:t>
            </a:r>
            <a:r>
              <a:rPr lang="en-US" dirty="0"/>
              <a:t>, </a:t>
            </a:r>
            <a:r>
              <a:rPr lang="en-US" dirty="0" err="1"/>
              <a:t>vaqt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ma’lumot</a:t>
            </a:r>
            <a:r>
              <a:rPr lang="en-US" dirty="0"/>
              <a:t> </a:t>
            </a:r>
            <a:r>
              <a:rPr lang="en-US" dirty="0" err="1"/>
              <a:t>yo‘qotishiga</a:t>
            </a:r>
            <a:r>
              <a:rPr lang="en-US" dirty="0"/>
              <a:t> </a:t>
            </a:r>
            <a:r>
              <a:rPr lang="en-US" dirty="0" err="1"/>
              <a:t>olib</a:t>
            </a:r>
            <a:r>
              <a:rPr lang="en-US" dirty="0"/>
              <a:t> </a:t>
            </a:r>
            <a:r>
              <a:rPr lang="en-US" dirty="0" err="1"/>
              <a:t>keladi</a:t>
            </a:r>
            <a:r>
              <a:rPr lang="en-US" dirty="0"/>
              <a:t>.</a:t>
            </a:r>
          </a:p>
        </p:txBody>
      </p:sp>
      <p:pic>
        <p:nvPicPr>
          <p:cNvPr id="29" name="Объект 28">
            <a:extLst>
              <a:ext uri="{FF2B5EF4-FFF2-40B4-BE49-F238E27FC236}">
                <a16:creationId xmlns:a16="http://schemas.microsoft.com/office/drawing/2014/main" id="{AD97A3B0-CB38-4E40-AA02-9EE47E6AED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425" y="1227509"/>
            <a:ext cx="3040325" cy="4400179"/>
          </a:xfrm>
        </p:spPr>
      </p:pic>
    </p:spTree>
    <p:extLst>
      <p:ext uri="{BB962C8B-B14F-4D97-AF65-F5344CB8AC3E}">
        <p14:creationId xmlns:p14="http://schemas.microsoft.com/office/powerpoint/2010/main" val="4005762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A232F13-2728-4335-8710-35451EFA2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235941"/>
              </p:ext>
            </p:extLst>
          </p:nvPr>
        </p:nvGraphicFramePr>
        <p:xfrm>
          <a:off x="797033" y="1379187"/>
          <a:ext cx="7869236" cy="2468880"/>
        </p:xfrm>
        <a:graphic>
          <a:graphicData uri="http://schemas.openxmlformats.org/drawingml/2006/table">
            <a:tbl>
              <a:tblPr/>
              <a:tblGrid>
                <a:gridCol w="3934618">
                  <a:extLst>
                    <a:ext uri="{9D8B030D-6E8A-4147-A177-3AD203B41FA5}">
                      <a16:colId xmlns:a16="http://schemas.microsoft.com/office/drawing/2014/main" val="3722154012"/>
                    </a:ext>
                  </a:extLst>
                </a:gridCol>
                <a:gridCol w="3934618">
                  <a:extLst>
                    <a:ext uri="{9D8B030D-6E8A-4147-A177-3AD203B41FA5}">
                      <a16:colId xmlns:a16="http://schemas.microsoft.com/office/drawing/2014/main" val="178049283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Usul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Tavsif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3170244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Oldini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olish</a:t>
                      </a:r>
                      <a:r>
                        <a:rPr lang="en-US" sz="1800" b="1" dirty="0"/>
                        <a:t> (Prevention)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Tupik uchun zarur bo‘lgan 4 shartdan kamida bittasini yo‘qqa chiqarish (masalan, resurslarni majburan qaytarish imkonini yaratish).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331667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800" b="1"/>
                        <a:t>Oldini olish (Avoidance)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Har </a:t>
                      </a:r>
                      <a:r>
                        <a:rPr lang="en-US" sz="1800" dirty="0" err="1"/>
                        <a:t>bir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yangi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resurs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taqsimoti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xavfsiz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holatdami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tekshirib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turish</a:t>
                      </a:r>
                      <a:r>
                        <a:rPr lang="en-US" sz="1800" dirty="0"/>
                        <a:t> (</a:t>
                      </a:r>
                      <a:r>
                        <a:rPr lang="en-US" sz="1800" dirty="0" err="1"/>
                        <a:t>masalan</a:t>
                      </a:r>
                      <a:r>
                        <a:rPr lang="en-US" sz="1800" dirty="0"/>
                        <a:t>, </a:t>
                      </a:r>
                      <a:r>
                        <a:rPr lang="en-US" sz="1800" b="1" dirty="0"/>
                        <a:t>Banker’s Algorithm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orqali</a:t>
                      </a:r>
                      <a:r>
                        <a:rPr lang="en-US" sz="1800" dirty="0"/>
                        <a:t>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5609702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3434BD99-B7EA-40B1-B118-E35123D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33" y="309209"/>
            <a:ext cx="746082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Tupikni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oldini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olish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Prevention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Avoidance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Tupikka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tushib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qolmaslik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uchun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tizim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quyidagi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choralarni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ko‘radi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00546FF7-431C-49D3-B591-81E3D4473979}"/>
              </a:ext>
            </a:extLst>
          </p:cNvPr>
          <p:cNvCxnSpPr/>
          <p:nvPr/>
        </p:nvCxnSpPr>
        <p:spPr>
          <a:xfrm>
            <a:off x="797033" y="1324872"/>
            <a:ext cx="0" cy="25102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F38E915E-E831-4C38-AEB3-3BAF924A230D}"/>
              </a:ext>
            </a:extLst>
          </p:cNvPr>
          <p:cNvCxnSpPr/>
          <p:nvPr/>
        </p:nvCxnSpPr>
        <p:spPr>
          <a:xfrm>
            <a:off x="797033" y="3848067"/>
            <a:ext cx="78692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8A47755-D0FF-415C-806F-E63356CEC48A}"/>
              </a:ext>
            </a:extLst>
          </p:cNvPr>
          <p:cNvCxnSpPr/>
          <p:nvPr/>
        </p:nvCxnSpPr>
        <p:spPr>
          <a:xfrm>
            <a:off x="797033" y="1324872"/>
            <a:ext cx="78692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41F15D05-8AB0-4763-A040-3715324563AE}"/>
              </a:ext>
            </a:extLst>
          </p:cNvPr>
          <p:cNvCxnSpPr/>
          <p:nvPr/>
        </p:nvCxnSpPr>
        <p:spPr>
          <a:xfrm>
            <a:off x="8666269" y="1324872"/>
            <a:ext cx="0" cy="25102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D66F0D4-AE65-4DE6-8A83-04557B9A6B4B}"/>
              </a:ext>
            </a:extLst>
          </p:cNvPr>
          <p:cNvCxnSpPr/>
          <p:nvPr/>
        </p:nvCxnSpPr>
        <p:spPr>
          <a:xfrm>
            <a:off x="797033" y="1740023"/>
            <a:ext cx="78692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4676E1E3-D505-433A-90CB-3D8AD12BBBF0}"/>
              </a:ext>
            </a:extLst>
          </p:cNvPr>
          <p:cNvCxnSpPr/>
          <p:nvPr/>
        </p:nvCxnSpPr>
        <p:spPr>
          <a:xfrm>
            <a:off x="4341181" y="1324872"/>
            <a:ext cx="0" cy="25231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25BE17F0-8BC4-484C-8330-49762A664DFE}"/>
              </a:ext>
            </a:extLst>
          </p:cNvPr>
          <p:cNvCxnSpPr/>
          <p:nvPr/>
        </p:nvCxnSpPr>
        <p:spPr>
          <a:xfrm>
            <a:off x="797033" y="2894120"/>
            <a:ext cx="78692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97133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E875C-93B5-7C8E-DE0C-599E22815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F132AFD-0A00-53E7-B6DA-0948933048F3}"/>
              </a:ext>
            </a:extLst>
          </p:cNvPr>
          <p:cNvSpPr/>
          <p:nvPr/>
        </p:nvSpPr>
        <p:spPr>
          <a:xfrm>
            <a:off x="0" y="3487479"/>
            <a:ext cx="9144000" cy="1953201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B6F0747-8875-3733-D184-4E59B3EBC1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60">
            <a:extLst>
              <a:ext uri="{FF2B5EF4-FFF2-40B4-BE49-F238E27FC236}">
                <a16:creationId xmlns:a16="http://schemas.microsoft.com/office/drawing/2014/main" id="{33FD8F4A-EF04-8202-2C49-7D92ED635E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77" y="56580"/>
            <a:ext cx="1687159" cy="1687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C80317F-45F2-E64D-A27C-9897039B4333}"/>
              </a:ext>
            </a:extLst>
          </p:cNvPr>
          <p:cNvSpPr txBox="1"/>
          <p:nvPr/>
        </p:nvSpPr>
        <p:spPr>
          <a:xfrm>
            <a:off x="1861335" y="342900"/>
            <a:ext cx="7108487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b="1" spc="179" dirty="0">
                <a:solidFill>
                  <a:srgbClr val="FFCE33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 panose="020B0604020202020204" pitchFamily="34" charset="0"/>
              </a:rPr>
              <a:t>MUHAMMAD AL-XORAZMIY NOMIDAGI TOSHKENT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b="1" spc="179" dirty="0">
                <a:solidFill>
                  <a:srgbClr val="FFCE33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 panose="020B0604020202020204" pitchFamily="34" charset="0"/>
              </a:rPr>
              <a:t> AXBOROT TEXNOLOGIYALARI UNIVERSITETI</a:t>
            </a:r>
            <a:endParaRPr lang="en-US" sz="2000" b="1" spc="179" dirty="0">
              <a:solidFill>
                <a:srgbClr val="FFCE33"/>
              </a:solidFill>
              <a:latin typeface="Cambria" panose="02040503050406030204" pitchFamily="18" charset="0"/>
              <a:ea typeface="Cambria" panose="02040503050406030204" pitchFamily="18" charset="0"/>
              <a:sym typeface="Open Sans"/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C46FBF78-A64F-0DB4-9098-2B4BB978AFAA}"/>
              </a:ext>
            </a:extLst>
          </p:cNvPr>
          <p:cNvCxnSpPr>
            <a:cxnSpLocks/>
          </p:cNvCxnSpPr>
          <p:nvPr/>
        </p:nvCxnSpPr>
        <p:spPr>
          <a:xfrm>
            <a:off x="1861335" y="1086313"/>
            <a:ext cx="7282665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0" name="Рисунок 13" descr="Преподаватель">
            <a:extLst>
              <a:ext uri="{FF2B5EF4-FFF2-40B4-BE49-F238E27FC236}">
                <a16:creationId xmlns:a16="http://schemas.microsoft.com/office/drawing/2014/main" id="{B9A91F9D-EC38-3FFC-C421-4C400B0A33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650" y="4715131"/>
            <a:ext cx="660029" cy="66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Рисунок 15" descr="Суд">
            <a:extLst>
              <a:ext uri="{FF2B5EF4-FFF2-40B4-BE49-F238E27FC236}">
                <a16:creationId xmlns:a16="http://schemas.microsoft.com/office/drawing/2014/main" id="{C0C1909B-9A1C-FC2A-943E-2AD7373357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523" y="5604273"/>
            <a:ext cx="533479" cy="53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BB59BAD0-0F4E-A542-2E05-340B46E0F524}"/>
              </a:ext>
            </a:extLst>
          </p:cNvPr>
          <p:cNvCxnSpPr>
            <a:cxnSpLocks/>
          </p:cNvCxnSpPr>
          <p:nvPr/>
        </p:nvCxnSpPr>
        <p:spPr>
          <a:xfrm>
            <a:off x="4808166" y="4730835"/>
            <a:ext cx="1" cy="167396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6A20F08-969A-4C06-BC2E-54C53606C11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851" r="13851"/>
          <a:stretch>
            <a:fillRect/>
          </a:stretch>
        </p:blipFill>
        <p:spPr>
          <a:xfrm>
            <a:off x="-762001" y="1743739"/>
            <a:ext cx="5487664" cy="5544842"/>
          </a:xfrm>
          <a:prstGeom prst="ellipse">
            <a:avLst/>
          </a:prstGeom>
          <a:effectLst>
            <a:softEdge rad="406400"/>
          </a:effectLst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7A2878DC-039A-8437-9963-92D4709FF15A}"/>
              </a:ext>
            </a:extLst>
          </p:cNvPr>
          <p:cNvSpPr txBox="1"/>
          <p:nvPr/>
        </p:nvSpPr>
        <p:spPr>
          <a:xfrm>
            <a:off x="2845462" y="1925566"/>
            <a:ext cx="564159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ru-RU" sz="4000" b="1" spc="61" dirty="0">
                <a:solidFill>
                  <a:srgbClr val="FFCE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E’TIBORINGIZ UCHUN RAXMAT!</a:t>
            </a:r>
            <a:endParaRPr lang="en-US" sz="4000" b="1" spc="61" dirty="0">
              <a:solidFill>
                <a:srgbClr val="FFCE33"/>
              </a:solidFill>
              <a:latin typeface="Cambria" panose="02040503050406030204" pitchFamily="18" charset="0"/>
              <a:ea typeface="Cambria" panose="02040503050406030204" pitchFamily="18" charset="0"/>
              <a:sym typeface="Poppins Bold"/>
            </a:endParaRPr>
          </a:p>
        </p:txBody>
      </p:sp>
    </p:spTree>
    <p:extLst>
      <p:ext uri="{BB962C8B-B14F-4D97-AF65-F5344CB8AC3E}">
        <p14:creationId xmlns:p14="http://schemas.microsoft.com/office/powerpoint/2010/main" val="3917022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2278</TotalTime>
  <Words>2516</Words>
  <Application>Microsoft Office PowerPoint</Application>
  <PresentationFormat>Экран (4:3)</PresentationFormat>
  <Paragraphs>215</Paragraphs>
  <Slides>25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9" baseType="lpstr">
      <vt:lpstr>Arial</vt:lpstr>
      <vt:lpstr>Arial Unicode MS</vt:lpstr>
      <vt:lpstr>Bell MT</vt:lpstr>
      <vt:lpstr>Cabin</vt:lpstr>
      <vt:lpstr>Calibri</vt:lpstr>
      <vt:lpstr>Cambria</vt:lpstr>
      <vt:lpstr>Cambria Math</vt:lpstr>
      <vt:lpstr>Courier New</vt:lpstr>
      <vt:lpstr>Montserrat Medium</vt:lpstr>
      <vt:lpstr>Open Sans</vt:lpstr>
      <vt:lpstr>Symbol</vt:lpstr>
      <vt:lpstr>Times New Roman</vt:lpstr>
      <vt:lpstr>Unbounded</vt:lpstr>
      <vt:lpstr>Office Theme</vt:lpstr>
      <vt:lpstr>Презентация PowerPoint</vt:lpstr>
      <vt:lpstr>REJA</vt:lpstr>
      <vt:lpstr>Презентация PowerPoint</vt:lpstr>
      <vt:lpstr> Tizim modeli (System Model) </vt:lpstr>
      <vt:lpstr>Qulflanishni tavsiflash (Deadlock Characterization) </vt:lpstr>
      <vt:lpstr>Resurs taqsimlash grafigi (Resource Allocation Graph)</vt:lpstr>
      <vt:lpstr>Resurslarni taqsimlash grafiklari</vt:lpstr>
      <vt:lpstr>Qulflanishlarni boshqarish usullari (Methods for Handling Deadlocks)</vt:lpstr>
      <vt:lpstr>Qulflanishning oldini olish (Deadlock Prevention)</vt:lpstr>
      <vt:lpstr>Презентация PowerPoint</vt:lpstr>
      <vt:lpstr>Qulflanishni chetlab o‘tish (Deadlock Avoidance)</vt:lpstr>
      <vt:lpstr>Xavfsiz holat (Safe State)</vt:lpstr>
      <vt:lpstr>Презентация PowerPoint</vt:lpstr>
      <vt:lpstr>Презентация PowerPoint</vt:lpstr>
      <vt:lpstr>Презентация PowerPoint</vt:lpstr>
      <vt:lpstr>Banker algoritmi (Banker’s Algorithm)</vt:lpstr>
      <vt:lpstr>Презентация PowerPoint</vt:lpstr>
      <vt:lpstr>Презентация PowerPoint</vt:lpstr>
      <vt:lpstr>Презентация PowerPoint</vt:lpstr>
      <vt:lpstr>Tupiklarni Oldini Olish: 2-Inkor (Hold and Wait)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PJSC "New Engineering Technologies"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Markasian, Pavel (KIEVH)</dc:creator>
  <cp:lastModifiedBy>Пользователь</cp:lastModifiedBy>
  <cp:revision>193</cp:revision>
  <dcterms:created xsi:type="dcterms:W3CDTF">2016-11-18T14:12:19Z</dcterms:created>
  <dcterms:modified xsi:type="dcterms:W3CDTF">2025-11-04T04:51:10Z</dcterms:modified>
</cp:coreProperties>
</file>