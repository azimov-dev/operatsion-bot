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sldIdLst>
    <p:sldId id="278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82" autoAdjust="0"/>
    <p:restoredTop sz="94660"/>
  </p:normalViewPr>
  <p:slideViewPr>
    <p:cSldViewPr snapToGrid="0">
      <p:cViewPr varScale="1">
        <p:scale>
          <a:sx n="72" d="100"/>
          <a:sy n="72" d="100"/>
        </p:scale>
        <p:origin x="72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311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105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388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31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798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267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64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51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0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010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685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D9794-A4CC-42D0-9A65-24C6B9EF407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6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936" r="62442"/>
          <a:stretch/>
        </p:blipFill>
        <p:spPr>
          <a:xfrm>
            <a:off x="0" y="5144"/>
            <a:ext cx="9144000" cy="6852856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180754" y="163211"/>
            <a:ext cx="8803760" cy="6558269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8000"/>
                </a:schemeClr>
              </a:gs>
              <a:gs pos="100000">
                <a:schemeClr val="bg1">
                  <a:alpha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460" y="1287256"/>
            <a:ext cx="7869890" cy="4889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BD9794-A4CC-42D0-9A65-24C6B9EF407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E8DF1E-33BB-4377-9A26-35481BA06C7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2" y="163208"/>
            <a:ext cx="7886698" cy="99874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09616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tm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6BD51-17E7-9432-6598-CEC94D09B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E87C95D-A949-8018-EAD4-7E662E967B8B}"/>
              </a:ext>
            </a:extLst>
          </p:cNvPr>
          <p:cNvSpPr/>
          <p:nvPr/>
        </p:nvSpPr>
        <p:spPr>
          <a:xfrm>
            <a:off x="1143000" y="3472860"/>
            <a:ext cx="6858000" cy="1464901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33918A5-27FD-349C-6983-A65476E561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99" y="857250"/>
            <a:ext cx="6858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0BDA083-1089-17DE-92D5-E22E26580D4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9"/>
          <a:stretch/>
        </p:blipFill>
        <p:spPr>
          <a:xfrm rot="10800000">
            <a:off x="3422520" y="4044791"/>
            <a:ext cx="4578480" cy="178593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6F9FD5B-390B-137A-1885-467EFF8A83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091" y="1958201"/>
            <a:ext cx="815033" cy="815033"/>
          </a:xfrm>
          <a:prstGeom prst="rect">
            <a:avLst/>
          </a:prstGeom>
        </p:spPr>
      </p:pic>
      <p:sp>
        <p:nvSpPr>
          <p:cNvPr id="7" name="POWERPOINT TEMPLATE">
            <a:extLst>
              <a:ext uri="{FF2B5EF4-FFF2-40B4-BE49-F238E27FC236}">
                <a16:creationId xmlns:a16="http://schemas.microsoft.com/office/drawing/2014/main" id="{7870EBB8-599A-243C-22AB-6F2350B68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071" y="2707953"/>
            <a:ext cx="1423074" cy="265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28575" tIns="28575" rIns="28575" bIns="28575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tabLst>
                <a:tab pos="800100" algn="l"/>
              </a:tabLst>
              <a:defRPr/>
            </a:pPr>
            <a:r>
              <a:rPr lang="en-US" altLang="ru-RU" sz="1350" b="1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Arial" panose="020B0604020202020204" pitchFamily="34" charset="0"/>
              </a:rPr>
              <a:t>OSYS16MBK</a:t>
            </a:r>
            <a:endParaRPr lang="ru-RU" altLang="ru-RU" sz="1200" b="1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B7CEA3-5F12-F926-5225-E322607396DD}"/>
              </a:ext>
            </a:extLst>
          </p:cNvPr>
          <p:cNvSpPr txBox="1"/>
          <p:nvPr/>
        </p:nvSpPr>
        <p:spPr>
          <a:xfrm>
            <a:off x="2203417" y="2115491"/>
            <a:ext cx="2083005" cy="568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fontAlgn="auto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ru-RU" sz="1500" b="1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OPERASION TIZIMLAR</a:t>
            </a:r>
          </a:p>
        </p:txBody>
      </p:sp>
      <p:sp>
        <p:nvSpPr>
          <p:cNvPr id="17" name="TextBox 41">
            <a:extLst>
              <a:ext uri="{FF2B5EF4-FFF2-40B4-BE49-F238E27FC236}">
                <a16:creationId xmlns:a16="http://schemas.microsoft.com/office/drawing/2014/main" id="{7B899385-6218-E0A8-BCB6-190D49DF9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126" y="4405377"/>
            <a:ext cx="284290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ru-RU" sz="1350" b="1" spc="27" dirty="0">
                <a:solidFill>
                  <a:srgbClr val="452721"/>
                </a:solidFill>
                <a:latin typeface="Montserrat Medium"/>
              </a:rPr>
              <a:t>Egamberdiyev Elyor </a:t>
            </a:r>
            <a:r>
              <a:rPr lang="en-US" altLang="ru-RU" sz="1350" b="1" spc="27" dirty="0" err="1">
                <a:solidFill>
                  <a:srgbClr val="452721"/>
                </a:solidFill>
                <a:latin typeface="Montserrat Medium"/>
              </a:rPr>
              <a:t>Hayitmamatovich</a:t>
            </a:r>
            <a:endParaRPr lang="en-US" altLang="ru-RU" sz="1350" b="1" spc="27" dirty="0">
              <a:solidFill>
                <a:srgbClr val="452721"/>
              </a:solidFill>
              <a:latin typeface="Montserrat Medium"/>
            </a:endParaRPr>
          </a:p>
        </p:txBody>
      </p:sp>
      <p:sp>
        <p:nvSpPr>
          <p:cNvPr id="18" name="TextBox 79">
            <a:extLst>
              <a:ext uri="{FF2B5EF4-FFF2-40B4-BE49-F238E27FC236}">
                <a16:creationId xmlns:a16="http://schemas.microsoft.com/office/drawing/2014/main" id="{CE219CBA-0AE5-C36B-3FF0-32A77837B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125" y="4890125"/>
            <a:ext cx="2835504" cy="715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ru-RU" sz="1350" b="1" spc="27" dirty="0">
                <a:solidFill>
                  <a:srgbClr val="452721"/>
                </a:solidFill>
                <a:latin typeface="Montserrat Medium"/>
              </a:rPr>
              <a:t> </a:t>
            </a:r>
            <a:r>
              <a:rPr lang="en-US" altLang="ru-RU" sz="1350" b="1" spc="27" dirty="0" err="1">
                <a:solidFill>
                  <a:srgbClr val="452721"/>
                </a:solidFill>
                <a:latin typeface="Montserrat Medium"/>
              </a:rPr>
              <a:t>Axborot</a:t>
            </a:r>
            <a:r>
              <a:rPr lang="en-US" altLang="ru-RU" sz="1350" b="1" spc="27" dirty="0">
                <a:solidFill>
                  <a:srgbClr val="452721"/>
                </a:solidFill>
                <a:latin typeface="Montserrat Medium"/>
              </a:rPr>
              <a:t> </a:t>
            </a:r>
            <a:r>
              <a:rPr lang="en-US" altLang="ru-RU" sz="1350" b="1" spc="27" dirty="0" err="1">
                <a:solidFill>
                  <a:srgbClr val="452721"/>
                </a:solidFill>
                <a:latin typeface="Montserrat Medium"/>
              </a:rPr>
              <a:t>texnologiyalarining</a:t>
            </a:r>
            <a:r>
              <a:rPr lang="en-US" altLang="ru-RU" sz="1350" b="1" spc="27" dirty="0">
                <a:solidFill>
                  <a:srgbClr val="452721"/>
                </a:solidFill>
                <a:latin typeface="Montserrat Medium"/>
              </a:rPr>
              <a:t> </a:t>
            </a:r>
            <a:r>
              <a:rPr lang="en-US" altLang="ru-RU" sz="1350" b="1" spc="27" dirty="0" err="1">
                <a:solidFill>
                  <a:srgbClr val="452721"/>
                </a:solidFill>
                <a:latin typeface="Montserrat Medium"/>
              </a:rPr>
              <a:t>dasturiy</a:t>
            </a:r>
            <a:r>
              <a:rPr lang="en-US" altLang="ru-RU" sz="1350" b="1" spc="27" dirty="0">
                <a:solidFill>
                  <a:srgbClr val="452721"/>
                </a:solidFill>
                <a:latin typeface="Montserrat Medium"/>
              </a:rPr>
              <a:t> </a:t>
            </a:r>
            <a:r>
              <a:rPr lang="en-US" altLang="ru-RU" sz="1350" b="1" spc="27" dirty="0" err="1">
                <a:solidFill>
                  <a:srgbClr val="452721"/>
                </a:solidFill>
                <a:latin typeface="Montserrat Medium"/>
              </a:rPr>
              <a:t>ta’minoti</a:t>
            </a:r>
            <a:r>
              <a:rPr lang="en-US" altLang="ru-RU" sz="1350" b="1" spc="27" dirty="0">
                <a:solidFill>
                  <a:srgbClr val="452721"/>
                </a:solidFill>
                <a:latin typeface="Montserrat Medium"/>
              </a:rPr>
              <a:t> </a:t>
            </a:r>
            <a:r>
              <a:rPr lang="en-US" altLang="ru-RU" sz="1350" b="1" spc="27" dirty="0" err="1">
                <a:solidFill>
                  <a:srgbClr val="452721"/>
                </a:solidFill>
                <a:latin typeface="Montserrat Medium"/>
              </a:rPr>
              <a:t>kafedrasi</a:t>
            </a:r>
            <a:r>
              <a:rPr lang="en-US" altLang="ru-RU" sz="1350" b="1" spc="27" dirty="0">
                <a:solidFill>
                  <a:srgbClr val="452721"/>
                </a:solidFill>
                <a:latin typeface="Montserrat Medium"/>
              </a:rPr>
              <a:t/>
            </a:r>
            <a:br>
              <a:rPr lang="en-US" altLang="ru-RU" sz="1350" b="1" spc="27" dirty="0">
                <a:solidFill>
                  <a:srgbClr val="452721"/>
                </a:solidFill>
                <a:latin typeface="Montserrat Medium"/>
              </a:rPr>
            </a:br>
            <a:r>
              <a:rPr lang="en-US" altLang="ru-RU" sz="1350" b="1" spc="27" dirty="0" err="1">
                <a:solidFill>
                  <a:srgbClr val="452721"/>
                </a:solidFill>
                <a:latin typeface="Montserrat Medium"/>
              </a:rPr>
              <a:t>katta</a:t>
            </a:r>
            <a:r>
              <a:rPr lang="en-US" altLang="ru-RU" sz="1350" b="1" spc="27" dirty="0">
                <a:solidFill>
                  <a:srgbClr val="452721"/>
                </a:solidFill>
                <a:latin typeface="Montserrat Medium"/>
              </a:rPr>
              <a:t> </a:t>
            </a:r>
            <a:r>
              <a:rPr lang="en-US" altLang="ru-RU" sz="1350" b="1" spc="27" dirty="0" err="1">
                <a:solidFill>
                  <a:srgbClr val="452721"/>
                </a:solidFill>
                <a:latin typeface="Montserrat Medium"/>
              </a:rPr>
              <a:t>o’qituvchisi</a:t>
            </a:r>
            <a:endParaRPr lang="en-US" altLang="ru-RU" sz="1350" b="1" spc="27" dirty="0">
              <a:solidFill>
                <a:srgbClr val="452721"/>
              </a:solidFill>
              <a:latin typeface="Montserrat Medium"/>
            </a:endParaRPr>
          </a:p>
        </p:txBody>
      </p:sp>
      <p:pic>
        <p:nvPicPr>
          <p:cNvPr id="20" name="Рисунок 13" descr="Преподаватель">
            <a:extLst>
              <a:ext uri="{FF2B5EF4-FFF2-40B4-BE49-F238E27FC236}">
                <a16:creationId xmlns:a16="http://schemas.microsoft.com/office/drawing/2014/main" id="{8A0F662C-40CF-2A8F-51F1-8D4313D17CA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6239" y="4393600"/>
            <a:ext cx="495022" cy="496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Рисунок 15" descr="Суд">
            <a:extLst>
              <a:ext uri="{FF2B5EF4-FFF2-40B4-BE49-F238E27FC236}">
                <a16:creationId xmlns:a16="http://schemas.microsoft.com/office/drawing/2014/main" id="{4E175628-FB7D-59C0-6606-952FA6AAD46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0894" y="5060455"/>
            <a:ext cx="400109" cy="401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D9D3BF0D-4A5E-EED0-0945-DFB845A9D3EE}"/>
              </a:ext>
            </a:extLst>
          </p:cNvPr>
          <p:cNvCxnSpPr>
            <a:cxnSpLocks/>
          </p:cNvCxnSpPr>
          <p:nvPr/>
        </p:nvCxnSpPr>
        <p:spPr>
          <a:xfrm>
            <a:off x="4749125" y="4307118"/>
            <a:ext cx="0" cy="135373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60">
            <a:extLst>
              <a:ext uri="{FF2B5EF4-FFF2-40B4-BE49-F238E27FC236}">
                <a16:creationId xmlns:a16="http://schemas.microsoft.com/office/drawing/2014/main" id="{FF2D45A0-CC38-F829-682A-4C98BA0F561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498" y="971947"/>
            <a:ext cx="815033" cy="815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B87285E1-AEB3-23F8-1174-DB88C42A560B}"/>
              </a:ext>
            </a:extLst>
          </p:cNvPr>
          <p:cNvSpPr txBox="1"/>
          <p:nvPr/>
        </p:nvSpPr>
        <p:spPr>
          <a:xfrm>
            <a:off x="2049527" y="1148632"/>
            <a:ext cx="5923472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85800" fontAlgn="auto">
              <a:spcAft>
                <a:spcPts val="0"/>
              </a:spcAft>
              <a:defRPr/>
            </a:pPr>
            <a:r>
              <a:rPr lang="en-US" altLang="ru-RU" sz="1500" b="1" spc="134" dirty="0">
                <a:solidFill>
                  <a:srgbClr val="FFCE33"/>
                </a:solidFill>
                <a:latin typeface="Cambria" panose="02040503050406030204" pitchFamily="18" charset="0"/>
                <a:ea typeface="Cambria" panose="02040503050406030204" pitchFamily="18" charset="0"/>
                <a:sym typeface="Arial" panose="020B0604020202020204" pitchFamily="34" charset="0"/>
              </a:rPr>
              <a:t>MUHAMMAD AL-XORAZMIY NOMIDAGI TOSHKENT </a:t>
            </a:r>
          </a:p>
          <a:p>
            <a:pPr algn="ctr" defTabSz="685800" fontAlgn="auto">
              <a:spcAft>
                <a:spcPts val="0"/>
              </a:spcAft>
              <a:defRPr/>
            </a:pPr>
            <a:r>
              <a:rPr lang="en-US" altLang="ru-RU" sz="1500" b="1" spc="134" dirty="0">
                <a:solidFill>
                  <a:srgbClr val="FFCE33"/>
                </a:solidFill>
                <a:latin typeface="Cambria" panose="02040503050406030204" pitchFamily="18" charset="0"/>
                <a:ea typeface="Cambria" panose="02040503050406030204" pitchFamily="18" charset="0"/>
                <a:sym typeface="Arial" panose="020B0604020202020204" pitchFamily="34" charset="0"/>
              </a:rPr>
              <a:t> AXBOROT TEXNOLOGIYALARI UNIVERSITETI</a:t>
            </a:r>
            <a:endParaRPr lang="en-US" sz="1500" b="1" spc="134" dirty="0">
              <a:solidFill>
                <a:srgbClr val="FFCE33"/>
              </a:solidFill>
              <a:latin typeface="Cambria" panose="02040503050406030204" pitchFamily="18" charset="0"/>
              <a:ea typeface="Cambria" panose="02040503050406030204" pitchFamily="18" charset="0"/>
              <a:sym typeface="Open Sans"/>
            </a:endParaRP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A2F7FF0B-9AC3-B317-9576-8ED42CA87CB6}"/>
              </a:ext>
            </a:extLst>
          </p:cNvPr>
          <p:cNvCxnSpPr>
            <a:cxnSpLocks/>
          </p:cNvCxnSpPr>
          <p:nvPr/>
        </p:nvCxnSpPr>
        <p:spPr>
          <a:xfrm>
            <a:off x="2133531" y="1610297"/>
            <a:ext cx="5867469" cy="748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120827B-DD1A-3DA0-2759-8387DCA07B1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3851" r="13851"/>
          <a:stretch>
            <a:fillRect/>
          </a:stretch>
        </p:blipFill>
        <p:spPr>
          <a:xfrm>
            <a:off x="4898441" y="1298783"/>
            <a:ext cx="3074558" cy="3106593"/>
          </a:xfrm>
          <a:prstGeom prst="ellipse">
            <a:avLst/>
          </a:prstGeom>
          <a:effectLst>
            <a:softEdge rad="406400"/>
          </a:effec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78D7FA1-AD08-02BA-CDAF-08E2921C0C0F}"/>
              </a:ext>
            </a:extLst>
          </p:cNvPr>
          <p:cNvSpPr>
            <a:spLocks noChangeAspect="1"/>
          </p:cNvSpPr>
          <p:nvPr/>
        </p:nvSpPr>
        <p:spPr>
          <a:xfrm>
            <a:off x="2707211" y="3147021"/>
            <a:ext cx="5230280" cy="822695"/>
          </a:xfrm>
          <a:prstGeom prst="rect">
            <a:avLst/>
          </a:prstGeom>
          <a:solidFill>
            <a:srgbClr val="01DEE9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100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Calibri"/>
              <a:cs typeface="Arial" panose="020B0604020202020204" pitchFamily="34" charset="0"/>
            </a:endParaRPr>
          </a:p>
        </p:txBody>
      </p:sp>
      <p:sp>
        <p:nvSpPr>
          <p:cNvPr id="9" name="POWERPOINT TEMPLATE">
            <a:extLst>
              <a:ext uri="{FF2B5EF4-FFF2-40B4-BE49-F238E27FC236}">
                <a16:creationId xmlns:a16="http://schemas.microsoft.com/office/drawing/2014/main" id="{7CD0029B-D3DB-28E9-041C-AAB66D072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9929" y="3414150"/>
            <a:ext cx="4375733" cy="265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28575" tIns="28575" rIns="28575" bIns="28575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85800" fontAlgn="auto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None/>
              <a:tabLst>
                <a:tab pos="800100" algn="l"/>
              </a:tabLst>
              <a:defRPr/>
            </a:pPr>
            <a:r>
              <a:rPr lang="en-US" sz="1350" b="1" dirty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OPERATSION TIZIMLAR ARXITEKTURASI</a:t>
            </a:r>
          </a:p>
        </p:txBody>
      </p:sp>
      <p:sp>
        <p:nvSpPr>
          <p:cNvPr id="11" name="POWERPOINT TEMPLATE">
            <a:extLst>
              <a:ext uri="{FF2B5EF4-FFF2-40B4-BE49-F238E27FC236}">
                <a16:creationId xmlns:a16="http://schemas.microsoft.com/office/drawing/2014/main" id="{092A10CE-F77B-D793-A0BC-5D07F0349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4153" y="3432172"/>
            <a:ext cx="737141" cy="2654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28575" tIns="28575" rIns="28575" bIns="28575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68580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tabLst>
                <a:tab pos="800100" algn="l"/>
              </a:tabLst>
              <a:defRPr/>
            </a:pPr>
            <a:r>
              <a:rPr lang="en-US" altLang="ru-RU" sz="1350" b="1" dirty="0">
                <a:solidFill>
                  <a:prstClr val="whit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Arial" panose="020B0604020202020204" pitchFamily="34" charset="0"/>
              </a:rPr>
              <a:t>MAVZU</a:t>
            </a:r>
            <a:endParaRPr lang="ru-RU" altLang="ru-RU" sz="1350" b="1" dirty="0">
              <a:solidFill>
                <a:prstClr val="white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2287D3F1-887C-5A61-A782-EFFB84A48856}"/>
              </a:ext>
            </a:extLst>
          </p:cNvPr>
          <p:cNvCxnSpPr>
            <a:cxnSpLocks/>
          </p:cNvCxnSpPr>
          <p:nvPr/>
        </p:nvCxnSpPr>
        <p:spPr>
          <a:xfrm>
            <a:off x="3505955" y="3147799"/>
            <a:ext cx="0" cy="822695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333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60485C-9E94-4802-8160-2D3FA2E5ACB7}"/>
              </a:ext>
            </a:extLst>
          </p:cNvPr>
          <p:cNvSpPr txBox="1"/>
          <p:nvPr/>
        </p:nvSpPr>
        <p:spPr>
          <a:xfrm>
            <a:off x="373223" y="343401"/>
            <a:ext cx="82949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 err="1"/>
              <a:t>Operatsion</a:t>
            </a:r>
            <a:r>
              <a:rPr lang="en-US" b="1" dirty="0"/>
              <a:t> </a:t>
            </a:r>
            <a:r>
              <a:rPr lang="en-US" b="1" dirty="0" err="1"/>
              <a:t>tizim</a:t>
            </a:r>
            <a:r>
              <a:rPr lang="en-US" b="1" dirty="0"/>
              <a:t> </a:t>
            </a:r>
            <a:r>
              <a:rPr lang="en-US" b="1" dirty="0" err="1"/>
              <a:t>arxitekturasi</a:t>
            </a:r>
            <a:r>
              <a:rPr lang="en-US" b="1" dirty="0"/>
              <a:t> </a:t>
            </a:r>
            <a:r>
              <a:rPr lang="en-US" b="1" dirty="0" err="1"/>
              <a:t>tushunchasi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OT </a:t>
            </a:r>
            <a:r>
              <a:rPr lang="en-US" dirty="0" err="1"/>
              <a:t>arxitekturasi</a:t>
            </a:r>
            <a:r>
              <a:rPr lang="en-US" dirty="0"/>
              <a:t> – </a:t>
            </a:r>
            <a:r>
              <a:rPr lang="en-US" dirty="0" err="1"/>
              <a:t>operatsion</a:t>
            </a:r>
            <a:r>
              <a:rPr lang="en-US" dirty="0"/>
              <a:t> </a:t>
            </a:r>
            <a:r>
              <a:rPr lang="en-US" dirty="0" err="1"/>
              <a:t>tizim</a:t>
            </a:r>
            <a:r>
              <a:rPr lang="en-US" dirty="0"/>
              <a:t> </a:t>
            </a:r>
            <a:r>
              <a:rPr lang="en-US" dirty="0" err="1"/>
              <a:t>ichki</a:t>
            </a:r>
            <a:r>
              <a:rPr lang="en-US" dirty="0"/>
              <a:t> </a:t>
            </a:r>
            <a:r>
              <a:rPr lang="en-US" dirty="0" err="1"/>
              <a:t>tuzilishini</a:t>
            </a:r>
            <a:r>
              <a:rPr lang="en-US" dirty="0"/>
              <a:t> </a:t>
            </a:r>
            <a:r>
              <a:rPr lang="en-US" dirty="0" err="1"/>
              <a:t>tashkil</a:t>
            </a:r>
            <a:r>
              <a:rPr lang="en-US" dirty="0"/>
              <a:t> </a:t>
            </a:r>
            <a:r>
              <a:rPr lang="en-US" dirty="0" err="1"/>
              <a:t>etuvchi</a:t>
            </a:r>
            <a:r>
              <a:rPr lang="en-US" dirty="0"/>
              <a:t> </a:t>
            </a:r>
            <a:r>
              <a:rPr lang="en-US" dirty="0" err="1"/>
              <a:t>komponentlar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ularning</a:t>
            </a:r>
            <a:r>
              <a:rPr lang="en-US" dirty="0"/>
              <a:t> </a:t>
            </a:r>
            <a:r>
              <a:rPr lang="en-US" dirty="0" err="1"/>
              <a:t>o‘zaro</a:t>
            </a:r>
            <a:r>
              <a:rPr lang="en-US" dirty="0"/>
              <a:t> </a:t>
            </a:r>
            <a:r>
              <a:rPr lang="en-US" dirty="0" err="1"/>
              <a:t>aloqasi</a:t>
            </a:r>
            <a:r>
              <a:rPr lang="en-US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Har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arxitekturalar</a:t>
            </a:r>
            <a:r>
              <a:rPr lang="en-US" dirty="0"/>
              <a:t> </a:t>
            </a:r>
            <a:r>
              <a:rPr lang="en-US" dirty="0" err="1"/>
              <a:t>mavjud</a:t>
            </a:r>
            <a:r>
              <a:rPr lang="en-US" dirty="0"/>
              <a:t> </a:t>
            </a:r>
            <a:r>
              <a:rPr lang="en-US" dirty="0" err="1"/>
              <a:t>bo‘lib</a:t>
            </a:r>
            <a:r>
              <a:rPr lang="en-US" dirty="0"/>
              <a:t>, </a:t>
            </a:r>
            <a:r>
              <a:rPr lang="en-US" dirty="0" err="1"/>
              <a:t>ularning</a:t>
            </a:r>
            <a:r>
              <a:rPr lang="en-US" dirty="0"/>
              <a:t> </a:t>
            </a:r>
            <a:r>
              <a:rPr lang="en-US" dirty="0" err="1"/>
              <a:t>har</a:t>
            </a:r>
            <a:r>
              <a:rPr lang="en-US" dirty="0"/>
              <a:t> </a:t>
            </a:r>
            <a:r>
              <a:rPr lang="en-US" dirty="0" err="1"/>
              <a:t>biri</a:t>
            </a:r>
            <a:r>
              <a:rPr lang="en-US" dirty="0"/>
              <a:t> </a:t>
            </a:r>
            <a:r>
              <a:rPr lang="en-US" dirty="0" err="1"/>
              <a:t>o‘ziga</a:t>
            </a:r>
            <a:r>
              <a:rPr lang="en-US" dirty="0"/>
              <a:t> </a:t>
            </a:r>
            <a:r>
              <a:rPr lang="en-US" dirty="0" err="1"/>
              <a:t>xos</a:t>
            </a:r>
            <a:r>
              <a:rPr lang="en-US" dirty="0"/>
              <a:t> </a:t>
            </a:r>
            <a:r>
              <a:rPr lang="en-US" dirty="0" err="1"/>
              <a:t>afzallik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kamchiliklarga</a:t>
            </a:r>
            <a:r>
              <a:rPr lang="en-US" dirty="0"/>
              <a:t> </a:t>
            </a:r>
            <a:r>
              <a:rPr lang="en-US" dirty="0" err="1"/>
              <a:t>ega</a:t>
            </a:r>
            <a:r>
              <a:rPr lang="en-US" dirty="0"/>
              <a:t>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8AEB147-9916-47A4-8F56-EB1A1CC21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23" y="1895978"/>
            <a:ext cx="4376543" cy="262003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8652C5A-9AE0-4F53-9E6E-5347A3D1CC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766" y="3208619"/>
            <a:ext cx="4262736" cy="302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457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DBDEF4-02A3-4E1C-8CE0-D0B7D1FD918B}"/>
              </a:ext>
            </a:extLst>
          </p:cNvPr>
          <p:cNvSpPr txBox="1"/>
          <p:nvPr/>
        </p:nvSpPr>
        <p:spPr>
          <a:xfrm>
            <a:off x="307910" y="1010254"/>
            <a:ext cx="85281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Kernal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Kernal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ko'pchilik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amalga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oshirishda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arxitekturasining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markaziy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komponentidir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operatsiyalar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apparat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o'zaro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ta'sir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javobgardir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xotirani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protsessorni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kiritish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chiqarish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qurilmalarini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boshqaradi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apparat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komponentlari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o'zaro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aloqada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dasturlarga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interfeysni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taqdim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etadi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Shell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Shell -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tizimning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interfeysi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buyruq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qatori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interfeysi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grafik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interfeysi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bo'lishi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shell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o'zaro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ishlaydi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Ilova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dasturlari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shuningdek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o'zaro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aloqa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qobiq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interfeysidan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foydalanishi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dasturlari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dasturlari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Kernal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o'zaro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aloqada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bo'lgan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xavfsizlikni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xotirani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past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darajadagi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harakatlar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interfeysni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ta'minlaydigan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dasturlardir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Ilova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dasturlari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o'zaro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aloqada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bo'lgan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dasturdir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hujjat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fayl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tizimida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saqlash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protsessori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eslatmalar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bloknot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097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F0DECD-842D-43E4-B9C2-F9314AE56DBD}"/>
              </a:ext>
            </a:extLst>
          </p:cNvPr>
          <p:cNvSpPr txBox="1"/>
          <p:nvPr/>
        </p:nvSpPr>
        <p:spPr>
          <a:xfrm>
            <a:off x="363894" y="29586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Mashhur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arxitekturalar</a:t>
            </a:r>
            <a:endParaRPr lang="en-US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58BA7A-6DF8-45C5-9AEF-3EF06C5C5E43}"/>
              </a:ext>
            </a:extLst>
          </p:cNvPr>
          <p:cNvSpPr txBox="1"/>
          <p:nvPr/>
        </p:nvSpPr>
        <p:spPr>
          <a:xfrm>
            <a:off x="503853" y="771151"/>
            <a:ext cx="32004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arxitektura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Monolit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arxitekturasi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Mikro-yadro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arxitekturasi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Ekzo-yadro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arxitekturasi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Qatlamli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arxitektura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Modulli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arxitektura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mashina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arxitekturasi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906FBEB-3D77-46FE-90E9-635C202D2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80526"/>
            <a:ext cx="3441877" cy="227184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EC65BB5-D69F-4949-AE55-315380D821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168" y="2989733"/>
            <a:ext cx="4848972" cy="240678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63A3E85-A625-410F-9CF4-E404EC90F4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8140" y="2989733"/>
            <a:ext cx="3320766" cy="240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740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FAAB33-37EA-4424-85FF-7874ACA907FD}"/>
              </a:ext>
            </a:extLst>
          </p:cNvPr>
          <p:cNvSpPr txBox="1"/>
          <p:nvPr/>
        </p:nvSpPr>
        <p:spPr>
          <a:xfrm>
            <a:off x="307910" y="230546"/>
            <a:ext cx="83135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ODDIY ARXITEKTURA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Juda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tuzilishga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bo'lgan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ko'plab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kichik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boshlangan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tezda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o'z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doirasidan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ancha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kengayib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bordi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Buning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tarqalgan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misoli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MS-DOS. U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oddiygina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odamlar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mo'ljallangan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qadar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mashhur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bo'lishiga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hech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ishora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yo'q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BF250E6-B4FB-45CD-B989-480890B648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764" y="1804761"/>
            <a:ext cx="2848373" cy="32484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FF395E-BCDA-41B4-87BF-BFC5BD980244}"/>
              </a:ext>
            </a:extLst>
          </p:cNvPr>
          <p:cNvSpPr txBox="1"/>
          <p:nvPr/>
        </p:nvSpPr>
        <p:spPr>
          <a:xfrm>
            <a:off x="429208" y="2053106"/>
            <a:ext cx="50012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Kam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sonli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ammo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kuchli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arxitekturaga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MS-DOS. Bu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kompyuter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ilovalari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ustidan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ko'proq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nazoratga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olib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keladi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arxitektura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dasturchilarga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bo'lganda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ma'lumotni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yashirish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tashqi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xususiyatlarni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o'zgartirmasdan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ichki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tartiblarni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o'zlari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xohlagancha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amalga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oshirish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5681B2-12CE-4F1F-AAEC-1699BDD0C1D2}"/>
              </a:ext>
            </a:extLst>
          </p:cNvPr>
          <p:cNvSpPr txBox="1"/>
          <p:nvPr/>
        </p:nvSpPr>
        <p:spPr>
          <a:xfrm>
            <a:off x="429208" y="5053239"/>
            <a:ext cx="81922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Oson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interfeys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bo'lganligi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sababli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ayniqsa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cheklangan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funksiyalar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taqdim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etilganda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Yaxshiroq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Bunday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qatlamlarga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to'g'ridan-to'g'ri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apparat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o'zaro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aloqada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bo'lib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turdagi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tizimlarga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qaraganda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yaxshiroq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ishlashni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ta'minlaydi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1151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16E5C1-F0E5-48B9-957C-8950C80115D1}"/>
              </a:ext>
            </a:extLst>
          </p:cNvPr>
          <p:cNvSpPr txBox="1"/>
          <p:nvPr/>
        </p:nvSpPr>
        <p:spPr>
          <a:xfrm>
            <a:off x="485192" y="280435"/>
            <a:ext cx="81736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Tez-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tez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uchraydigan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nosozliklari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yomon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chiqilganligi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sababli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bunday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mustahkam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Agar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muvaffaqiyatsiz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bo'lsa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ishdan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chiqadi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Shunday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tizimlarda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nosozliklari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tez-tez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bo'ladi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Yomon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texnik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xizmat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ko'rsatish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tizimlarning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qatlamlari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bir-biriga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mahkam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bog'langanligi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sababli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qatlamdagi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o'zgarish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qatlamlarga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jiddiy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ta'sir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ko'rsatishi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ma'lum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vaqt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davomida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boshqarib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bo'lmaydigan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holga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keltirishi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573EE-05C2-4B6D-9C2C-B29B1C30B334}"/>
              </a:ext>
            </a:extLst>
          </p:cNvPr>
          <p:cNvSpPr txBox="1"/>
          <p:nvPr/>
        </p:nvSpPr>
        <p:spPr>
          <a:xfrm>
            <a:off x="424543" y="2937627"/>
            <a:ext cx="829491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MONOLIT ARXITEKTURASI</a:t>
            </a:r>
          </a:p>
          <a:p>
            <a:pPr algn="just"/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Monolit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arxitektura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tizimida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deb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ataladigan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markaziy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qismi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tizimning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operatsiyalari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javobgardir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Bunday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operatsiyalar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fayllarni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xotirani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qurilmalarni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boshqalarni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o'z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ichiga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oladi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tizimning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komponenti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bo'lib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dasturlar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dasturlariga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tizimning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xizmatlarini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taqdim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etadi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resurslarga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huquqiga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dasturlar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uskuna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interfeys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vazifasini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bajaradi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Monolit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arxitekturasi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vaqtni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taqsimlash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ko'p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dasturlash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modelini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targ'ib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eski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bank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tizimlarida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qo'llanilgan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4124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FE7DB61-EDE1-450F-9BC6-AB2F720DE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557" y="1685031"/>
            <a:ext cx="4925112" cy="44583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435220-86F4-433A-8FD3-983F6E16267E}"/>
              </a:ext>
            </a:extLst>
          </p:cNvPr>
          <p:cNvSpPr txBox="1"/>
          <p:nvPr/>
        </p:nvSpPr>
        <p:spPr>
          <a:xfrm>
            <a:off x="317240" y="257447"/>
            <a:ext cx="85281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Oson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funktsiyalar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chiqiladigan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yagona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qatlam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bo'lgani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loyihalash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osonroq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xotirani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operatsiyalar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mas'ul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bo'lganligi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apparatga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to'g'ridan-to'g'ri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imkoniga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bo'lgani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yaxshiroq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ishlaydi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E7D510-9054-46D2-BD79-B00054F2996A}"/>
              </a:ext>
            </a:extLst>
          </p:cNvPr>
          <p:cNvSpPr txBox="1"/>
          <p:nvPr/>
        </p:nvSpPr>
        <p:spPr>
          <a:xfrm>
            <a:off x="317239" y="2621530"/>
            <a:ext cx="357362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Crash Prone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funktsiyalar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javobgar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bo'lgani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agar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funktsiya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bajarilmasa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ishlamay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qoladi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Yaxshilash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qiyin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Monolit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tizimining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xizmatlariga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ta'sir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qilmasdan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xizmatni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qo'shish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qiyin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2825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C6CC00-E772-4215-B864-A3050AA38EA0}"/>
              </a:ext>
            </a:extLst>
          </p:cNvPr>
          <p:cNvSpPr txBox="1"/>
          <p:nvPr/>
        </p:nvSpPr>
        <p:spPr>
          <a:xfrm>
            <a:off x="279919" y="317315"/>
            <a:ext cx="846286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MIKRO-YADRO ARXITEKTURASI</a:t>
            </a:r>
          </a:p>
          <a:p>
            <a:pPr algn="just"/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Monolit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arxitekturasida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bo'lgani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mikro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bizda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alohida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xizmatga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ixtisoslashgan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Har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mikroyadro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boshqasidan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mustaqil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ravishda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chiqilgan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yanada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barqaror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Agar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ishlamay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qolsa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funksiyalari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ishlashda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davom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etadi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2EE429F-A350-4864-B43D-DEB2E3B48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710" y="1844913"/>
            <a:ext cx="4618653" cy="3943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D48310-76F1-4E5B-BE83-6F8014812025}"/>
              </a:ext>
            </a:extLst>
          </p:cNvPr>
          <p:cNvSpPr txBox="1"/>
          <p:nvPr/>
        </p:nvSpPr>
        <p:spPr>
          <a:xfrm>
            <a:off x="279919" y="1970203"/>
            <a:ext cx="414279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Ishonchli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barqaror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vaqtning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o'zida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ishlayotganligi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sababli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tizimning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ishlamay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qolishi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ehtimoli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Agar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funktsiya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ishlamay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qolsa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barqaror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yadrolardan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foydalangan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funktsiyalarni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taqdim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etishi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Xizmat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ko'rsatish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kichik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o'lchamdagi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bo'lgani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hajmini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saqlab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qolish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Mikroyadro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bazasini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mikroyadro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bazasiga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ta'sir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qilmasdan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oshirish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0972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2FD42E-EFE6-436E-8D7C-68209796356A}"/>
              </a:ext>
            </a:extLst>
          </p:cNvPr>
          <p:cNvSpPr txBox="1"/>
          <p:nvPr/>
        </p:nvSpPr>
        <p:spPr>
          <a:xfrm>
            <a:off x="373225" y="37050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EKZO-YADRO ARXITEKTURASI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8AFE19-305F-4C3D-B209-D2332F8B3233}"/>
              </a:ext>
            </a:extLst>
          </p:cNvPr>
          <p:cNvSpPr txBox="1"/>
          <p:nvPr/>
        </p:nvSpPr>
        <p:spPr>
          <a:xfrm>
            <a:off x="615820" y="837351"/>
            <a:ext cx="78003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Exo-Kernal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MITda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chiqilgan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Ushbu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dizaynning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maqsadi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dasturlariga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apparat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resurslarini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to'g'ridan-to'g'ri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hajmini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minimal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darajada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saqlash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Uskuna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resurslari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tizimning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abstraktsiyasini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olib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tashlashdan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ekzo-yadro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operatsiyalarni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bajarayotganda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dasturchiga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yuqori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samarali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kod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yozish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0C53919-2019-403D-BC47-A8FFDC4186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060" y="3840778"/>
            <a:ext cx="3048425" cy="27531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DC6475-D7AA-414B-8F99-0180F70658DD}"/>
              </a:ext>
            </a:extLst>
          </p:cNvPr>
          <p:cNvSpPr txBox="1"/>
          <p:nvPr/>
        </p:nvSpPr>
        <p:spPr>
          <a:xfrm>
            <a:off x="550505" y="2689191"/>
            <a:ext cx="78003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QATLAMLI ARXITEKTURA</a:t>
            </a:r>
          </a:p>
          <a:p>
            <a:pPr algn="l"/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modullikka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erishish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usullaridan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qatlamli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yondashuvdir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Bunda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pastki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qatlam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apparat,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yuqori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qatlam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interfeysi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hisoblanadi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7078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1B2BB2-D00E-47B5-8696-8A21CE980BBF}"/>
              </a:ext>
            </a:extLst>
          </p:cNvPr>
          <p:cNvSpPr txBox="1"/>
          <p:nvPr/>
        </p:nvSpPr>
        <p:spPr>
          <a:xfrm>
            <a:off x="317240" y="202869"/>
            <a:ext cx="799633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MODULLI ARXITEKTURA</a:t>
            </a:r>
          </a:p>
          <a:p>
            <a:pPr algn="l"/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Modulli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arxitektura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monolitga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o'xshash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printsip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ishlaydi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lekin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yaxshi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dizaynga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Markaziy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tizimning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operatsiyalari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javobgardir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Ushbu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funktsiyalar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to'plamiga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xizmatlar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yuklash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vaqtida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tushirish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vaqtida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yadroga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dinamik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ravishda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yuklanadi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Sun Solaris OS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modulli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tuzilgan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operatsion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tizim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namunalaridan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biridir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5B67B0-7D1B-49D9-8F45-1C361793ED6D}"/>
              </a:ext>
            </a:extLst>
          </p:cNvPr>
          <p:cNvSpPr txBox="1"/>
          <p:nvPr/>
        </p:nvSpPr>
        <p:spPr>
          <a:xfrm>
            <a:off x="317240" y="3052602"/>
            <a:ext cx="81456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 MASHINA ARXITEKTURASI</a:t>
            </a:r>
          </a:p>
          <a:p>
            <a:pPr algn="l"/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Ushbu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turdagi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arxitekturada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protsessor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xotira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qattiq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disk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apparatlar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virtual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mashinalarga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ajratiladi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bajarish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kontekstlari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aslida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sozlash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ishlatishi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Virtual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mashina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katta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hajmdagi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disk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maydonini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egallaydi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tayyorlanishi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jismoniy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mashinada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virtual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mashinalar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yaratilishi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0029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1175</TotalTime>
  <Words>522</Words>
  <Application>Microsoft Office PowerPoint</Application>
  <PresentationFormat>Экран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</vt:lpstr>
      <vt:lpstr>Montserrat Medium</vt:lpstr>
      <vt:lpstr>Open Sans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Operatsion tizimlar tushunchasi va</dc:title>
  <dc:creator>Temurbek</dc:creator>
  <cp:lastModifiedBy>exper</cp:lastModifiedBy>
  <cp:revision>117</cp:revision>
  <dcterms:created xsi:type="dcterms:W3CDTF">2015-02-05T07:15:58Z</dcterms:created>
  <dcterms:modified xsi:type="dcterms:W3CDTF">2025-10-08T17:29:37Z</dcterms:modified>
</cp:coreProperties>
</file>